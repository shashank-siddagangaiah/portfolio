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840480"/>
            <a:ext cx="12188952" cy="64008"/>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194560"/>
            <a:ext cx="12188952" cy="1645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10972800" cy="457200"/>
          </a:xfrm>
          <a:prstGeom prst="rect">
            <a:avLst/>
          </a:prstGeom>
          <a:noFill/>
        </p:spPr>
        <p:txBody>
          <a:bodyPr wrap="square">
            <a:spAutoFit/>
          </a:bodyPr>
          <a:lstStyle/>
          <a:p>
            <a:pPr algn="ctr"/>
            <a:r>
              <a:rPr sz="1300" b="1" i="0">
                <a:solidFill>
                  <a:srgbClr val="B0B8C8"/>
                </a:solidFill>
                <a:latin typeface="Calibri"/>
              </a:rPr>
              <a:t>PEMCO  ×  BOURNTEC SOLUTIONS</a:t>
            </a:r>
          </a:p>
        </p:txBody>
      </p:sp>
      <p:sp>
        <p:nvSpPr>
          <p:cNvPr id="6" name="Rectangle 5"/>
          <p:cNvSpPr/>
          <p:nvPr/>
        </p:nvSpPr>
        <p:spPr>
          <a:xfrm>
            <a:off x="5029200" y="777240"/>
            <a:ext cx="2103120" cy="27432"/>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005840"/>
            <a:ext cx="10332720" cy="1280160"/>
          </a:xfrm>
          <a:prstGeom prst="rect">
            <a:avLst/>
          </a:prstGeom>
          <a:noFill/>
        </p:spPr>
        <p:txBody>
          <a:bodyPr wrap="square">
            <a:spAutoFit/>
          </a:bodyPr>
          <a:lstStyle/>
          <a:p>
            <a:pPr algn="ctr"/>
            <a:r>
              <a:rPr sz="5200" b="1" i="0">
                <a:solidFill>
                  <a:srgbClr val="FFFFFF"/>
                </a:solidFill>
                <a:latin typeface="Calibri"/>
              </a:rPr>
              <a:t>BIM Retirement &amp;
Report Migration</a:t>
            </a:r>
          </a:p>
        </p:txBody>
      </p:sp>
      <p:sp>
        <p:nvSpPr>
          <p:cNvPr id="8" name="TextBox 7"/>
          <p:cNvSpPr txBox="1"/>
          <p:nvPr/>
        </p:nvSpPr>
        <p:spPr>
          <a:xfrm>
            <a:off x="914400" y="2286000"/>
            <a:ext cx="10332720" cy="411480"/>
          </a:xfrm>
          <a:prstGeom prst="rect">
            <a:avLst/>
          </a:prstGeom>
          <a:noFill/>
        </p:spPr>
        <p:txBody>
          <a:bodyPr wrap="square">
            <a:spAutoFit/>
          </a:bodyPr>
          <a:lstStyle/>
          <a:p>
            <a:pPr algn="ctr"/>
            <a:r>
              <a:rPr sz="2000" b="0" i="0">
                <a:solidFill>
                  <a:srgbClr val="1A3055"/>
                </a:solidFill>
                <a:latin typeface="Calibri"/>
              </a:rPr>
              <a:t>Executive Status Update</a:t>
            </a:r>
          </a:p>
        </p:txBody>
      </p:sp>
      <p:sp>
        <p:nvSpPr>
          <p:cNvPr id="9" name="TextBox 8"/>
          <p:cNvSpPr txBox="1"/>
          <p:nvPr/>
        </p:nvSpPr>
        <p:spPr>
          <a:xfrm>
            <a:off x="914400" y="2679192"/>
            <a:ext cx="10332720" cy="365760"/>
          </a:xfrm>
          <a:prstGeom prst="rect">
            <a:avLst/>
          </a:prstGeom>
          <a:noFill/>
        </p:spPr>
        <p:txBody>
          <a:bodyPr wrap="square">
            <a:spAutoFit/>
          </a:bodyPr>
          <a:lstStyle/>
          <a:p>
            <a:pPr algn="ctr"/>
            <a:r>
              <a:rPr sz="1600" b="1" i="0">
                <a:solidFill>
                  <a:srgbClr val="1A3055"/>
                </a:solidFill>
                <a:latin typeface="Calibri"/>
              </a:rPr>
              <a:t>May 2026</a:t>
            </a:r>
          </a:p>
        </p:txBody>
      </p:sp>
      <p:sp>
        <p:nvSpPr>
          <p:cNvPr id="10" name="Rectangle 9"/>
          <p:cNvSpPr/>
          <p:nvPr/>
        </p:nvSpPr>
        <p:spPr>
          <a:xfrm>
            <a:off x="521207" y="4754880"/>
            <a:ext cx="2560320" cy="1554480"/>
          </a:xfrm>
          <a:prstGeom prst="rect">
            <a:avLst/>
          </a:prstGeom>
          <a:solidFill>
            <a:srgbClr val="22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7" y="4892040"/>
            <a:ext cx="2560320" cy="640080"/>
          </a:xfrm>
          <a:prstGeom prst="rect">
            <a:avLst/>
          </a:prstGeom>
          <a:noFill/>
        </p:spPr>
        <p:txBody>
          <a:bodyPr wrap="square">
            <a:spAutoFit/>
          </a:bodyPr>
          <a:lstStyle/>
          <a:p>
            <a:pPr algn="ctr"/>
            <a:r>
              <a:rPr sz="3400" b="1" i="0">
                <a:solidFill>
                  <a:srgbClr val="E09A00"/>
                </a:solidFill>
                <a:latin typeface="Calibri"/>
              </a:rPr>
              <a:t>10+</a:t>
            </a:r>
          </a:p>
        </p:txBody>
      </p:sp>
      <p:sp>
        <p:nvSpPr>
          <p:cNvPr id="12" name="TextBox 11"/>
          <p:cNvSpPr txBox="1"/>
          <p:nvPr/>
        </p:nvSpPr>
        <p:spPr>
          <a:xfrm>
            <a:off x="612647" y="5532120"/>
            <a:ext cx="2377440" cy="502920"/>
          </a:xfrm>
          <a:prstGeom prst="rect">
            <a:avLst/>
          </a:prstGeom>
          <a:noFill/>
        </p:spPr>
        <p:txBody>
          <a:bodyPr wrap="square">
            <a:spAutoFit/>
          </a:bodyPr>
          <a:lstStyle/>
          <a:p>
            <a:pPr algn="ctr"/>
            <a:r>
              <a:rPr sz="1100" b="0" i="0">
                <a:solidFill>
                  <a:srgbClr val="B0B8C8"/>
                </a:solidFill>
                <a:latin typeface="Calibri"/>
              </a:rPr>
              <a:t>Reports Migrated</a:t>
            </a:r>
          </a:p>
        </p:txBody>
      </p:sp>
      <p:sp>
        <p:nvSpPr>
          <p:cNvPr id="13" name="Rectangle 12"/>
          <p:cNvSpPr/>
          <p:nvPr/>
        </p:nvSpPr>
        <p:spPr>
          <a:xfrm>
            <a:off x="3355847" y="4754880"/>
            <a:ext cx="2560320" cy="1554480"/>
          </a:xfrm>
          <a:prstGeom prst="rect">
            <a:avLst/>
          </a:prstGeom>
          <a:solidFill>
            <a:srgbClr val="22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55847" y="4892040"/>
            <a:ext cx="2560320" cy="640080"/>
          </a:xfrm>
          <a:prstGeom prst="rect">
            <a:avLst/>
          </a:prstGeom>
          <a:noFill/>
        </p:spPr>
        <p:txBody>
          <a:bodyPr wrap="square">
            <a:spAutoFit/>
          </a:bodyPr>
          <a:lstStyle/>
          <a:p>
            <a:pPr algn="ctr"/>
            <a:r>
              <a:rPr sz="3400" b="1" i="0">
                <a:solidFill>
                  <a:srgbClr val="E09A00"/>
                </a:solidFill>
                <a:latin typeface="Calibri"/>
              </a:rPr>
              <a:t>5→1</a:t>
            </a:r>
          </a:p>
        </p:txBody>
      </p:sp>
      <p:sp>
        <p:nvSpPr>
          <p:cNvPr id="15" name="TextBox 14"/>
          <p:cNvSpPr txBox="1"/>
          <p:nvPr/>
        </p:nvSpPr>
        <p:spPr>
          <a:xfrm>
            <a:off x="3447287" y="5532120"/>
            <a:ext cx="2377440" cy="502920"/>
          </a:xfrm>
          <a:prstGeom prst="rect">
            <a:avLst/>
          </a:prstGeom>
          <a:noFill/>
        </p:spPr>
        <p:txBody>
          <a:bodyPr wrap="square">
            <a:spAutoFit/>
          </a:bodyPr>
          <a:lstStyle/>
          <a:p>
            <a:pPr algn="ctr"/>
            <a:r>
              <a:rPr sz="1100" b="0" i="0">
                <a:solidFill>
                  <a:srgbClr val="B0B8C8"/>
                </a:solidFill>
                <a:latin typeface="Calibri"/>
              </a:rPr>
              <a:t>Tableau Consolidation</a:t>
            </a:r>
          </a:p>
        </p:txBody>
      </p:sp>
      <p:sp>
        <p:nvSpPr>
          <p:cNvPr id="16" name="Rectangle 15"/>
          <p:cNvSpPr/>
          <p:nvPr/>
        </p:nvSpPr>
        <p:spPr>
          <a:xfrm>
            <a:off x="6190487" y="4754880"/>
            <a:ext cx="2560320" cy="1554480"/>
          </a:xfrm>
          <a:prstGeom prst="rect">
            <a:avLst/>
          </a:prstGeom>
          <a:solidFill>
            <a:srgbClr val="22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0487" y="4892040"/>
            <a:ext cx="2560320" cy="640080"/>
          </a:xfrm>
          <a:prstGeom prst="rect">
            <a:avLst/>
          </a:prstGeom>
          <a:noFill/>
        </p:spPr>
        <p:txBody>
          <a:bodyPr wrap="square">
            <a:spAutoFit/>
          </a:bodyPr>
          <a:lstStyle/>
          <a:p>
            <a:pPr algn="ctr"/>
            <a:r>
              <a:rPr sz="3400" b="1" i="0">
                <a:solidFill>
                  <a:srgbClr val="E09A00"/>
                </a:solidFill>
                <a:latin typeface="Calibri"/>
              </a:rPr>
              <a:t>+9.3pp</a:t>
            </a:r>
          </a:p>
        </p:txBody>
      </p:sp>
      <p:sp>
        <p:nvSpPr>
          <p:cNvPr id="18" name="TextBox 17"/>
          <p:cNvSpPr txBox="1"/>
          <p:nvPr/>
        </p:nvSpPr>
        <p:spPr>
          <a:xfrm>
            <a:off x="6281927" y="5532120"/>
            <a:ext cx="2377440" cy="502920"/>
          </a:xfrm>
          <a:prstGeom prst="rect">
            <a:avLst/>
          </a:prstGeom>
          <a:noFill/>
        </p:spPr>
        <p:txBody>
          <a:bodyPr wrap="square">
            <a:spAutoFit/>
          </a:bodyPr>
          <a:lstStyle/>
          <a:p>
            <a:pPr algn="ctr"/>
            <a:r>
              <a:rPr sz="1100" b="0" i="0">
                <a:solidFill>
                  <a:srgbClr val="B0B8C8"/>
                </a:solidFill>
                <a:latin typeface="Calibri"/>
              </a:rPr>
              <a:t>Email Coverage Gain</a:t>
            </a:r>
          </a:p>
        </p:txBody>
      </p:sp>
      <p:sp>
        <p:nvSpPr>
          <p:cNvPr id="19" name="Rectangle 18"/>
          <p:cNvSpPr/>
          <p:nvPr/>
        </p:nvSpPr>
        <p:spPr>
          <a:xfrm>
            <a:off x="9025127" y="4754880"/>
            <a:ext cx="2560320" cy="1554480"/>
          </a:xfrm>
          <a:prstGeom prst="rect">
            <a:avLst/>
          </a:prstGeom>
          <a:solidFill>
            <a:srgbClr val="22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25127" y="4892040"/>
            <a:ext cx="2560320" cy="640080"/>
          </a:xfrm>
          <a:prstGeom prst="rect">
            <a:avLst/>
          </a:prstGeom>
          <a:noFill/>
        </p:spPr>
        <p:txBody>
          <a:bodyPr wrap="square">
            <a:spAutoFit/>
          </a:bodyPr>
          <a:lstStyle/>
          <a:p>
            <a:pPr algn="ctr"/>
            <a:r>
              <a:rPr sz="3400" b="1" i="0">
                <a:solidFill>
                  <a:srgbClr val="E09A00"/>
                </a:solidFill>
                <a:latin typeface="Calibri"/>
              </a:rPr>
              <a:t>&lt;2%</a:t>
            </a:r>
          </a:p>
        </p:txBody>
      </p:sp>
      <p:sp>
        <p:nvSpPr>
          <p:cNvPr id="21" name="TextBox 20"/>
          <p:cNvSpPr txBox="1"/>
          <p:nvPr/>
        </p:nvSpPr>
        <p:spPr>
          <a:xfrm>
            <a:off x="9116567" y="5532120"/>
            <a:ext cx="2377440" cy="502920"/>
          </a:xfrm>
          <a:prstGeom prst="rect">
            <a:avLst/>
          </a:prstGeom>
          <a:noFill/>
        </p:spPr>
        <p:txBody>
          <a:bodyPr wrap="square">
            <a:spAutoFit/>
          </a:bodyPr>
          <a:lstStyle/>
          <a:p>
            <a:pPr algn="ctr"/>
            <a:r>
              <a:rPr sz="1100" b="0" i="0">
                <a:solidFill>
                  <a:srgbClr val="B0B8C8"/>
                </a:solidFill>
                <a:latin typeface="Calibri"/>
              </a:rPr>
              <a:t>Validated Delta vs BIM</a:t>
            </a:r>
          </a:p>
        </p:txBody>
      </p:sp>
      <p:sp>
        <p:nvSpPr>
          <p:cNvPr id="22" name="TextBox 21"/>
          <p:cNvSpPr txBox="1"/>
          <p:nvPr/>
        </p:nvSpPr>
        <p:spPr>
          <a:xfrm>
            <a:off x="0" y="6537960"/>
            <a:ext cx="12188952" cy="274320"/>
          </a:xfrm>
          <a:prstGeom prst="rect">
            <a:avLst/>
          </a:prstGeom>
          <a:noFill/>
        </p:spPr>
        <p:txBody>
          <a:bodyPr wrap="square">
            <a:spAutoFit/>
          </a:bodyPr>
          <a:lstStyle/>
          <a:p>
            <a:pPr algn="ctr"/>
            <a:r>
              <a:rPr sz="800" b="0" i="0">
                <a:solidFill>
                  <a:srgbClr val="B0B8C8"/>
                </a:solidFill>
                <a:latin typeface="Calibri"/>
              </a:rPr>
              <a:t>Bourntec Solutions  |  PEMCO Mutual Insurance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9144000" cy="502920"/>
          </a:xfrm>
          <a:prstGeom prst="rect">
            <a:avLst/>
          </a:prstGeom>
          <a:noFill/>
        </p:spPr>
        <p:txBody>
          <a:bodyPr wrap="square">
            <a:spAutoFit/>
          </a:bodyPr>
          <a:lstStyle/>
          <a:p>
            <a:pPr algn="l"/>
            <a:r>
              <a:rPr sz="2200" b="1" i="0">
                <a:solidFill>
                  <a:srgbClr val="FFFFFF"/>
                </a:solidFill>
                <a:latin typeface="Calibri"/>
              </a:rPr>
              <a:t>Executive Summary</a:t>
            </a:r>
          </a:p>
        </p:txBody>
      </p:sp>
      <p:sp>
        <p:nvSpPr>
          <p:cNvPr id="5" name="TextBox 4"/>
          <p:cNvSpPr txBox="1"/>
          <p:nvPr/>
        </p:nvSpPr>
        <p:spPr>
          <a:xfrm>
            <a:off x="320040" y="548640"/>
            <a:ext cx="9144000" cy="320040"/>
          </a:xfrm>
          <a:prstGeom prst="rect">
            <a:avLst/>
          </a:prstGeom>
          <a:noFill/>
        </p:spPr>
        <p:txBody>
          <a:bodyPr wrap="square">
            <a:spAutoFit/>
          </a:bodyPr>
          <a:lstStyle/>
          <a:p>
            <a:pPr algn="l"/>
            <a:r>
              <a:rPr sz="1100" b="0" i="0">
                <a:solidFill>
                  <a:srgbClr val="B0B8C8"/>
                </a:solidFill>
                <a:latin typeface="Calibri"/>
              </a:rPr>
              <a:t>What Bourntec delivered in this engagement — May 2026</a:t>
            </a:r>
          </a:p>
        </p:txBody>
      </p:sp>
      <p:sp>
        <p:nvSpPr>
          <p:cNvPr id="6" name="Rectangle 5"/>
          <p:cNvSpPr/>
          <p:nvPr/>
        </p:nvSpPr>
        <p:spPr>
          <a:xfrm>
            <a:off x="0" y="868680"/>
            <a:ext cx="12188952" cy="36576"/>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88952" cy="27432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8229600" cy="274320"/>
          </a:xfrm>
          <a:prstGeom prst="rect">
            <a:avLst/>
          </a:prstGeom>
          <a:noFill/>
        </p:spPr>
        <p:txBody>
          <a:bodyPr wrap="square">
            <a:spAutoFit/>
          </a:bodyPr>
          <a:lstStyle/>
          <a:p>
            <a:pPr algn="l"/>
            <a:r>
              <a:rPr sz="800" b="0" i="0">
                <a:solidFill>
                  <a:srgbClr val="B0B8C8"/>
                </a:solidFill>
                <a:latin typeface="Calibri"/>
              </a:rPr>
              <a:t>Bourntec Solutions  |  PEMCO Mutual Insurance  |  Confidential — May 2026</a:t>
            </a:r>
          </a:p>
        </p:txBody>
      </p:sp>
      <p:sp>
        <p:nvSpPr>
          <p:cNvPr id="9" name="Rectangle 8"/>
          <p:cNvSpPr/>
          <p:nvPr/>
        </p:nvSpPr>
        <p:spPr>
          <a:xfrm>
            <a:off x="320040" y="1051560"/>
            <a:ext cx="2651760" cy="146304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188720"/>
            <a:ext cx="2651760" cy="594360"/>
          </a:xfrm>
          <a:prstGeom prst="rect">
            <a:avLst/>
          </a:prstGeom>
          <a:noFill/>
        </p:spPr>
        <p:txBody>
          <a:bodyPr wrap="square">
            <a:spAutoFit/>
          </a:bodyPr>
          <a:lstStyle/>
          <a:p>
            <a:pPr algn="ctr"/>
            <a:r>
              <a:rPr sz="3600" b="1" i="0">
                <a:solidFill>
                  <a:srgbClr val="FFFFFF"/>
                </a:solidFill>
                <a:latin typeface="Calibri"/>
              </a:rPr>
              <a:t>10+</a:t>
            </a:r>
          </a:p>
        </p:txBody>
      </p:sp>
      <p:sp>
        <p:nvSpPr>
          <p:cNvPr id="11" name="TextBox 10"/>
          <p:cNvSpPr txBox="1"/>
          <p:nvPr/>
        </p:nvSpPr>
        <p:spPr>
          <a:xfrm>
            <a:off x="411480" y="1737360"/>
            <a:ext cx="2468880" cy="502920"/>
          </a:xfrm>
          <a:prstGeom prst="rect">
            <a:avLst/>
          </a:prstGeom>
          <a:noFill/>
        </p:spPr>
        <p:txBody>
          <a:bodyPr wrap="square">
            <a:spAutoFit/>
          </a:bodyPr>
          <a:lstStyle/>
          <a:p>
            <a:pPr algn="ctr"/>
            <a:r>
              <a:rPr sz="1100" b="0" i="0">
                <a:solidFill>
                  <a:srgbClr val="B0B8C8"/>
                </a:solidFill>
                <a:latin typeface="Calibri"/>
              </a:rPr>
              <a:t>Reports
Successfully Migrated</a:t>
            </a:r>
          </a:p>
        </p:txBody>
      </p:sp>
      <p:sp>
        <p:nvSpPr>
          <p:cNvPr id="12" name="Rectangle 11"/>
          <p:cNvSpPr/>
          <p:nvPr/>
        </p:nvSpPr>
        <p:spPr>
          <a:xfrm>
            <a:off x="3218688" y="1051560"/>
            <a:ext cx="2651760" cy="1463040"/>
          </a:xfrm>
          <a:prstGeom prst="rect">
            <a:avLst/>
          </a:prstGeom>
          <a:solidFill>
            <a:srgbClr val="26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18688" y="1188720"/>
            <a:ext cx="2651760" cy="594360"/>
          </a:xfrm>
          <a:prstGeom prst="rect">
            <a:avLst/>
          </a:prstGeom>
          <a:noFill/>
        </p:spPr>
        <p:txBody>
          <a:bodyPr wrap="square">
            <a:spAutoFit/>
          </a:bodyPr>
          <a:lstStyle/>
          <a:p>
            <a:pPr algn="ctr"/>
            <a:r>
              <a:rPr sz="3600" b="1" i="0">
                <a:solidFill>
                  <a:srgbClr val="FFFFFF"/>
                </a:solidFill>
                <a:latin typeface="Calibri"/>
              </a:rPr>
              <a:t>5 → 1</a:t>
            </a:r>
          </a:p>
        </p:txBody>
      </p:sp>
      <p:sp>
        <p:nvSpPr>
          <p:cNvPr id="14" name="TextBox 13"/>
          <p:cNvSpPr txBox="1"/>
          <p:nvPr/>
        </p:nvSpPr>
        <p:spPr>
          <a:xfrm>
            <a:off x="3310128" y="1737360"/>
            <a:ext cx="2468880" cy="502920"/>
          </a:xfrm>
          <a:prstGeom prst="rect">
            <a:avLst/>
          </a:prstGeom>
          <a:noFill/>
        </p:spPr>
        <p:txBody>
          <a:bodyPr wrap="square">
            <a:spAutoFit/>
          </a:bodyPr>
          <a:lstStyle/>
          <a:p>
            <a:pPr algn="ctr"/>
            <a:r>
              <a:rPr sz="1100" b="0" i="0">
                <a:solidFill>
                  <a:srgbClr val="CCE0FF"/>
                </a:solidFill>
                <a:latin typeface="Calibri"/>
              </a:rPr>
              <a:t>Tableau Reports
Consolidated</a:t>
            </a:r>
          </a:p>
        </p:txBody>
      </p:sp>
      <p:sp>
        <p:nvSpPr>
          <p:cNvPr id="15" name="Rectangle 14"/>
          <p:cNvSpPr/>
          <p:nvPr/>
        </p:nvSpPr>
        <p:spPr>
          <a:xfrm>
            <a:off x="6117336" y="1051560"/>
            <a:ext cx="2651760" cy="146304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17336" y="1188720"/>
            <a:ext cx="2651760" cy="594360"/>
          </a:xfrm>
          <a:prstGeom prst="rect">
            <a:avLst/>
          </a:prstGeom>
          <a:noFill/>
        </p:spPr>
        <p:txBody>
          <a:bodyPr wrap="square">
            <a:spAutoFit/>
          </a:bodyPr>
          <a:lstStyle/>
          <a:p>
            <a:pPr algn="ctr"/>
            <a:r>
              <a:rPr sz="3600" b="1" i="0">
                <a:solidFill>
                  <a:srgbClr val="FFFFFF"/>
                </a:solidFill>
                <a:latin typeface="Calibri"/>
              </a:rPr>
              <a:t>+9.3pp</a:t>
            </a:r>
          </a:p>
        </p:txBody>
      </p:sp>
      <p:sp>
        <p:nvSpPr>
          <p:cNvPr id="17" name="TextBox 16"/>
          <p:cNvSpPr txBox="1"/>
          <p:nvPr/>
        </p:nvSpPr>
        <p:spPr>
          <a:xfrm>
            <a:off x="6208776" y="1737360"/>
            <a:ext cx="2468880" cy="502920"/>
          </a:xfrm>
          <a:prstGeom prst="rect">
            <a:avLst/>
          </a:prstGeom>
          <a:noFill/>
        </p:spPr>
        <p:txBody>
          <a:bodyPr wrap="square">
            <a:spAutoFit/>
          </a:bodyPr>
          <a:lstStyle/>
          <a:p>
            <a:pPr algn="ctr"/>
            <a:r>
              <a:rPr sz="1100" b="0" i="0">
                <a:solidFill>
                  <a:srgbClr val="CCFFDD"/>
                </a:solidFill>
                <a:latin typeface="Calibri"/>
              </a:rPr>
              <a:t>Email Coverage
Improvement</a:t>
            </a:r>
          </a:p>
        </p:txBody>
      </p:sp>
      <p:sp>
        <p:nvSpPr>
          <p:cNvPr id="18" name="Rectangle 17"/>
          <p:cNvSpPr/>
          <p:nvPr/>
        </p:nvSpPr>
        <p:spPr>
          <a:xfrm>
            <a:off x="9015984" y="1051560"/>
            <a:ext cx="2651760" cy="146304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15984" y="1188720"/>
            <a:ext cx="2651760" cy="594360"/>
          </a:xfrm>
          <a:prstGeom prst="rect">
            <a:avLst/>
          </a:prstGeom>
          <a:noFill/>
        </p:spPr>
        <p:txBody>
          <a:bodyPr wrap="square">
            <a:spAutoFit/>
          </a:bodyPr>
          <a:lstStyle/>
          <a:p>
            <a:pPr algn="ctr"/>
            <a:r>
              <a:rPr sz="3600" b="1" i="0">
                <a:solidFill>
                  <a:srgbClr val="FFFFFF"/>
                </a:solidFill>
                <a:latin typeface="Calibri"/>
              </a:rPr>
              <a:t>&lt;2%</a:t>
            </a:r>
          </a:p>
        </p:txBody>
      </p:sp>
      <p:sp>
        <p:nvSpPr>
          <p:cNvPr id="20" name="TextBox 19"/>
          <p:cNvSpPr txBox="1"/>
          <p:nvPr/>
        </p:nvSpPr>
        <p:spPr>
          <a:xfrm>
            <a:off x="9107424" y="1737360"/>
            <a:ext cx="2468880" cy="502920"/>
          </a:xfrm>
          <a:prstGeom prst="rect">
            <a:avLst/>
          </a:prstGeom>
          <a:noFill/>
        </p:spPr>
        <p:txBody>
          <a:bodyPr wrap="square">
            <a:spAutoFit/>
          </a:bodyPr>
          <a:lstStyle/>
          <a:p>
            <a:pPr algn="ctr"/>
            <a:r>
              <a:rPr sz="1100" b="0" i="0">
                <a:solidFill>
                  <a:srgbClr val="FFCCCC"/>
                </a:solidFill>
                <a:latin typeface="Calibri"/>
              </a:rPr>
              <a:t>Validated Delta
vs BIM Baseline</a:t>
            </a:r>
          </a:p>
        </p:txBody>
      </p:sp>
      <p:sp>
        <p:nvSpPr>
          <p:cNvPr id="21" name="TextBox 20"/>
          <p:cNvSpPr txBox="1"/>
          <p:nvPr/>
        </p:nvSpPr>
        <p:spPr>
          <a:xfrm>
            <a:off x="320040" y="2743200"/>
            <a:ext cx="10972800" cy="347472"/>
          </a:xfrm>
          <a:prstGeom prst="rect">
            <a:avLst/>
          </a:prstGeom>
          <a:noFill/>
        </p:spPr>
        <p:txBody>
          <a:bodyPr wrap="square">
            <a:spAutoFit/>
          </a:bodyPr>
          <a:lstStyle/>
          <a:p>
            <a:pPr algn="l"/>
            <a:r>
              <a:rPr sz="1400" b="1" i="0">
                <a:solidFill>
                  <a:srgbClr val="1A3055"/>
                </a:solidFill>
                <a:latin typeface="Calibri"/>
              </a:rPr>
              <a:t>Key Accomplishments</a:t>
            </a:r>
          </a:p>
        </p:txBody>
      </p:sp>
      <p:sp>
        <p:nvSpPr>
          <p:cNvPr id="22" name="Rectangle 21"/>
          <p:cNvSpPr/>
          <p:nvPr/>
        </p:nvSpPr>
        <p:spPr>
          <a:xfrm>
            <a:off x="320040" y="3090672"/>
            <a:ext cx="11521440" cy="27432"/>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0040" y="3246120"/>
            <a:ext cx="361188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246120"/>
            <a:ext cx="3611880" cy="27432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9768" y="3273552"/>
            <a:ext cx="3429000" cy="237744"/>
          </a:xfrm>
          <a:prstGeom prst="rect">
            <a:avLst/>
          </a:prstGeom>
          <a:noFill/>
        </p:spPr>
        <p:txBody>
          <a:bodyPr wrap="square">
            <a:spAutoFit/>
          </a:bodyPr>
          <a:lstStyle/>
          <a:p>
            <a:pPr algn="l"/>
            <a:r>
              <a:rPr sz="900" b="1" i="0">
                <a:solidFill>
                  <a:srgbClr val="FFFFFF"/>
                </a:solidFill>
                <a:latin typeface="Calibri"/>
              </a:rPr>
              <a:t>MIGRATIONS COMPLETE</a:t>
            </a:r>
          </a:p>
        </p:txBody>
      </p:sp>
      <p:sp>
        <p:nvSpPr>
          <p:cNvPr id="26" name="TextBox 25"/>
          <p:cNvSpPr txBox="1"/>
          <p:nvPr/>
        </p:nvSpPr>
        <p:spPr>
          <a:xfrm>
            <a:off x="429768" y="3630168"/>
            <a:ext cx="3429000" cy="594360"/>
          </a:xfrm>
          <a:prstGeom prst="rect">
            <a:avLst/>
          </a:prstGeom>
          <a:noFill/>
        </p:spPr>
        <p:txBody>
          <a:bodyPr wrap="square">
            <a:spAutoFit/>
          </a:bodyPr>
          <a:lstStyle/>
          <a:p>
            <a:pPr algn="l"/>
            <a:r>
              <a:rPr sz="1000" b="0" i="0">
                <a:solidFill>
                  <a:srgbClr val="3C3C3C"/>
                </a:solidFill>
                <a:latin typeface="Calibri"/>
              </a:rPr>
              <a:t>✓  BOXI → Power BI: 4 reports fully rebuilt</a:t>
            </a:r>
          </a:p>
        </p:txBody>
      </p:sp>
      <p:sp>
        <p:nvSpPr>
          <p:cNvPr id="27" name="TextBox 26"/>
          <p:cNvSpPr txBox="1"/>
          <p:nvPr/>
        </p:nvSpPr>
        <p:spPr>
          <a:xfrm>
            <a:off x="429768" y="4279392"/>
            <a:ext cx="3429000" cy="594360"/>
          </a:xfrm>
          <a:prstGeom prst="rect">
            <a:avLst/>
          </a:prstGeom>
          <a:noFill/>
        </p:spPr>
        <p:txBody>
          <a:bodyPr wrap="square">
            <a:spAutoFit/>
          </a:bodyPr>
          <a:lstStyle/>
          <a:p>
            <a:pPr algn="l"/>
            <a:r>
              <a:rPr sz="1000" b="0" i="0">
                <a:solidFill>
                  <a:srgbClr val="3C3C3C"/>
                </a:solidFill>
                <a:latin typeface="Calibri"/>
              </a:rPr>
              <a:t>✓  BOXI / SSRS → Tableau: 6 reports migrated with source rewrite BIM → EDW/AWM</a:t>
            </a:r>
          </a:p>
        </p:txBody>
      </p:sp>
      <p:sp>
        <p:nvSpPr>
          <p:cNvPr id="28" name="TextBox 27"/>
          <p:cNvSpPr txBox="1"/>
          <p:nvPr/>
        </p:nvSpPr>
        <p:spPr>
          <a:xfrm>
            <a:off x="429768" y="4928616"/>
            <a:ext cx="3429000" cy="594360"/>
          </a:xfrm>
          <a:prstGeom prst="rect">
            <a:avLst/>
          </a:prstGeom>
          <a:noFill/>
        </p:spPr>
        <p:txBody>
          <a:bodyPr wrap="square">
            <a:spAutoFit/>
          </a:bodyPr>
          <a:lstStyle/>
          <a:p>
            <a:pPr algn="l"/>
            <a:r>
              <a:rPr sz="1000" b="0" i="0">
                <a:solidFill>
                  <a:srgbClr val="3C3C3C"/>
                </a:solidFill>
                <a:latin typeface="Calibri"/>
              </a:rPr>
              <a:t>✓  Tableau Consolidation: 5 separate reports unified into 1 with a single shared data source</a:t>
            </a:r>
          </a:p>
        </p:txBody>
      </p:sp>
      <p:sp>
        <p:nvSpPr>
          <p:cNvPr id="29" name="TextBox 28"/>
          <p:cNvSpPr txBox="1"/>
          <p:nvPr/>
        </p:nvSpPr>
        <p:spPr>
          <a:xfrm>
            <a:off x="429768" y="5577840"/>
            <a:ext cx="3429000" cy="594360"/>
          </a:xfrm>
          <a:prstGeom prst="rect">
            <a:avLst/>
          </a:prstGeom>
          <a:noFill/>
        </p:spPr>
        <p:txBody>
          <a:bodyPr wrap="square">
            <a:spAutoFit/>
          </a:bodyPr>
          <a:lstStyle/>
          <a:p>
            <a:pPr algn="l"/>
            <a:r>
              <a:rPr sz="1000" b="0" i="0">
                <a:solidFill>
                  <a:srgbClr val="3C3C3C"/>
                </a:solidFill>
                <a:latin typeface="Calibri"/>
              </a:rPr>
              <a:t>✓  Engagement Dashboard: migrated and live</a:t>
            </a:r>
          </a:p>
        </p:txBody>
      </p:sp>
      <p:sp>
        <p:nvSpPr>
          <p:cNvPr id="30" name="Rectangle 29"/>
          <p:cNvSpPr/>
          <p:nvPr/>
        </p:nvSpPr>
        <p:spPr>
          <a:xfrm>
            <a:off x="4069080" y="3246120"/>
            <a:ext cx="361188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069080" y="3246120"/>
            <a:ext cx="3611880" cy="27432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78808" y="3273552"/>
            <a:ext cx="3429000" cy="237744"/>
          </a:xfrm>
          <a:prstGeom prst="rect">
            <a:avLst/>
          </a:prstGeom>
          <a:noFill/>
        </p:spPr>
        <p:txBody>
          <a:bodyPr wrap="square">
            <a:spAutoFit/>
          </a:bodyPr>
          <a:lstStyle/>
          <a:p>
            <a:pPr algn="l"/>
            <a:r>
              <a:rPr sz="900" b="1" i="0">
                <a:solidFill>
                  <a:srgbClr val="FFFFFF"/>
                </a:solidFill>
                <a:latin typeface="Calibri"/>
              </a:rPr>
              <a:t>DATA QUALITY WINS</a:t>
            </a:r>
          </a:p>
        </p:txBody>
      </p:sp>
      <p:sp>
        <p:nvSpPr>
          <p:cNvPr id="33" name="TextBox 32"/>
          <p:cNvSpPr txBox="1"/>
          <p:nvPr/>
        </p:nvSpPr>
        <p:spPr>
          <a:xfrm>
            <a:off x="4178808" y="3630168"/>
            <a:ext cx="3429000" cy="594360"/>
          </a:xfrm>
          <a:prstGeom prst="rect">
            <a:avLst/>
          </a:prstGeom>
          <a:noFill/>
        </p:spPr>
        <p:txBody>
          <a:bodyPr wrap="square">
            <a:spAutoFit/>
          </a:bodyPr>
          <a:lstStyle/>
          <a:p>
            <a:pPr algn="l"/>
            <a:r>
              <a:rPr sz="1000" b="0" i="0">
                <a:solidFill>
                  <a:srgbClr val="3C3C3C"/>
                </a:solidFill>
                <a:latin typeface="Calibri"/>
              </a:rPr>
              <a:t>✓  Email coverage: 75.8% → 85.1% (+26,476 policies recovered)</a:t>
            </a:r>
          </a:p>
        </p:txBody>
      </p:sp>
      <p:sp>
        <p:nvSpPr>
          <p:cNvPr id="34" name="TextBox 33"/>
          <p:cNvSpPr txBox="1"/>
          <p:nvPr/>
        </p:nvSpPr>
        <p:spPr>
          <a:xfrm>
            <a:off x="4178808" y="4279392"/>
            <a:ext cx="3429000" cy="594360"/>
          </a:xfrm>
          <a:prstGeom prst="rect">
            <a:avLst/>
          </a:prstGeom>
          <a:noFill/>
        </p:spPr>
        <p:txBody>
          <a:bodyPr wrap="square">
            <a:spAutoFit/>
          </a:bodyPr>
          <a:lstStyle/>
          <a:p>
            <a:pPr algn="l"/>
            <a:r>
              <a:rPr sz="1000" b="0" i="0">
                <a:solidFill>
                  <a:srgbClr val="3C3C3C"/>
                </a:solidFill>
                <a:latin typeface="Calibri"/>
              </a:rPr>
              <a:t>✓  15 data quality bugs identified &amp; resolved in Paperless pipeline</a:t>
            </a:r>
          </a:p>
        </p:txBody>
      </p:sp>
      <p:sp>
        <p:nvSpPr>
          <p:cNvPr id="35" name="TextBox 34"/>
          <p:cNvSpPr txBox="1"/>
          <p:nvPr/>
        </p:nvSpPr>
        <p:spPr>
          <a:xfrm>
            <a:off x="4178808" y="4928616"/>
            <a:ext cx="3429000" cy="594360"/>
          </a:xfrm>
          <a:prstGeom prst="rect">
            <a:avLst/>
          </a:prstGeom>
          <a:noFill/>
        </p:spPr>
        <p:txBody>
          <a:bodyPr wrap="square">
            <a:spAutoFit/>
          </a:bodyPr>
          <a:lstStyle/>
          <a:p>
            <a:pPr algn="l"/>
            <a:r>
              <a:rPr sz="1000" b="0" i="0">
                <a:solidFill>
                  <a:srgbClr val="3C3C3C"/>
                </a:solidFill>
                <a:latin typeface="Calibri"/>
              </a:rPr>
              <a:t>✓  Paperless pipeline streamlined: 16 temp tables → 10</a:t>
            </a:r>
          </a:p>
        </p:txBody>
      </p:sp>
      <p:sp>
        <p:nvSpPr>
          <p:cNvPr id="36" name="TextBox 35"/>
          <p:cNvSpPr txBox="1"/>
          <p:nvPr/>
        </p:nvSpPr>
        <p:spPr>
          <a:xfrm>
            <a:off x="4178808" y="5577840"/>
            <a:ext cx="3429000" cy="594360"/>
          </a:xfrm>
          <a:prstGeom prst="rect">
            <a:avLst/>
          </a:prstGeom>
          <a:noFill/>
        </p:spPr>
        <p:txBody>
          <a:bodyPr wrap="square">
            <a:spAutoFit/>
          </a:bodyPr>
          <a:lstStyle/>
          <a:p>
            <a:pPr algn="l"/>
            <a:r>
              <a:rPr sz="1000" b="0" i="0">
                <a:solidFill>
                  <a:srgbClr val="3C3C3C"/>
                </a:solidFill>
                <a:latin typeface="Calibri"/>
              </a:rPr>
              <a:t>✓  Email-aware dedup: ANI email recovered when NIN has none (+47,658 policies analyzed)</a:t>
            </a:r>
          </a:p>
        </p:txBody>
      </p:sp>
      <p:sp>
        <p:nvSpPr>
          <p:cNvPr id="37" name="Rectangle 36"/>
          <p:cNvSpPr/>
          <p:nvPr/>
        </p:nvSpPr>
        <p:spPr>
          <a:xfrm>
            <a:off x="7818120" y="3246120"/>
            <a:ext cx="361188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818120" y="3246120"/>
            <a:ext cx="3611880" cy="27432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27848" y="3273552"/>
            <a:ext cx="3429000" cy="237744"/>
          </a:xfrm>
          <a:prstGeom prst="rect">
            <a:avLst/>
          </a:prstGeom>
          <a:noFill/>
        </p:spPr>
        <p:txBody>
          <a:bodyPr wrap="square">
            <a:spAutoFit/>
          </a:bodyPr>
          <a:lstStyle/>
          <a:p>
            <a:pPr algn="l"/>
            <a:r>
              <a:rPr sz="900" b="1" i="0">
                <a:solidFill>
                  <a:srgbClr val="FFFFFF"/>
                </a:solidFill>
                <a:latin typeface="Calibri"/>
              </a:rPr>
              <a:t>VALIDATION RIGOR</a:t>
            </a:r>
          </a:p>
        </p:txBody>
      </p:sp>
      <p:sp>
        <p:nvSpPr>
          <p:cNvPr id="40" name="TextBox 39"/>
          <p:cNvSpPr txBox="1"/>
          <p:nvPr/>
        </p:nvSpPr>
        <p:spPr>
          <a:xfrm>
            <a:off x="7927848" y="3630168"/>
            <a:ext cx="3429000" cy="594360"/>
          </a:xfrm>
          <a:prstGeom prst="rect">
            <a:avLst/>
          </a:prstGeom>
          <a:noFill/>
        </p:spPr>
        <p:txBody>
          <a:bodyPr wrap="square">
            <a:spAutoFit/>
          </a:bodyPr>
          <a:lstStyle/>
          <a:p>
            <a:pPr algn="l"/>
            <a:r>
              <a:rPr sz="1000" b="0" i="0">
                <a:solidFill>
                  <a:srgbClr val="3C3C3C"/>
                </a:solidFill>
                <a:latin typeface="Calibri"/>
              </a:rPr>
              <a:t>✓  Online Accounts: &lt;2% delta vs BIM across all 4 DateTypes</a:t>
            </a:r>
          </a:p>
        </p:txBody>
      </p:sp>
      <p:sp>
        <p:nvSpPr>
          <p:cNvPr id="41" name="TextBox 40"/>
          <p:cNvSpPr txBox="1"/>
          <p:nvPr/>
        </p:nvSpPr>
        <p:spPr>
          <a:xfrm>
            <a:off x="7927848" y="4279392"/>
            <a:ext cx="3429000" cy="594360"/>
          </a:xfrm>
          <a:prstGeom prst="rect">
            <a:avLst/>
          </a:prstGeom>
          <a:noFill/>
        </p:spPr>
        <p:txBody>
          <a:bodyPr wrap="square">
            <a:spAutoFit/>
          </a:bodyPr>
          <a:lstStyle/>
          <a:p>
            <a:pPr algn="l"/>
            <a:r>
              <a:rPr sz="1000" b="0" i="0">
                <a:solidFill>
                  <a:srgbClr val="3C3C3C"/>
                </a:solidFill>
                <a:latin typeface="Calibri"/>
              </a:rPr>
              <a:t>✓  Inforce CSR/CSS validated at −1.21% / +1.46% — within acceptable threshold</a:t>
            </a:r>
          </a:p>
        </p:txBody>
      </p:sp>
      <p:sp>
        <p:nvSpPr>
          <p:cNvPr id="42" name="TextBox 41"/>
          <p:cNvSpPr txBox="1"/>
          <p:nvPr/>
        </p:nvSpPr>
        <p:spPr>
          <a:xfrm>
            <a:off x="7927848" y="4928616"/>
            <a:ext cx="3429000" cy="594360"/>
          </a:xfrm>
          <a:prstGeom prst="rect">
            <a:avLst/>
          </a:prstGeom>
          <a:noFill/>
        </p:spPr>
        <p:txBody>
          <a:bodyPr wrap="square">
            <a:spAutoFit/>
          </a:bodyPr>
          <a:lstStyle/>
          <a:p>
            <a:pPr algn="l"/>
            <a:r>
              <a:rPr sz="1000" b="0" i="0">
                <a:solidFill>
                  <a:srgbClr val="3C3C3C"/>
                </a:solidFill>
                <a:latin typeface="Calibri"/>
              </a:rPr>
              <a:t>✓  BIM vs EDW side-by-side analysis documented for every report</a:t>
            </a:r>
          </a:p>
        </p:txBody>
      </p:sp>
      <p:sp>
        <p:nvSpPr>
          <p:cNvPr id="43" name="TextBox 42"/>
          <p:cNvSpPr txBox="1"/>
          <p:nvPr/>
        </p:nvSpPr>
        <p:spPr>
          <a:xfrm>
            <a:off x="7927848" y="5577840"/>
            <a:ext cx="3429000" cy="594360"/>
          </a:xfrm>
          <a:prstGeom prst="rect">
            <a:avLst/>
          </a:prstGeom>
          <a:noFill/>
        </p:spPr>
        <p:txBody>
          <a:bodyPr wrap="square">
            <a:spAutoFit/>
          </a:bodyPr>
          <a:lstStyle/>
          <a:p>
            <a:pPr algn="l"/>
            <a:r>
              <a:rPr sz="1000" b="0" i="0">
                <a:solidFill>
                  <a:srgbClr val="3C3C3C"/>
                </a:solidFill>
                <a:latin typeface="Calibri"/>
              </a:rPr>
              <a:t>✓  All structural gaps documented with root-cause and accepted/pending status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9144000" cy="502920"/>
          </a:xfrm>
          <a:prstGeom prst="rect">
            <a:avLst/>
          </a:prstGeom>
          <a:noFill/>
        </p:spPr>
        <p:txBody>
          <a:bodyPr wrap="square">
            <a:spAutoFit/>
          </a:bodyPr>
          <a:lstStyle/>
          <a:p>
            <a:pPr algn="l"/>
            <a:r>
              <a:rPr sz="2200" b="1" i="0">
                <a:solidFill>
                  <a:srgbClr val="FFFFFF"/>
                </a:solidFill>
                <a:latin typeface="Calibri"/>
              </a:rPr>
              <a:t>The Challenge: Legacy BIM-Based Architecture</a:t>
            </a:r>
          </a:p>
        </p:txBody>
      </p:sp>
      <p:sp>
        <p:nvSpPr>
          <p:cNvPr id="5" name="TextBox 4"/>
          <p:cNvSpPr txBox="1"/>
          <p:nvPr/>
        </p:nvSpPr>
        <p:spPr>
          <a:xfrm>
            <a:off x="320040" y="548640"/>
            <a:ext cx="9144000" cy="320040"/>
          </a:xfrm>
          <a:prstGeom prst="rect">
            <a:avLst/>
          </a:prstGeom>
          <a:noFill/>
        </p:spPr>
        <p:txBody>
          <a:bodyPr wrap="square">
            <a:spAutoFit/>
          </a:bodyPr>
          <a:lstStyle/>
          <a:p>
            <a:pPr algn="l"/>
            <a:r>
              <a:rPr sz="1100" b="0" i="0">
                <a:solidFill>
                  <a:srgbClr val="B0B8C8"/>
                </a:solidFill>
                <a:latin typeface="Calibri"/>
              </a:rPr>
              <a:t>Why migration was mandated — and what was at stake</a:t>
            </a:r>
          </a:p>
        </p:txBody>
      </p:sp>
      <p:sp>
        <p:nvSpPr>
          <p:cNvPr id="6" name="Rectangle 5"/>
          <p:cNvSpPr/>
          <p:nvPr/>
        </p:nvSpPr>
        <p:spPr>
          <a:xfrm>
            <a:off x="0" y="868680"/>
            <a:ext cx="12188952" cy="36576"/>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88952" cy="27432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8229600" cy="274320"/>
          </a:xfrm>
          <a:prstGeom prst="rect">
            <a:avLst/>
          </a:prstGeom>
          <a:noFill/>
        </p:spPr>
        <p:txBody>
          <a:bodyPr wrap="square">
            <a:spAutoFit/>
          </a:bodyPr>
          <a:lstStyle/>
          <a:p>
            <a:pPr algn="l"/>
            <a:r>
              <a:rPr sz="800" b="0" i="0">
                <a:solidFill>
                  <a:srgbClr val="B0B8C8"/>
                </a:solidFill>
                <a:latin typeface="Calibri"/>
              </a:rPr>
              <a:t>Bourntec Solutions  |  PEMCO Mutual Insurance  |  Confidential — May 2026</a:t>
            </a:r>
          </a:p>
        </p:txBody>
      </p:sp>
      <p:sp>
        <p:nvSpPr>
          <p:cNvPr id="9" name="Rectangle 8"/>
          <p:cNvSpPr/>
          <p:nvPr/>
        </p:nvSpPr>
        <p:spPr>
          <a:xfrm>
            <a:off x="320040" y="1005840"/>
            <a:ext cx="5303520"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005840"/>
            <a:ext cx="5303520" cy="292608"/>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024128"/>
            <a:ext cx="5029200" cy="256032"/>
          </a:xfrm>
          <a:prstGeom prst="rect">
            <a:avLst/>
          </a:prstGeom>
          <a:noFill/>
        </p:spPr>
        <p:txBody>
          <a:bodyPr wrap="square">
            <a:spAutoFit/>
          </a:bodyPr>
          <a:lstStyle/>
          <a:p>
            <a:pPr algn="l"/>
            <a:r>
              <a:rPr sz="900" b="1" i="0">
                <a:solidFill>
                  <a:srgbClr val="FFFFFF"/>
                </a:solidFill>
                <a:latin typeface="Calibri"/>
              </a:rPr>
              <a:t>LEGACY ARCHITECTURE — PAIN POINTS</a:t>
            </a:r>
          </a:p>
        </p:txBody>
      </p:sp>
      <p:sp>
        <p:nvSpPr>
          <p:cNvPr id="12" name="Rectangle 11"/>
          <p:cNvSpPr/>
          <p:nvPr/>
        </p:nvSpPr>
        <p:spPr>
          <a:xfrm>
            <a:off x="457200" y="1417320"/>
            <a:ext cx="54864" cy="566928"/>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417320"/>
            <a:ext cx="4846320" cy="256032"/>
          </a:xfrm>
          <a:prstGeom prst="rect">
            <a:avLst/>
          </a:prstGeom>
          <a:noFill/>
        </p:spPr>
        <p:txBody>
          <a:bodyPr wrap="square">
            <a:spAutoFit/>
          </a:bodyPr>
          <a:lstStyle/>
          <a:p>
            <a:pPr algn="l"/>
            <a:r>
              <a:rPr sz="1100" b="1" i="0">
                <a:solidFill>
                  <a:srgbClr val="1A3055"/>
                </a:solidFill>
                <a:latin typeface="Calibri"/>
              </a:rPr>
              <a:t>Single Point of Failure</a:t>
            </a:r>
          </a:p>
        </p:txBody>
      </p:sp>
      <p:sp>
        <p:nvSpPr>
          <p:cNvPr id="14" name="TextBox 13"/>
          <p:cNvSpPr txBox="1"/>
          <p:nvPr/>
        </p:nvSpPr>
        <p:spPr>
          <a:xfrm>
            <a:off x="640080" y="1673352"/>
            <a:ext cx="4846320" cy="347472"/>
          </a:xfrm>
          <a:prstGeom prst="rect">
            <a:avLst/>
          </a:prstGeom>
          <a:noFill/>
        </p:spPr>
        <p:txBody>
          <a:bodyPr wrap="square">
            <a:spAutoFit/>
          </a:bodyPr>
          <a:lstStyle/>
          <a:p>
            <a:pPr algn="l"/>
            <a:r>
              <a:rPr sz="1000" b="0" i="0">
                <a:solidFill>
                  <a:srgbClr val="3C3C3C"/>
                </a:solidFill>
                <a:latin typeface="Calibri"/>
              </a:rPr>
              <a:t>BIM Monthly ETL ran on the 1st of every month. Any failure delayed ALL reporting downstream.</a:t>
            </a:r>
          </a:p>
        </p:txBody>
      </p:sp>
      <p:sp>
        <p:nvSpPr>
          <p:cNvPr id="15" name="Rectangle 14"/>
          <p:cNvSpPr/>
          <p:nvPr/>
        </p:nvSpPr>
        <p:spPr>
          <a:xfrm>
            <a:off x="457200" y="2212848"/>
            <a:ext cx="54864" cy="566928"/>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212848"/>
            <a:ext cx="4846320" cy="256032"/>
          </a:xfrm>
          <a:prstGeom prst="rect">
            <a:avLst/>
          </a:prstGeom>
          <a:noFill/>
        </p:spPr>
        <p:txBody>
          <a:bodyPr wrap="square">
            <a:spAutoFit/>
          </a:bodyPr>
          <a:lstStyle/>
          <a:p>
            <a:pPr algn="l"/>
            <a:r>
              <a:rPr sz="1100" b="1" i="0">
                <a:solidFill>
                  <a:srgbClr val="1A3055"/>
                </a:solidFill>
                <a:latin typeface="Calibri"/>
              </a:rPr>
              <a:t>Data Latency</a:t>
            </a:r>
          </a:p>
        </p:txBody>
      </p:sp>
      <p:sp>
        <p:nvSpPr>
          <p:cNvPr id="17" name="TextBox 16"/>
          <p:cNvSpPr txBox="1"/>
          <p:nvPr/>
        </p:nvSpPr>
        <p:spPr>
          <a:xfrm>
            <a:off x="640080" y="2468880"/>
            <a:ext cx="4846320" cy="347472"/>
          </a:xfrm>
          <a:prstGeom prst="rect">
            <a:avLst/>
          </a:prstGeom>
          <a:noFill/>
        </p:spPr>
        <p:txBody>
          <a:bodyPr wrap="square">
            <a:spAutoFit/>
          </a:bodyPr>
          <a:lstStyle/>
          <a:p>
            <a:pPr algn="l"/>
            <a:r>
              <a:rPr sz="1000" b="0" i="0">
                <a:solidFill>
                  <a:srgbClr val="3C3C3C"/>
                </a:solidFill>
                <a:latin typeface="Calibri"/>
              </a:rPr>
              <a:t>Monthly ETL cadence meant data was stale up to 30 days. Weekly and daily jobs were partial.</a:t>
            </a:r>
          </a:p>
        </p:txBody>
      </p:sp>
      <p:sp>
        <p:nvSpPr>
          <p:cNvPr id="18" name="Rectangle 17"/>
          <p:cNvSpPr/>
          <p:nvPr/>
        </p:nvSpPr>
        <p:spPr>
          <a:xfrm>
            <a:off x="457200" y="3008376"/>
            <a:ext cx="54864" cy="566928"/>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008376"/>
            <a:ext cx="4846320" cy="256032"/>
          </a:xfrm>
          <a:prstGeom prst="rect">
            <a:avLst/>
          </a:prstGeom>
          <a:noFill/>
        </p:spPr>
        <p:txBody>
          <a:bodyPr wrap="square">
            <a:spAutoFit/>
          </a:bodyPr>
          <a:lstStyle/>
          <a:p>
            <a:pPr algn="l"/>
            <a:r>
              <a:rPr sz="1100" b="1" i="0">
                <a:solidFill>
                  <a:srgbClr val="1A3055"/>
                </a:solidFill>
                <a:latin typeface="Calibri"/>
              </a:rPr>
              <a:t>Fragmented Tableau Sources</a:t>
            </a:r>
          </a:p>
        </p:txBody>
      </p:sp>
      <p:sp>
        <p:nvSpPr>
          <p:cNvPr id="20" name="TextBox 19"/>
          <p:cNvSpPr txBox="1"/>
          <p:nvPr/>
        </p:nvSpPr>
        <p:spPr>
          <a:xfrm>
            <a:off x="640080" y="3264408"/>
            <a:ext cx="4846320" cy="347472"/>
          </a:xfrm>
          <a:prstGeom prst="rect">
            <a:avLst/>
          </a:prstGeom>
          <a:noFill/>
        </p:spPr>
        <p:txBody>
          <a:bodyPr wrap="square">
            <a:spAutoFit/>
          </a:bodyPr>
          <a:lstStyle/>
          <a:p>
            <a:pPr algn="l"/>
            <a:r>
              <a:rPr sz="1000" b="0" i="0">
                <a:solidFill>
                  <a:srgbClr val="3C3C3C"/>
                </a:solidFill>
                <a:latin typeface="Calibri"/>
              </a:rPr>
              <a:t>5+ Tableau dashboards each had independent BIM connections — different logic, inconsistent numbers.</a:t>
            </a:r>
          </a:p>
        </p:txBody>
      </p:sp>
      <p:sp>
        <p:nvSpPr>
          <p:cNvPr id="21" name="Rectangle 20"/>
          <p:cNvSpPr/>
          <p:nvPr/>
        </p:nvSpPr>
        <p:spPr>
          <a:xfrm>
            <a:off x="457200" y="3803904"/>
            <a:ext cx="54864" cy="566928"/>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803904"/>
            <a:ext cx="4846320" cy="256032"/>
          </a:xfrm>
          <a:prstGeom prst="rect">
            <a:avLst/>
          </a:prstGeom>
          <a:noFill/>
        </p:spPr>
        <p:txBody>
          <a:bodyPr wrap="square">
            <a:spAutoFit/>
          </a:bodyPr>
          <a:lstStyle/>
          <a:p>
            <a:pPr algn="l"/>
            <a:r>
              <a:rPr sz="1100" b="1" i="0">
                <a:solidFill>
                  <a:srgbClr val="1A3055"/>
                </a:solidFill>
                <a:latin typeface="Calibri"/>
              </a:rPr>
              <a:t>Manual SSIS / Stored Procedures</a:t>
            </a:r>
          </a:p>
        </p:txBody>
      </p:sp>
      <p:sp>
        <p:nvSpPr>
          <p:cNvPr id="23" name="TextBox 22"/>
          <p:cNvSpPr txBox="1"/>
          <p:nvPr/>
        </p:nvSpPr>
        <p:spPr>
          <a:xfrm>
            <a:off x="640080" y="4059936"/>
            <a:ext cx="4846320" cy="347472"/>
          </a:xfrm>
          <a:prstGeom prst="rect">
            <a:avLst/>
          </a:prstGeom>
          <a:noFill/>
        </p:spPr>
        <p:txBody>
          <a:bodyPr wrap="square">
            <a:spAutoFit/>
          </a:bodyPr>
          <a:lstStyle/>
          <a:p>
            <a:pPr algn="l"/>
            <a:r>
              <a:rPr sz="1000" b="0" i="0">
                <a:solidFill>
                  <a:srgbClr val="3C3C3C"/>
                </a:solidFill>
                <a:latin typeface="Calibri"/>
              </a:rPr>
              <a:t>BIM fed reports via SSIS packages and stored procedures: brittle, hard to maintain, undocumented.</a:t>
            </a:r>
          </a:p>
        </p:txBody>
      </p:sp>
      <p:sp>
        <p:nvSpPr>
          <p:cNvPr id="24" name="Rectangle 23"/>
          <p:cNvSpPr/>
          <p:nvPr/>
        </p:nvSpPr>
        <p:spPr>
          <a:xfrm>
            <a:off x="457200" y="4599432"/>
            <a:ext cx="54864" cy="566928"/>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599432"/>
            <a:ext cx="4846320" cy="256032"/>
          </a:xfrm>
          <a:prstGeom prst="rect">
            <a:avLst/>
          </a:prstGeom>
          <a:noFill/>
        </p:spPr>
        <p:txBody>
          <a:bodyPr wrap="square">
            <a:spAutoFit/>
          </a:bodyPr>
          <a:lstStyle/>
          <a:p>
            <a:pPr algn="l"/>
            <a:r>
              <a:rPr sz="1100" b="1" i="0">
                <a:solidFill>
                  <a:srgbClr val="1A3055"/>
                </a:solidFill>
                <a:latin typeface="Calibri"/>
              </a:rPr>
              <a:t>Multiple Downstream Systems</a:t>
            </a:r>
          </a:p>
        </p:txBody>
      </p:sp>
      <p:sp>
        <p:nvSpPr>
          <p:cNvPr id="26" name="TextBox 25"/>
          <p:cNvSpPr txBox="1"/>
          <p:nvPr/>
        </p:nvSpPr>
        <p:spPr>
          <a:xfrm>
            <a:off x="640080" y="4855464"/>
            <a:ext cx="4846320" cy="347472"/>
          </a:xfrm>
          <a:prstGeom prst="rect">
            <a:avLst/>
          </a:prstGeom>
          <a:noFill/>
        </p:spPr>
        <p:txBody>
          <a:bodyPr wrap="square">
            <a:spAutoFit/>
          </a:bodyPr>
          <a:lstStyle/>
          <a:p>
            <a:pPr algn="l"/>
            <a:r>
              <a:rPr sz="1000" b="0" i="0">
                <a:solidFill>
                  <a:srgbClr val="3C3C3C"/>
                </a:solidFill>
                <a:latin typeface="Calibri"/>
              </a:rPr>
              <a:t>BIM drove Production Reporting, PMIC Data Warehouse, PMIC Data Mart, FYPE — a tangled web.</a:t>
            </a:r>
          </a:p>
        </p:txBody>
      </p:sp>
      <p:sp>
        <p:nvSpPr>
          <p:cNvPr id="27" name="Rectangle 26"/>
          <p:cNvSpPr/>
          <p:nvPr/>
        </p:nvSpPr>
        <p:spPr>
          <a:xfrm>
            <a:off x="457200" y="5394960"/>
            <a:ext cx="54864" cy="566928"/>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5394960"/>
            <a:ext cx="4846320" cy="256032"/>
          </a:xfrm>
          <a:prstGeom prst="rect">
            <a:avLst/>
          </a:prstGeom>
          <a:noFill/>
        </p:spPr>
        <p:txBody>
          <a:bodyPr wrap="square">
            <a:spAutoFit/>
          </a:bodyPr>
          <a:lstStyle/>
          <a:p>
            <a:pPr algn="l"/>
            <a:r>
              <a:rPr sz="1100" b="1" i="0">
                <a:solidFill>
                  <a:srgbClr val="1A3055"/>
                </a:solidFill>
                <a:latin typeface="Calibri"/>
              </a:rPr>
              <a:t>Report Tool Sprawl</a:t>
            </a:r>
          </a:p>
        </p:txBody>
      </p:sp>
      <p:sp>
        <p:nvSpPr>
          <p:cNvPr id="29" name="TextBox 28"/>
          <p:cNvSpPr txBox="1"/>
          <p:nvPr/>
        </p:nvSpPr>
        <p:spPr>
          <a:xfrm>
            <a:off x="640080" y="5650992"/>
            <a:ext cx="4846320" cy="347472"/>
          </a:xfrm>
          <a:prstGeom prst="rect">
            <a:avLst/>
          </a:prstGeom>
          <a:noFill/>
        </p:spPr>
        <p:txBody>
          <a:bodyPr wrap="square">
            <a:spAutoFit/>
          </a:bodyPr>
          <a:lstStyle/>
          <a:p>
            <a:pPr algn="l"/>
            <a:r>
              <a:rPr sz="1000" b="0" i="0">
                <a:solidFill>
                  <a:srgbClr val="3C3C3C"/>
                </a:solidFill>
                <a:latin typeface="Calibri"/>
              </a:rPr>
              <a:t>BOXI (Business Objects), SSRS, and disconnected Tableau dashboards — no unified BI layer.</a:t>
            </a:r>
          </a:p>
        </p:txBody>
      </p:sp>
      <p:sp>
        <p:nvSpPr>
          <p:cNvPr id="30" name="Rectangle 29"/>
          <p:cNvSpPr/>
          <p:nvPr/>
        </p:nvSpPr>
        <p:spPr>
          <a:xfrm>
            <a:off x="6080760" y="1005840"/>
            <a:ext cx="5669280" cy="233172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1051560"/>
            <a:ext cx="5303520" cy="274320"/>
          </a:xfrm>
          <a:prstGeom prst="rect">
            <a:avLst/>
          </a:prstGeom>
          <a:noFill/>
        </p:spPr>
        <p:txBody>
          <a:bodyPr wrap="square">
            <a:spAutoFit/>
          </a:bodyPr>
          <a:lstStyle/>
          <a:p>
            <a:pPr algn="l"/>
            <a:r>
              <a:rPr sz="900" b="1" i="0">
                <a:solidFill>
                  <a:srgbClr val="E09A00"/>
                </a:solidFill>
                <a:latin typeface="Calibri"/>
              </a:rPr>
              <a:t>MIGRATION MANDATE</a:t>
            </a:r>
          </a:p>
        </p:txBody>
      </p:sp>
      <p:sp>
        <p:nvSpPr>
          <p:cNvPr id="32" name="TextBox 31"/>
          <p:cNvSpPr txBox="1"/>
          <p:nvPr/>
        </p:nvSpPr>
        <p:spPr>
          <a:xfrm>
            <a:off x="6263640" y="1389888"/>
            <a:ext cx="5349240" cy="438912"/>
          </a:xfrm>
          <a:prstGeom prst="rect">
            <a:avLst/>
          </a:prstGeom>
          <a:noFill/>
        </p:spPr>
        <p:txBody>
          <a:bodyPr wrap="square">
            <a:spAutoFit/>
          </a:bodyPr>
          <a:lstStyle/>
          <a:p>
            <a:pPr algn="l"/>
            <a:r>
              <a:rPr sz="1000" b="0" i="0">
                <a:solidFill>
                  <a:srgbClr val="FFFFFF"/>
                </a:solidFill>
                <a:latin typeface="Calibri"/>
              </a:rPr>
              <a:t>›  BIM retirement was formally mandated by PEMCO IT leadership.</a:t>
            </a:r>
          </a:p>
        </p:txBody>
      </p:sp>
      <p:sp>
        <p:nvSpPr>
          <p:cNvPr id="33" name="TextBox 32"/>
          <p:cNvSpPr txBox="1"/>
          <p:nvPr/>
        </p:nvSpPr>
        <p:spPr>
          <a:xfrm>
            <a:off x="6263640" y="1847088"/>
            <a:ext cx="5349240" cy="438912"/>
          </a:xfrm>
          <a:prstGeom prst="rect">
            <a:avLst/>
          </a:prstGeom>
          <a:noFill/>
        </p:spPr>
        <p:txBody>
          <a:bodyPr wrap="square">
            <a:spAutoFit/>
          </a:bodyPr>
          <a:lstStyle/>
          <a:p>
            <a:pPr algn="l"/>
            <a:r>
              <a:rPr sz="1000" b="0" i="0">
                <a:solidFill>
                  <a:srgbClr val="FFFFFF"/>
                </a:solidFill>
                <a:latin typeface="Calibri"/>
              </a:rPr>
              <a:t>›  All enterprise reports must be rewritten to target AWM / EDW (Enterprise Data Warehouse).</a:t>
            </a:r>
          </a:p>
        </p:txBody>
      </p:sp>
      <p:sp>
        <p:nvSpPr>
          <p:cNvPr id="34" name="TextBox 33"/>
          <p:cNvSpPr txBox="1"/>
          <p:nvPr/>
        </p:nvSpPr>
        <p:spPr>
          <a:xfrm>
            <a:off x="6263640" y="2304288"/>
            <a:ext cx="5349240" cy="438912"/>
          </a:xfrm>
          <a:prstGeom prst="rect">
            <a:avLst/>
          </a:prstGeom>
          <a:noFill/>
        </p:spPr>
        <p:txBody>
          <a:bodyPr wrap="square">
            <a:spAutoFit/>
          </a:bodyPr>
          <a:lstStyle/>
          <a:p>
            <a:pPr algn="l"/>
            <a:r>
              <a:rPr sz="1000" b="0" i="0">
                <a:solidFill>
                  <a:srgbClr val="FFFFFF"/>
                </a:solidFill>
                <a:latin typeface="Calibri"/>
              </a:rPr>
              <a:t>›  BIM table and column structures differ from AWM — business logic cannot be directly ported.</a:t>
            </a:r>
          </a:p>
        </p:txBody>
      </p:sp>
      <p:sp>
        <p:nvSpPr>
          <p:cNvPr id="35" name="TextBox 34"/>
          <p:cNvSpPr txBox="1"/>
          <p:nvPr/>
        </p:nvSpPr>
        <p:spPr>
          <a:xfrm>
            <a:off x="6263640" y="2761488"/>
            <a:ext cx="5349240" cy="438912"/>
          </a:xfrm>
          <a:prstGeom prst="rect">
            <a:avLst/>
          </a:prstGeom>
          <a:noFill/>
        </p:spPr>
        <p:txBody>
          <a:bodyPr wrap="square">
            <a:spAutoFit/>
          </a:bodyPr>
          <a:lstStyle/>
          <a:p>
            <a:pPr algn="l"/>
            <a:r>
              <a:rPr sz="1000" b="0" i="0">
                <a:solidFill>
                  <a:srgbClr val="FFFFFF"/>
                </a:solidFill>
                <a:latin typeface="Calibri"/>
              </a:rPr>
              <a:t>›  Target: eliminate BIM dependency across every report, dashboard, and downstream consumer.</a:t>
            </a:r>
          </a:p>
        </p:txBody>
      </p:sp>
      <p:sp>
        <p:nvSpPr>
          <p:cNvPr id="36" name="Rectangle 35"/>
          <p:cNvSpPr/>
          <p:nvPr/>
        </p:nvSpPr>
        <p:spPr>
          <a:xfrm>
            <a:off x="6080760" y="3429000"/>
            <a:ext cx="566928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080760" y="3429000"/>
            <a:ext cx="5669280" cy="292608"/>
          </a:xfrm>
          <a:prstGeom prst="rect">
            <a:avLst/>
          </a:prstGeom>
          <a:solidFill>
            <a:srgbClr val="26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63640" y="3447288"/>
            <a:ext cx="5303520" cy="256032"/>
          </a:xfrm>
          <a:prstGeom prst="rect">
            <a:avLst/>
          </a:prstGeom>
          <a:noFill/>
        </p:spPr>
        <p:txBody>
          <a:bodyPr wrap="square">
            <a:spAutoFit/>
          </a:bodyPr>
          <a:lstStyle/>
          <a:p>
            <a:pPr algn="l"/>
            <a:r>
              <a:rPr sz="900" b="1" i="0">
                <a:solidFill>
                  <a:srgbClr val="FFFFFF"/>
                </a:solidFill>
                <a:latin typeface="Calibri"/>
              </a:rPr>
              <a:t>AWM / EDW ADVANTAGES</a:t>
            </a:r>
          </a:p>
        </p:txBody>
      </p:sp>
      <p:sp>
        <p:nvSpPr>
          <p:cNvPr id="39" name="TextBox 38"/>
          <p:cNvSpPr txBox="1"/>
          <p:nvPr/>
        </p:nvSpPr>
        <p:spPr>
          <a:xfrm>
            <a:off x="6263640" y="3794760"/>
            <a:ext cx="2377440" cy="256032"/>
          </a:xfrm>
          <a:prstGeom prst="rect">
            <a:avLst/>
          </a:prstGeom>
          <a:noFill/>
        </p:spPr>
        <p:txBody>
          <a:bodyPr wrap="square">
            <a:spAutoFit/>
          </a:bodyPr>
          <a:lstStyle/>
          <a:p>
            <a:pPr algn="l"/>
            <a:r>
              <a:rPr sz="1000" b="1" i="0">
                <a:solidFill>
                  <a:srgbClr val="1E8A44"/>
                </a:solidFill>
                <a:latin typeface="Calibri"/>
              </a:rPr>
              <a:t>✓  Near-real-time data</a:t>
            </a:r>
          </a:p>
        </p:txBody>
      </p:sp>
      <p:sp>
        <p:nvSpPr>
          <p:cNvPr id="40" name="TextBox 39"/>
          <p:cNvSpPr txBox="1"/>
          <p:nvPr/>
        </p:nvSpPr>
        <p:spPr>
          <a:xfrm>
            <a:off x="8732520" y="3794760"/>
            <a:ext cx="2880360" cy="256032"/>
          </a:xfrm>
          <a:prstGeom prst="rect">
            <a:avLst/>
          </a:prstGeom>
          <a:noFill/>
        </p:spPr>
        <p:txBody>
          <a:bodyPr wrap="square">
            <a:spAutoFit/>
          </a:bodyPr>
          <a:lstStyle/>
          <a:p>
            <a:pPr algn="l"/>
            <a:r>
              <a:rPr sz="1000" b="0" i="0">
                <a:solidFill>
                  <a:srgbClr val="3C3C3C"/>
                </a:solidFill>
                <a:latin typeface="Calibri"/>
              </a:rPr>
              <a:t>No ETL monthly batch dependency — data reflects current state</a:t>
            </a:r>
          </a:p>
        </p:txBody>
      </p:sp>
      <p:sp>
        <p:nvSpPr>
          <p:cNvPr id="41" name="TextBox 40"/>
          <p:cNvSpPr txBox="1"/>
          <p:nvPr/>
        </p:nvSpPr>
        <p:spPr>
          <a:xfrm>
            <a:off x="6263640" y="4297680"/>
            <a:ext cx="2377440" cy="256032"/>
          </a:xfrm>
          <a:prstGeom prst="rect">
            <a:avLst/>
          </a:prstGeom>
          <a:noFill/>
        </p:spPr>
        <p:txBody>
          <a:bodyPr wrap="square">
            <a:spAutoFit/>
          </a:bodyPr>
          <a:lstStyle/>
          <a:p>
            <a:pPr algn="l"/>
            <a:r>
              <a:rPr sz="1000" b="1" i="0">
                <a:solidFill>
                  <a:srgbClr val="1E8A44"/>
                </a:solidFill>
                <a:latin typeface="Calibri"/>
              </a:rPr>
              <a:t>✓  Single source of truth</a:t>
            </a:r>
          </a:p>
        </p:txBody>
      </p:sp>
      <p:sp>
        <p:nvSpPr>
          <p:cNvPr id="42" name="TextBox 41"/>
          <p:cNvSpPr txBox="1"/>
          <p:nvPr/>
        </p:nvSpPr>
        <p:spPr>
          <a:xfrm>
            <a:off x="8732520" y="4297680"/>
            <a:ext cx="2880360" cy="256032"/>
          </a:xfrm>
          <a:prstGeom prst="rect">
            <a:avLst/>
          </a:prstGeom>
          <a:noFill/>
        </p:spPr>
        <p:txBody>
          <a:bodyPr wrap="square">
            <a:spAutoFit/>
          </a:bodyPr>
          <a:lstStyle/>
          <a:p>
            <a:pPr algn="l"/>
            <a:r>
              <a:rPr sz="1000" b="0" i="0">
                <a:solidFill>
                  <a:srgbClr val="3C3C3C"/>
                </a:solidFill>
                <a:latin typeface="Calibri"/>
              </a:rPr>
              <a:t>AWM/DWM serves as the authoritative enterprise data warehouse</a:t>
            </a:r>
          </a:p>
        </p:txBody>
      </p:sp>
      <p:sp>
        <p:nvSpPr>
          <p:cNvPr id="43" name="TextBox 42"/>
          <p:cNvSpPr txBox="1"/>
          <p:nvPr/>
        </p:nvSpPr>
        <p:spPr>
          <a:xfrm>
            <a:off x="6263640" y="4800600"/>
            <a:ext cx="2377440" cy="256032"/>
          </a:xfrm>
          <a:prstGeom prst="rect">
            <a:avLst/>
          </a:prstGeom>
          <a:noFill/>
        </p:spPr>
        <p:txBody>
          <a:bodyPr wrap="square">
            <a:spAutoFit/>
          </a:bodyPr>
          <a:lstStyle/>
          <a:p>
            <a:pPr algn="l"/>
            <a:r>
              <a:rPr sz="1000" b="1" i="0">
                <a:solidFill>
                  <a:srgbClr val="1E8A44"/>
                </a:solidFill>
                <a:latin typeface="Calibri"/>
              </a:rPr>
              <a:t>✓  Scalability</a:t>
            </a:r>
          </a:p>
        </p:txBody>
      </p:sp>
      <p:sp>
        <p:nvSpPr>
          <p:cNvPr id="44" name="TextBox 43"/>
          <p:cNvSpPr txBox="1"/>
          <p:nvPr/>
        </p:nvSpPr>
        <p:spPr>
          <a:xfrm>
            <a:off x="8732520" y="4800600"/>
            <a:ext cx="2880360" cy="256032"/>
          </a:xfrm>
          <a:prstGeom prst="rect">
            <a:avLst/>
          </a:prstGeom>
          <a:noFill/>
        </p:spPr>
        <p:txBody>
          <a:bodyPr wrap="square">
            <a:spAutoFit/>
          </a:bodyPr>
          <a:lstStyle/>
          <a:p>
            <a:pPr algn="l"/>
            <a:r>
              <a:rPr sz="1000" b="0" i="0">
                <a:solidFill>
                  <a:srgbClr val="3C3C3C"/>
                </a:solidFill>
                <a:latin typeface="Calibri"/>
              </a:rPr>
              <a:t>Cloud-ready architecture; supports Databricks future roadmap</a:t>
            </a:r>
          </a:p>
        </p:txBody>
      </p:sp>
      <p:sp>
        <p:nvSpPr>
          <p:cNvPr id="45" name="TextBox 44"/>
          <p:cNvSpPr txBox="1"/>
          <p:nvPr/>
        </p:nvSpPr>
        <p:spPr>
          <a:xfrm>
            <a:off x="6263640" y="5303520"/>
            <a:ext cx="2377440" cy="256032"/>
          </a:xfrm>
          <a:prstGeom prst="rect">
            <a:avLst/>
          </a:prstGeom>
          <a:noFill/>
        </p:spPr>
        <p:txBody>
          <a:bodyPr wrap="square">
            <a:spAutoFit/>
          </a:bodyPr>
          <a:lstStyle/>
          <a:p>
            <a:pPr algn="l"/>
            <a:r>
              <a:rPr sz="1000" b="1" i="0">
                <a:solidFill>
                  <a:srgbClr val="1E8A44"/>
                </a:solidFill>
                <a:latin typeface="Calibri"/>
              </a:rPr>
              <a:t>✓  Unified reporting layer</a:t>
            </a:r>
          </a:p>
        </p:txBody>
      </p:sp>
      <p:sp>
        <p:nvSpPr>
          <p:cNvPr id="46" name="TextBox 45"/>
          <p:cNvSpPr txBox="1"/>
          <p:nvPr/>
        </p:nvSpPr>
        <p:spPr>
          <a:xfrm>
            <a:off x="8732520" y="5303520"/>
            <a:ext cx="2880360" cy="256032"/>
          </a:xfrm>
          <a:prstGeom prst="rect">
            <a:avLst/>
          </a:prstGeom>
          <a:noFill/>
        </p:spPr>
        <p:txBody>
          <a:bodyPr wrap="square">
            <a:spAutoFit/>
          </a:bodyPr>
          <a:lstStyle/>
          <a:p>
            <a:pPr algn="l"/>
            <a:r>
              <a:rPr sz="1000" b="0" i="0">
                <a:solidFill>
                  <a:srgbClr val="3C3C3C"/>
                </a:solidFill>
                <a:latin typeface="Calibri"/>
              </a:rPr>
              <a:t>All Tableau dashboards source from one consistent EDW schema</a:t>
            </a:r>
          </a:p>
        </p:txBody>
      </p:sp>
      <p:sp>
        <p:nvSpPr>
          <p:cNvPr id="47" name="TextBox 46"/>
          <p:cNvSpPr txBox="1"/>
          <p:nvPr/>
        </p:nvSpPr>
        <p:spPr>
          <a:xfrm>
            <a:off x="6263640" y="5806440"/>
            <a:ext cx="2377440" cy="256032"/>
          </a:xfrm>
          <a:prstGeom prst="rect">
            <a:avLst/>
          </a:prstGeom>
          <a:noFill/>
        </p:spPr>
        <p:txBody>
          <a:bodyPr wrap="square">
            <a:spAutoFit/>
          </a:bodyPr>
          <a:lstStyle/>
          <a:p>
            <a:pPr algn="l"/>
            <a:r>
              <a:rPr sz="1000" b="1" i="0">
                <a:solidFill>
                  <a:srgbClr val="1E8A44"/>
                </a:solidFill>
                <a:latin typeface="Calibri"/>
              </a:rPr>
              <a:t>✓  Auditability</a:t>
            </a:r>
          </a:p>
        </p:txBody>
      </p:sp>
      <p:sp>
        <p:nvSpPr>
          <p:cNvPr id="48" name="TextBox 47"/>
          <p:cNvSpPr txBox="1"/>
          <p:nvPr/>
        </p:nvSpPr>
        <p:spPr>
          <a:xfrm>
            <a:off x="8732520" y="5806440"/>
            <a:ext cx="2880360" cy="256032"/>
          </a:xfrm>
          <a:prstGeom prst="rect">
            <a:avLst/>
          </a:prstGeom>
          <a:noFill/>
        </p:spPr>
        <p:txBody>
          <a:bodyPr wrap="square">
            <a:spAutoFit/>
          </a:bodyPr>
          <a:lstStyle/>
          <a:p>
            <a:pPr algn="l"/>
            <a:r>
              <a:rPr sz="1000" b="0" i="0">
                <a:solidFill>
                  <a:srgbClr val="3C3C3C"/>
                </a:solidFill>
                <a:latin typeface="Calibri"/>
              </a:rPr>
              <a:t>Full lineage from source system to reporting table is traceable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9144000" cy="502920"/>
          </a:xfrm>
          <a:prstGeom prst="rect">
            <a:avLst/>
          </a:prstGeom>
          <a:noFill/>
        </p:spPr>
        <p:txBody>
          <a:bodyPr wrap="square">
            <a:spAutoFit/>
          </a:bodyPr>
          <a:lstStyle/>
          <a:p>
            <a:pPr algn="l"/>
            <a:r>
              <a:rPr sz="2200" b="1" i="0">
                <a:solidFill>
                  <a:srgbClr val="FFFFFF"/>
                </a:solidFill>
                <a:latin typeface="Calibri"/>
              </a:rPr>
              <a:t>Scope of Work</a:t>
            </a:r>
          </a:p>
        </p:txBody>
      </p:sp>
      <p:sp>
        <p:nvSpPr>
          <p:cNvPr id="5" name="TextBox 4"/>
          <p:cNvSpPr txBox="1"/>
          <p:nvPr/>
        </p:nvSpPr>
        <p:spPr>
          <a:xfrm>
            <a:off x="320040" y="548640"/>
            <a:ext cx="9144000" cy="320040"/>
          </a:xfrm>
          <a:prstGeom prst="rect">
            <a:avLst/>
          </a:prstGeom>
          <a:noFill/>
        </p:spPr>
        <p:txBody>
          <a:bodyPr wrap="square">
            <a:spAutoFit/>
          </a:bodyPr>
          <a:lstStyle/>
          <a:p>
            <a:pPr algn="l"/>
            <a:r>
              <a:rPr sz="1100" b="0" i="0">
                <a:solidFill>
                  <a:srgbClr val="B0B8C8"/>
                </a:solidFill>
                <a:latin typeface="Calibri"/>
              </a:rPr>
              <a:t>Four workstreams — covering the full BIM retirement portfolio</a:t>
            </a:r>
          </a:p>
        </p:txBody>
      </p:sp>
      <p:sp>
        <p:nvSpPr>
          <p:cNvPr id="6" name="Rectangle 5"/>
          <p:cNvSpPr/>
          <p:nvPr/>
        </p:nvSpPr>
        <p:spPr>
          <a:xfrm>
            <a:off x="0" y="868680"/>
            <a:ext cx="12188952" cy="36576"/>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88952" cy="27432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8229600" cy="274320"/>
          </a:xfrm>
          <a:prstGeom prst="rect">
            <a:avLst/>
          </a:prstGeom>
          <a:noFill/>
        </p:spPr>
        <p:txBody>
          <a:bodyPr wrap="square">
            <a:spAutoFit/>
          </a:bodyPr>
          <a:lstStyle/>
          <a:p>
            <a:pPr algn="l"/>
            <a:r>
              <a:rPr sz="800" b="0" i="0">
                <a:solidFill>
                  <a:srgbClr val="B0B8C8"/>
                </a:solidFill>
                <a:latin typeface="Calibri"/>
              </a:rPr>
              <a:t>Bourntec Solutions  |  PEMCO Mutual Insurance  |  Confidential — May 2026</a:t>
            </a:r>
          </a:p>
        </p:txBody>
      </p:sp>
      <p:sp>
        <p:nvSpPr>
          <p:cNvPr id="9" name="Rectangle 8"/>
          <p:cNvSpPr/>
          <p:nvPr/>
        </p:nvSpPr>
        <p:spPr>
          <a:xfrm>
            <a:off x="320040" y="1005840"/>
            <a:ext cx="2743200"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005840"/>
            <a:ext cx="2743200" cy="804672"/>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042416"/>
            <a:ext cx="548640" cy="329184"/>
          </a:xfrm>
          <a:prstGeom prst="rect">
            <a:avLst/>
          </a:prstGeom>
          <a:noFill/>
        </p:spPr>
        <p:txBody>
          <a:bodyPr wrap="square">
            <a:spAutoFit/>
          </a:bodyPr>
          <a:lstStyle/>
          <a:p>
            <a:pPr algn="l"/>
            <a:r>
              <a:rPr sz="2200" b="1" i="0">
                <a:solidFill>
                  <a:srgbClr val="FFFFFF"/>
                </a:solidFill>
                <a:latin typeface="Calibri"/>
              </a:rPr>
              <a:t>01</a:t>
            </a:r>
          </a:p>
        </p:txBody>
      </p:sp>
      <p:sp>
        <p:nvSpPr>
          <p:cNvPr id="12" name="TextBox 11"/>
          <p:cNvSpPr txBox="1"/>
          <p:nvPr/>
        </p:nvSpPr>
        <p:spPr>
          <a:xfrm>
            <a:off x="978408" y="1060704"/>
            <a:ext cx="2011680" cy="292608"/>
          </a:xfrm>
          <a:prstGeom prst="rect">
            <a:avLst/>
          </a:prstGeom>
          <a:noFill/>
        </p:spPr>
        <p:txBody>
          <a:bodyPr wrap="square">
            <a:spAutoFit/>
          </a:bodyPr>
          <a:lstStyle/>
          <a:p>
            <a:pPr algn="l"/>
            <a:r>
              <a:rPr sz="1200" b="1" i="0">
                <a:solidFill>
                  <a:srgbClr val="FFFFFF"/>
                </a:solidFill>
                <a:latin typeface="Calibri"/>
              </a:rPr>
              <a:t>BOXI → Power BI</a:t>
            </a:r>
          </a:p>
        </p:txBody>
      </p:sp>
      <p:sp>
        <p:nvSpPr>
          <p:cNvPr id="13" name="TextBox 12"/>
          <p:cNvSpPr txBox="1"/>
          <p:nvPr/>
        </p:nvSpPr>
        <p:spPr>
          <a:xfrm>
            <a:off x="978408" y="1371600"/>
            <a:ext cx="2011680" cy="274320"/>
          </a:xfrm>
          <a:prstGeom prst="rect">
            <a:avLst/>
          </a:prstGeom>
          <a:noFill/>
        </p:spPr>
        <p:txBody>
          <a:bodyPr wrap="square">
            <a:spAutoFit/>
          </a:bodyPr>
          <a:lstStyle/>
          <a:p>
            <a:pPr algn="l"/>
            <a:r>
              <a:rPr sz="900" b="0" i="0">
                <a:solidFill>
                  <a:srgbClr val="DDEEFF"/>
                </a:solidFill>
                <a:latin typeface="Calibri"/>
              </a:rPr>
              <a:t>Ellen's requirement — 4 reports</a:t>
            </a:r>
          </a:p>
        </p:txBody>
      </p:sp>
      <p:sp>
        <p:nvSpPr>
          <p:cNvPr id="14" name="TextBox 13"/>
          <p:cNvSpPr txBox="1"/>
          <p:nvPr/>
        </p:nvSpPr>
        <p:spPr>
          <a:xfrm>
            <a:off x="457200" y="1920240"/>
            <a:ext cx="2560320" cy="457200"/>
          </a:xfrm>
          <a:prstGeom prst="rect">
            <a:avLst/>
          </a:prstGeom>
          <a:noFill/>
        </p:spPr>
        <p:txBody>
          <a:bodyPr wrap="square">
            <a:spAutoFit/>
          </a:bodyPr>
          <a:lstStyle/>
          <a:p>
            <a:pPr algn="l"/>
            <a:r>
              <a:rPr sz="1000" b="0" i="0">
                <a:solidFill>
                  <a:srgbClr val="3C3C3C"/>
                </a:solidFill>
                <a:latin typeface="Calibri"/>
              </a:rPr>
              <a:t>›  Agent Loss Experience Report (O0140A-M1A-P01)</a:t>
            </a:r>
          </a:p>
        </p:txBody>
      </p:sp>
      <p:sp>
        <p:nvSpPr>
          <p:cNvPr id="15" name="TextBox 14"/>
          <p:cNvSpPr txBox="1"/>
          <p:nvPr/>
        </p:nvSpPr>
        <p:spPr>
          <a:xfrm>
            <a:off x="457200" y="2414016"/>
            <a:ext cx="2560320" cy="457200"/>
          </a:xfrm>
          <a:prstGeom prst="rect">
            <a:avLst/>
          </a:prstGeom>
          <a:noFill/>
        </p:spPr>
        <p:txBody>
          <a:bodyPr wrap="square">
            <a:spAutoFit/>
          </a:bodyPr>
          <a:lstStyle/>
          <a:p>
            <a:pPr algn="l"/>
            <a:r>
              <a:rPr sz="1000" b="0" i="0">
                <a:solidFill>
                  <a:srgbClr val="3C3C3C"/>
                </a:solidFill>
                <a:latin typeface="Calibri"/>
              </a:rPr>
              <a:t>›  Agent Loss Experience — Current 12 Months</a:t>
            </a:r>
          </a:p>
        </p:txBody>
      </p:sp>
      <p:sp>
        <p:nvSpPr>
          <p:cNvPr id="16" name="TextBox 15"/>
          <p:cNvSpPr txBox="1"/>
          <p:nvPr/>
        </p:nvSpPr>
        <p:spPr>
          <a:xfrm>
            <a:off x="457200" y="2907792"/>
            <a:ext cx="2560320" cy="457200"/>
          </a:xfrm>
          <a:prstGeom prst="rect">
            <a:avLst/>
          </a:prstGeom>
          <a:noFill/>
        </p:spPr>
        <p:txBody>
          <a:bodyPr wrap="square">
            <a:spAutoFit/>
          </a:bodyPr>
          <a:lstStyle/>
          <a:p>
            <a:pPr algn="l"/>
            <a:r>
              <a:rPr sz="1000" b="0" i="0">
                <a:solidFill>
                  <a:srgbClr val="3C3C3C"/>
                </a:solidFill>
                <a:latin typeface="Calibri"/>
              </a:rPr>
              <a:t>›  Billing Accounts with Suspended Disbursements (O0169A-W1C-P01)</a:t>
            </a:r>
          </a:p>
        </p:txBody>
      </p:sp>
      <p:sp>
        <p:nvSpPr>
          <p:cNvPr id="17" name="TextBox 16"/>
          <p:cNvSpPr txBox="1"/>
          <p:nvPr/>
        </p:nvSpPr>
        <p:spPr>
          <a:xfrm>
            <a:off x="457200" y="3401568"/>
            <a:ext cx="2560320" cy="457200"/>
          </a:xfrm>
          <a:prstGeom prst="rect">
            <a:avLst/>
          </a:prstGeom>
          <a:noFill/>
        </p:spPr>
        <p:txBody>
          <a:bodyPr wrap="square">
            <a:spAutoFit/>
          </a:bodyPr>
          <a:lstStyle/>
          <a:p>
            <a:pPr algn="l"/>
            <a:r>
              <a:rPr sz="1000" b="0" i="0">
                <a:solidFill>
                  <a:srgbClr val="3C3C3C"/>
                </a:solidFill>
                <a:latin typeface="Calibri"/>
              </a:rPr>
              <a:t>›  Monthly Direct Sales Incentive Count Report (O0489A-M5P-P01)</a:t>
            </a:r>
          </a:p>
        </p:txBody>
      </p:sp>
      <p:sp>
        <p:nvSpPr>
          <p:cNvPr id="18" name="Rectangle 17"/>
          <p:cNvSpPr/>
          <p:nvPr/>
        </p:nvSpPr>
        <p:spPr>
          <a:xfrm>
            <a:off x="320040" y="5532120"/>
            <a:ext cx="2743200" cy="8229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 y="5577840"/>
            <a:ext cx="2560320" cy="731520"/>
          </a:xfrm>
          <a:prstGeom prst="rect">
            <a:avLst/>
          </a:prstGeom>
          <a:noFill/>
        </p:spPr>
        <p:txBody>
          <a:bodyPr wrap="square">
            <a:spAutoFit/>
          </a:bodyPr>
          <a:lstStyle/>
          <a:p>
            <a:pPr algn="l"/>
            <a:r>
              <a:rPr sz="900" b="0" i="1">
                <a:solidFill>
                  <a:srgbClr val="555577"/>
                </a:solidFill>
                <a:latin typeface="Calibri"/>
              </a:rPr>
              <a:t>No AWM/DWM dependency — direct BIM to Power BI rebuild.</a:t>
            </a:r>
          </a:p>
        </p:txBody>
      </p:sp>
      <p:sp>
        <p:nvSpPr>
          <p:cNvPr id="20" name="Rectangle 19"/>
          <p:cNvSpPr/>
          <p:nvPr/>
        </p:nvSpPr>
        <p:spPr>
          <a:xfrm>
            <a:off x="3218688" y="1005840"/>
            <a:ext cx="2743200"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18688" y="1005840"/>
            <a:ext cx="2743200" cy="804672"/>
          </a:xfrm>
          <a:prstGeom prst="rect">
            <a:avLst/>
          </a:prstGeom>
          <a:solidFill>
            <a:srgbClr val="26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55848" y="1042416"/>
            <a:ext cx="548640" cy="329184"/>
          </a:xfrm>
          <a:prstGeom prst="rect">
            <a:avLst/>
          </a:prstGeom>
          <a:noFill/>
        </p:spPr>
        <p:txBody>
          <a:bodyPr wrap="square">
            <a:spAutoFit/>
          </a:bodyPr>
          <a:lstStyle/>
          <a:p>
            <a:pPr algn="l"/>
            <a:r>
              <a:rPr sz="2200" b="1" i="0">
                <a:solidFill>
                  <a:srgbClr val="FFFFFF"/>
                </a:solidFill>
                <a:latin typeface="Calibri"/>
              </a:rPr>
              <a:t>02</a:t>
            </a:r>
          </a:p>
        </p:txBody>
      </p:sp>
      <p:sp>
        <p:nvSpPr>
          <p:cNvPr id="23" name="TextBox 22"/>
          <p:cNvSpPr txBox="1"/>
          <p:nvPr/>
        </p:nvSpPr>
        <p:spPr>
          <a:xfrm>
            <a:off x="3877056" y="1060704"/>
            <a:ext cx="2011680" cy="292608"/>
          </a:xfrm>
          <a:prstGeom prst="rect">
            <a:avLst/>
          </a:prstGeom>
          <a:noFill/>
        </p:spPr>
        <p:txBody>
          <a:bodyPr wrap="square">
            <a:spAutoFit/>
          </a:bodyPr>
          <a:lstStyle/>
          <a:p>
            <a:pPr algn="l"/>
            <a:r>
              <a:rPr sz="1200" b="1" i="0">
                <a:solidFill>
                  <a:srgbClr val="FFFFFF"/>
                </a:solidFill>
                <a:latin typeface="Calibri"/>
              </a:rPr>
              <a:t>BOXI / SSRS → Tableau</a:t>
            </a:r>
          </a:p>
        </p:txBody>
      </p:sp>
      <p:sp>
        <p:nvSpPr>
          <p:cNvPr id="24" name="TextBox 23"/>
          <p:cNvSpPr txBox="1"/>
          <p:nvPr/>
        </p:nvSpPr>
        <p:spPr>
          <a:xfrm>
            <a:off x="3877056" y="1371600"/>
            <a:ext cx="2011680" cy="274320"/>
          </a:xfrm>
          <a:prstGeom prst="rect">
            <a:avLst/>
          </a:prstGeom>
          <a:noFill/>
        </p:spPr>
        <p:txBody>
          <a:bodyPr wrap="square">
            <a:spAutoFit/>
          </a:bodyPr>
          <a:lstStyle/>
          <a:p>
            <a:pPr algn="l"/>
            <a:r>
              <a:rPr sz="900" b="0" i="0">
                <a:solidFill>
                  <a:srgbClr val="DDEEFF"/>
                </a:solidFill>
                <a:latin typeface="Calibri"/>
              </a:rPr>
              <a:t>6 reports with source rewrite</a:t>
            </a:r>
          </a:p>
        </p:txBody>
      </p:sp>
      <p:sp>
        <p:nvSpPr>
          <p:cNvPr id="25" name="TextBox 24"/>
          <p:cNvSpPr txBox="1"/>
          <p:nvPr/>
        </p:nvSpPr>
        <p:spPr>
          <a:xfrm>
            <a:off x="3355848" y="1920240"/>
            <a:ext cx="2560320" cy="457200"/>
          </a:xfrm>
          <a:prstGeom prst="rect">
            <a:avLst/>
          </a:prstGeom>
          <a:noFill/>
        </p:spPr>
        <p:txBody>
          <a:bodyPr wrap="square">
            <a:spAutoFit/>
          </a:bodyPr>
          <a:lstStyle/>
          <a:p>
            <a:pPr algn="l"/>
            <a:r>
              <a:rPr sz="1000" b="0" i="0">
                <a:solidFill>
                  <a:srgbClr val="3C3C3C"/>
                </a:solidFill>
                <a:latin typeface="Calibri"/>
              </a:rPr>
              <a:t>›  Monthly Inforce Household &amp; Policy Unit Counts (O0300A-M1C-P01)</a:t>
            </a:r>
          </a:p>
        </p:txBody>
      </p:sp>
      <p:sp>
        <p:nvSpPr>
          <p:cNvPr id="26" name="TextBox 25"/>
          <p:cNvSpPr txBox="1"/>
          <p:nvPr/>
        </p:nvSpPr>
        <p:spPr>
          <a:xfrm>
            <a:off x="3355848" y="2414016"/>
            <a:ext cx="2560320" cy="457200"/>
          </a:xfrm>
          <a:prstGeom prst="rect">
            <a:avLst/>
          </a:prstGeom>
          <a:noFill/>
        </p:spPr>
        <p:txBody>
          <a:bodyPr wrap="square">
            <a:spAutoFit/>
          </a:bodyPr>
          <a:lstStyle/>
          <a:p>
            <a:pPr algn="l"/>
            <a:r>
              <a:rPr sz="1000" b="0" i="0">
                <a:solidFill>
                  <a:srgbClr val="3C3C3C"/>
                </a:solidFill>
                <a:latin typeface="Calibri"/>
              </a:rPr>
              <a:t>›  Monthly Manual Write Off (O0242A-M1A-P01)</a:t>
            </a:r>
          </a:p>
        </p:txBody>
      </p:sp>
      <p:sp>
        <p:nvSpPr>
          <p:cNvPr id="27" name="TextBox 26"/>
          <p:cNvSpPr txBox="1"/>
          <p:nvPr/>
        </p:nvSpPr>
        <p:spPr>
          <a:xfrm>
            <a:off x="3355848" y="2907792"/>
            <a:ext cx="2560320" cy="457200"/>
          </a:xfrm>
          <a:prstGeom prst="rect">
            <a:avLst/>
          </a:prstGeom>
          <a:noFill/>
        </p:spPr>
        <p:txBody>
          <a:bodyPr wrap="square">
            <a:spAutoFit/>
          </a:bodyPr>
          <a:lstStyle/>
          <a:p>
            <a:pPr algn="l"/>
            <a:r>
              <a:rPr sz="1000" b="0" i="0">
                <a:solidFill>
                  <a:srgbClr val="3C3C3C"/>
                </a:solidFill>
                <a:latin typeface="Calibri"/>
              </a:rPr>
              <a:t>›  Monthly Write Off (O0302A-M1B-P01)</a:t>
            </a:r>
          </a:p>
        </p:txBody>
      </p:sp>
      <p:sp>
        <p:nvSpPr>
          <p:cNvPr id="28" name="TextBox 27"/>
          <p:cNvSpPr txBox="1"/>
          <p:nvPr/>
        </p:nvSpPr>
        <p:spPr>
          <a:xfrm>
            <a:off x="3355848" y="3401568"/>
            <a:ext cx="2560320" cy="457200"/>
          </a:xfrm>
          <a:prstGeom prst="rect">
            <a:avLst/>
          </a:prstGeom>
          <a:noFill/>
        </p:spPr>
        <p:txBody>
          <a:bodyPr wrap="square">
            <a:spAutoFit/>
          </a:bodyPr>
          <a:lstStyle/>
          <a:p>
            <a:pPr algn="l"/>
            <a:r>
              <a:rPr sz="1000" b="0" i="0">
                <a:solidFill>
                  <a:srgbClr val="3C3C3C"/>
                </a:solidFill>
                <a:latin typeface="Calibri"/>
              </a:rPr>
              <a:t>›  Monthly Proxy Emailed Detail</a:t>
            </a:r>
          </a:p>
        </p:txBody>
      </p:sp>
      <p:sp>
        <p:nvSpPr>
          <p:cNvPr id="29" name="TextBox 28"/>
          <p:cNvSpPr txBox="1"/>
          <p:nvPr/>
        </p:nvSpPr>
        <p:spPr>
          <a:xfrm>
            <a:off x="3355848" y="3895344"/>
            <a:ext cx="2560320" cy="457200"/>
          </a:xfrm>
          <a:prstGeom prst="rect">
            <a:avLst/>
          </a:prstGeom>
          <a:noFill/>
        </p:spPr>
        <p:txBody>
          <a:bodyPr wrap="square">
            <a:spAutoFit/>
          </a:bodyPr>
          <a:lstStyle/>
          <a:p>
            <a:pPr algn="l"/>
            <a:r>
              <a:rPr sz="1000" b="0" i="0">
                <a:solidFill>
                  <a:srgbClr val="3C3C3C"/>
                </a:solidFill>
                <a:latin typeface="Calibri"/>
              </a:rPr>
              <a:t>›  Monthly Proxy Emailer Dashboard</a:t>
            </a:r>
          </a:p>
        </p:txBody>
      </p:sp>
      <p:sp>
        <p:nvSpPr>
          <p:cNvPr id="30" name="TextBox 29"/>
          <p:cNvSpPr txBox="1"/>
          <p:nvPr/>
        </p:nvSpPr>
        <p:spPr>
          <a:xfrm>
            <a:off x="3355848" y="4389120"/>
            <a:ext cx="2560320" cy="457200"/>
          </a:xfrm>
          <a:prstGeom prst="rect">
            <a:avLst/>
          </a:prstGeom>
          <a:noFill/>
        </p:spPr>
        <p:txBody>
          <a:bodyPr wrap="square">
            <a:spAutoFit/>
          </a:bodyPr>
          <a:lstStyle/>
          <a:p>
            <a:pPr algn="l"/>
            <a:r>
              <a:rPr sz="1000" b="0" i="0">
                <a:solidFill>
                  <a:srgbClr val="3C3C3C"/>
                </a:solidFill>
                <a:latin typeface="Calibri"/>
              </a:rPr>
              <a:t>›  Monthly Proxy Received Detail</a:t>
            </a:r>
          </a:p>
        </p:txBody>
      </p:sp>
      <p:sp>
        <p:nvSpPr>
          <p:cNvPr id="31" name="Rectangle 30"/>
          <p:cNvSpPr/>
          <p:nvPr/>
        </p:nvSpPr>
        <p:spPr>
          <a:xfrm>
            <a:off x="3218688" y="5532120"/>
            <a:ext cx="2743200" cy="8229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28416" y="5577840"/>
            <a:ext cx="2560320" cy="731520"/>
          </a:xfrm>
          <a:prstGeom prst="rect">
            <a:avLst/>
          </a:prstGeom>
          <a:noFill/>
        </p:spPr>
        <p:txBody>
          <a:bodyPr wrap="square">
            <a:spAutoFit/>
          </a:bodyPr>
          <a:lstStyle/>
          <a:p>
            <a:pPr algn="l"/>
            <a:r>
              <a:rPr sz="900" b="0" i="1">
                <a:solidFill>
                  <a:srgbClr val="555577"/>
                </a:solidFill>
                <a:latin typeface="Calibri"/>
              </a:rPr>
              <a:t>Source rewritten from BIM to AWM/DWM for all 6.</a:t>
            </a:r>
          </a:p>
        </p:txBody>
      </p:sp>
      <p:sp>
        <p:nvSpPr>
          <p:cNvPr id="33" name="Rectangle 32"/>
          <p:cNvSpPr/>
          <p:nvPr/>
        </p:nvSpPr>
        <p:spPr>
          <a:xfrm>
            <a:off x="6117336" y="1005840"/>
            <a:ext cx="2743200"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17336" y="1005840"/>
            <a:ext cx="2743200" cy="804672"/>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54496" y="1042416"/>
            <a:ext cx="548640" cy="329184"/>
          </a:xfrm>
          <a:prstGeom prst="rect">
            <a:avLst/>
          </a:prstGeom>
          <a:noFill/>
        </p:spPr>
        <p:txBody>
          <a:bodyPr wrap="square">
            <a:spAutoFit/>
          </a:bodyPr>
          <a:lstStyle/>
          <a:p>
            <a:pPr algn="l"/>
            <a:r>
              <a:rPr sz="2200" b="1" i="0">
                <a:solidFill>
                  <a:srgbClr val="FFFFFF"/>
                </a:solidFill>
                <a:latin typeface="Calibri"/>
              </a:rPr>
              <a:t>03</a:t>
            </a:r>
          </a:p>
        </p:txBody>
      </p:sp>
      <p:sp>
        <p:nvSpPr>
          <p:cNvPr id="36" name="TextBox 35"/>
          <p:cNvSpPr txBox="1"/>
          <p:nvPr/>
        </p:nvSpPr>
        <p:spPr>
          <a:xfrm>
            <a:off x="6775704" y="1060704"/>
            <a:ext cx="2011680" cy="292608"/>
          </a:xfrm>
          <a:prstGeom prst="rect">
            <a:avLst/>
          </a:prstGeom>
          <a:noFill/>
        </p:spPr>
        <p:txBody>
          <a:bodyPr wrap="square">
            <a:spAutoFit/>
          </a:bodyPr>
          <a:lstStyle/>
          <a:p>
            <a:pPr algn="l"/>
            <a:r>
              <a:rPr sz="1200" b="1" i="0">
                <a:solidFill>
                  <a:srgbClr val="FFFFFF"/>
                </a:solidFill>
                <a:latin typeface="Calibri"/>
              </a:rPr>
              <a:t>Tableau Consolidation</a:t>
            </a:r>
          </a:p>
        </p:txBody>
      </p:sp>
      <p:sp>
        <p:nvSpPr>
          <p:cNvPr id="37" name="TextBox 36"/>
          <p:cNvSpPr txBox="1"/>
          <p:nvPr/>
        </p:nvSpPr>
        <p:spPr>
          <a:xfrm>
            <a:off x="6775704" y="1371600"/>
            <a:ext cx="2011680" cy="274320"/>
          </a:xfrm>
          <a:prstGeom prst="rect">
            <a:avLst/>
          </a:prstGeom>
          <a:noFill/>
        </p:spPr>
        <p:txBody>
          <a:bodyPr wrap="square">
            <a:spAutoFit/>
          </a:bodyPr>
          <a:lstStyle/>
          <a:p>
            <a:pPr algn="l"/>
            <a:r>
              <a:rPr sz="900" b="0" i="0">
                <a:solidFill>
                  <a:srgbClr val="DDEEFF"/>
                </a:solidFill>
                <a:latin typeface="Calibri"/>
              </a:rPr>
              <a:t>5 separate reports → 1 unified report</a:t>
            </a:r>
          </a:p>
        </p:txBody>
      </p:sp>
      <p:sp>
        <p:nvSpPr>
          <p:cNvPr id="38" name="TextBox 37"/>
          <p:cNvSpPr txBox="1"/>
          <p:nvPr/>
        </p:nvSpPr>
        <p:spPr>
          <a:xfrm>
            <a:off x="6254496" y="1920240"/>
            <a:ext cx="2560320" cy="457200"/>
          </a:xfrm>
          <a:prstGeom prst="rect">
            <a:avLst/>
          </a:prstGeom>
          <a:noFill/>
        </p:spPr>
        <p:txBody>
          <a:bodyPr wrap="square">
            <a:spAutoFit/>
          </a:bodyPr>
          <a:lstStyle/>
          <a:p>
            <a:pPr algn="l"/>
            <a:r>
              <a:rPr sz="1000" b="0" i="0">
                <a:solidFill>
                  <a:srgbClr val="3C3C3C"/>
                </a:solidFill>
                <a:latin typeface="Calibri"/>
              </a:rPr>
              <a:t>›  Paper Report</a:t>
            </a:r>
          </a:p>
        </p:txBody>
      </p:sp>
      <p:sp>
        <p:nvSpPr>
          <p:cNvPr id="39" name="TextBox 38"/>
          <p:cNvSpPr txBox="1"/>
          <p:nvPr/>
        </p:nvSpPr>
        <p:spPr>
          <a:xfrm>
            <a:off x="6254496" y="2414016"/>
            <a:ext cx="2560320" cy="457200"/>
          </a:xfrm>
          <a:prstGeom prst="rect">
            <a:avLst/>
          </a:prstGeom>
          <a:noFill/>
        </p:spPr>
        <p:txBody>
          <a:bodyPr wrap="square">
            <a:spAutoFit/>
          </a:bodyPr>
          <a:lstStyle/>
          <a:p>
            <a:pPr algn="l"/>
            <a:r>
              <a:rPr sz="1000" b="0" i="0">
                <a:solidFill>
                  <a:srgbClr val="3C3C3C"/>
                </a:solidFill>
                <a:latin typeface="Calibri"/>
              </a:rPr>
              <a:t>›  Online Accounts — Household &amp; Paperless</a:t>
            </a:r>
          </a:p>
        </p:txBody>
      </p:sp>
      <p:sp>
        <p:nvSpPr>
          <p:cNvPr id="40" name="TextBox 39"/>
          <p:cNvSpPr txBox="1"/>
          <p:nvPr/>
        </p:nvSpPr>
        <p:spPr>
          <a:xfrm>
            <a:off x="6254496" y="2907792"/>
            <a:ext cx="2560320" cy="457200"/>
          </a:xfrm>
          <a:prstGeom prst="rect">
            <a:avLst/>
          </a:prstGeom>
          <a:noFill/>
        </p:spPr>
        <p:txBody>
          <a:bodyPr wrap="square">
            <a:spAutoFit/>
          </a:bodyPr>
          <a:lstStyle/>
          <a:p>
            <a:pPr algn="l"/>
            <a:r>
              <a:rPr sz="1000" b="0" i="0">
                <a:solidFill>
                  <a:srgbClr val="3C3C3C"/>
                </a:solidFill>
                <a:latin typeface="Calibri"/>
              </a:rPr>
              <a:t>›  Paperless Policies by State &amp; Policy Type</a:t>
            </a:r>
          </a:p>
        </p:txBody>
      </p:sp>
      <p:sp>
        <p:nvSpPr>
          <p:cNvPr id="41" name="TextBox 40"/>
          <p:cNvSpPr txBox="1"/>
          <p:nvPr/>
        </p:nvSpPr>
        <p:spPr>
          <a:xfrm>
            <a:off x="6254496" y="3401568"/>
            <a:ext cx="2560320" cy="457200"/>
          </a:xfrm>
          <a:prstGeom prst="rect">
            <a:avLst/>
          </a:prstGeom>
          <a:noFill/>
        </p:spPr>
        <p:txBody>
          <a:bodyPr wrap="square">
            <a:spAutoFit/>
          </a:bodyPr>
          <a:lstStyle/>
          <a:p>
            <a:pPr algn="l"/>
            <a:r>
              <a:rPr sz="1000" b="0" i="0">
                <a:solidFill>
                  <a:srgbClr val="3C3C3C"/>
                </a:solidFill>
                <a:latin typeface="Calibri"/>
              </a:rPr>
              <a:t>›  Percent of Households with Online Accounts</a:t>
            </a:r>
          </a:p>
        </p:txBody>
      </p:sp>
      <p:sp>
        <p:nvSpPr>
          <p:cNvPr id="42" name="TextBox 41"/>
          <p:cNvSpPr txBox="1"/>
          <p:nvPr/>
        </p:nvSpPr>
        <p:spPr>
          <a:xfrm>
            <a:off x="6254496" y="3895344"/>
            <a:ext cx="2560320" cy="457200"/>
          </a:xfrm>
          <a:prstGeom prst="rect">
            <a:avLst/>
          </a:prstGeom>
          <a:noFill/>
        </p:spPr>
        <p:txBody>
          <a:bodyPr wrap="square">
            <a:spAutoFit/>
          </a:bodyPr>
          <a:lstStyle/>
          <a:p>
            <a:pPr algn="l"/>
            <a:r>
              <a:rPr sz="1000" b="0" i="0">
                <a:solidFill>
                  <a:srgbClr val="3C3C3C"/>
                </a:solidFill>
                <a:latin typeface="Calibri"/>
              </a:rPr>
              <a:t>›  Paperless Online Accounts</a:t>
            </a:r>
          </a:p>
        </p:txBody>
      </p:sp>
      <p:sp>
        <p:nvSpPr>
          <p:cNvPr id="43" name="Rectangle 42"/>
          <p:cNvSpPr/>
          <p:nvPr/>
        </p:nvSpPr>
        <p:spPr>
          <a:xfrm>
            <a:off x="6117336" y="5532120"/>
            <a:ext cx="2743200" cy="8229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27064" y="5577840"/>
            <a:ext cx="2560320" cy="731520"/>
          </a:xfrm>
          <a:prstGeom prst="rect">
            <a:avLst/>
          </a:prstGeom>
          <a:noFill/>
        </p:spPr>
        <p:txBody>
          <a:bodyPr wrap="square">
            <a:spAutoFit/>
          </a:bodyPr>
          <a:lstStyle/>
          <a:p>
            <a:pPr algn="l"/>
            <a:r>
              <a:rPr sz="900" b="0" i="1">
                <a:solidFill>
                  <a:srgbClr val="555577"/>
                </a:solidFill>
                <a:latin typeface="Calibri"/>
              </a:rPr>
              <a:t>All 5 consolidated into one unified report. Source: BIM → AWM/DWM.</a:t>
            </a:r>
          </a:p>
        </p:txBody>
      </p:sp>
      <p:sp>
        <p:nvSpPr>
          <p:cNvPr id="45" name="Rectangle 44"/>
          <p:cNvSpPr/>
          <p:nvPr/>
        </p:nvSpPr>
        <p:spPr>
          <a:xfrm>
            <a:off x="9015984" y="1005840"/>
            <a:ext cx="2743200"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015984" y="1005840"/>
            <a:ext cx="2743200" cy="804672"/>
          </a:xfrm>
          <a:prstGeom prst="rect">
            <a:avLst/>
          </a:prstGeom>
          <a:solidFill>
            <a:srgbClr val="E6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53144" y="1042416"/>
            <a:ext cx="548640" cy="329184"/>
          </a:xfrm>
          <a:prstGeom prst="rect">
            <a:avLst/>
          </a:prstGeom>
          <a:noFill/>
        </p:spPr>
        <p:txBody>
          <a:bodyPr wrap="square">
            <a:spAutoFit/>
          </a:bodyPr>
          <a:lstStyle/>
          <a:p>
            <a:pPr algn="l"/>
            <a:r>
              <a:rPr sz="2200" b="1" i="0">
                <a:solidFill>
                  <a:srgbClr val="FFFFFF"/>
                </a:solidFill>
                <a:latin typeface="Calibri"/>
              </a:rPr>
              <a:t>04</a:t>
            </a:r>
          </a:p>
        </p:txBody>
      </p:sp>
      <p:sp>
        <p:nvSpPr>
          <p:cNvPr id="48" name="TextBox 47"/>
          <p:cNvSpPr txBox="1"/>
          <p:nvPr/>
        </p:nvSpPr>
        <p:spPr>
          <a:xfrm>
            <a:off x="9674352" y="1060704"/>
            <a:ext cx="2011680" cy="292608"/>
          </a:xfrm>
          <a:prstGeom prst="rect">
            <a:avLst/>
          </a:prstGeom>
          <a:noFill/>
        </p:spPr>
        <p:txBody>
          <a:bodyPr wrap="square">
            <a:spAutoFit/>
          </a:bodyPr>
          <a:lstStyle/>
          <a:p>
            <a:pPr algn="l"/>
            <a:r>
              <a:rPr sz="1200" b="1" i="0">
                <a:solidFill>
                  <a:srgbClr val="FFFFFF"/>
                </a:solidFill>
                <a:latin typeface="Calibri"/>
              </a:rPr>
              <a:t>Agent Dashboard</a:t>
            </a:r>
          </a:p>
        </p:txBody>
      </p:sp>
      <p:sp>
        <p:nvSpPr>
          <p:cNvPr id="49" name="TextBox 48"/>
          <p:cNvSpPr txBox="1"/>
          <p:nvPr/>
        </p:nvSpPr>
        <p:spPr>
          <a:xfrm>
            <a:off x="9674352" y="1371600"/>
            <a:ext cx="2011680" cy="274320"/>
          </a:xfrm>
          <a:prstGeom prst="rect">
            <a:avLst/>
          </a:prstGeom>
          <a:noFill/>
        </p:spPr>
        <p:txBody>
          <a:bodyPr wrap="square">
            <a:spAutoFit/>
          </a:bodyPr>
          <a:lstStyle/>
          <a:p>
            <a:pPr algn="l"/>
            <a:r>
              <a:rPr sz="900" b="0" i="0">
                <a:solidFill>
                  <a:srgbClr val="DDEEFF"/>
                </a:solidFill>
                <a:latin typeface="Calibri"/>
              </a:rPr>
              <a:t>SSRS report — data reconciliation</a:t>
            </a:r>
          </a:p>
        </p:txBody>
      </p:sp>
      <p:sp>
        <p:nvSpPr>
          <p:cNvPr id="50" name="TextBox 49"/>
          <p:cNvSpPr txBox="1"/>
          <p:nvPr/>
        </p:nvSpPr>
        <p:spPr>
          <a:xfrm>
            <a:off x="9153144" y="1920240"/>
            <a:ext cx="2560320" cy="457200"/>
          </a:xfrm>
          <a:prstGeom prst="rect">
            <a:avLst/>
          </a:prstGeom>
          <a:noFill/>
        </p:spPr>
        <p:txBody>
          <a:bodyPr wrap="square">
            <a:spAutoFit/>
          </a:bodyPr>
          <a:lstStyle/>
          <a:p>
            <a:pPr algn="l"/>
            <a:r>
              <a:rPr sz="1000" b="0" i="0">
                <a:solidFill>
                  <a:srgbClr val="3C3C3C"/>
                </a:solidFill>
                <a:latin typeface="Calibri"/>
              </a:rPr>
              <a:t>›  Reconcile BIM vs EDW on Earned Premium</a:t>
            </a:r>
          </a:p>
        </p:txBody>
      </p:sp>
      <p:sp>
        <p:nvSpPr>
          <p:cNvPr id="51" name="TextBox 50"/>
          <p:cNvSpPr txBox="1"/>
          <p:nvPr/>
        </p:nvSpPr>
        <p:spPr>
          <a:xfrm>
            <a:off x="9153144" y="2414016"/>
            <a:ext cx="2560320" cy="457200"/>
          </a:xfrm>
          <a:prstGeom prst="rect">
            <a:avLst/>
          </a:prstGeom>
          <a:noFill/>
        </p:spPr>
        <p:txBody>
          <a:bodyPr wrap="square">
            <a:spAutoFit/>
          </a:bodyPr>
          <a:lstStyle/>
          <a:p>
            <a:pPr algn="l"/>
            <a:r>
              <a:rPr sz="1000" b="0" i="0">
                <a:solidFill>
                  <a:srgbClr val="3C3C3C"/>
                </a:solidFill>
                <a:latin typeface="Calibri"/>
              </a:rPr>
              <a:t>›  Reconcile Written Premium variances</a:t>
            </a:r>
          </a:p>
        </p:txBody>
      </p:sp>
      <p:sp>
        <p:nvSpPr>
          <p:cNvPr id="52" name="TextBox 51"/>
          <p:cNvSpPr txBox="1"/>
          <p:nvPr/>
        </p:nvSpPr>
        <p:spPr>
          <a:xfrm>
            <a:off x="9153144" y="2907792"/>
            <a:ext cx="2560320" cy="457200"/>
          </a:xfrm>
          <a:prstGeom prst="rect">
            <a:avLst/>
          </a:prstGeom>
          <a:noFill/>
        </p:spPr>
        <p:txBody>
          <a:bodyPr wrap="square">
            <a:spAutoFit/>
          </a:bodyPr>
          <a:lstStyle/>
          <a:p>
            <a:pPr algn="l"/>
            <a:r>
              <a:rPr sz="1000" b="0" i="0">
                <a:solidFill>
                  <a:srgbClr val="3C3C3C"/>
                </a:solidFill>
                <a:latin typeface="Calibri"/>
              </a:rPr>
              <a:t>›  Reconcile Inforce counts</a:t>
            </a:r>
          </a:p>
        </p:txBody>
      </p:sp>
      <p:sp>
        <p:nvSpPr>
          <p:cNvPr id="53" name="TextBox 52"/>
          <p:cNvSpPr txBox="1"/>
          <p:nvPr/>
        </p:nvSpPr>
        <p:spPr>
          <a:xfrm>
            <a:off x="9153144" y="3401568"/>
            <a:ext cx="2560320" cy="457200"/>
          </a:xfrm>
          <a:prstGeom prst="rect">
            <a:avLst/>
          </a:prstGeom>
          <a:noFill/>
        </p:spPr>
        <p:txBody>
          <a:bodyPr wrap="square">
            <a:spAutoFit/>
          </a:bodyPr>
          <a:lstStyle/>
          <a:p>
            <a:pPr algn="l"/>
            <a:r>
              <a:rPr sz="1000" b="0" i="0">
                <a:solidFill>
                  <a:srgbClr val="3C3C3C"/>
                </a:solidFill>
                <a:latin typeface="Calibri"/>
              </a:rPr>
              <a:t>›  Reconcile New Business figures</a:t>
            </a:r>
          </a:p>
        </p:txBody>
      </p:sp>
      <p:sp>
        <p:nvSpPr>
          <p:cNvPr id="54" name="Rectangle 53"/>
          <p:cNvSpPr/>
          <p:nvPr/>
        </p:nvSpPr>
        <p:spPr>
          <a:xfrm>
            <a:off x="9015984" y="5532120"/>
            <a:ext cx="2743200" cy="8229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25712" y="5577840"/>
            <a:ext cx="2560320" cy="731520"/>
          </a:xfrm>
          <a:prstGeom prst="rect">
            <a:avLst/>
          </a:prstGeom>
          <a:noFill/>
        </p:spPr>
        <p:txBody>
          <a:bodyPr wrap="square">
            <a:spAutoFit/>
          </a:bodyPr>
          <a:lstStyle/>
          <a:p>
            <a:pPr algn="l"/>
            <a:r>
              <a:rPr sz="900" b="0" i="1">
                <a:solidFill>
                  <a:srgbClr val="555577"/>
                </a:solidFill>
                <a:latin typeface="Calibri"/>
              </a:rPr>
              <a:t>Existing SSRS report — fixing variance between BIM and EDW/AWM.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9144000" cy="502920"/>
          </a:xfrm>
          <a:prstGeom prst="rect">
            <a:avLst/>
          </a:prstGeom>
          <a:noFill/>
        </p:spPr>
        <p:txBody>
          <a:bodyPr wrap="square">
            <a:spAutoFit/>
          </a:bodyPr>
          <a:lstStyle/>
          <a:p>
            <a:pPr algn="l"/>
            <a:r>
              <a:rPr sz="2200" b="1" i="0">
                <a:solidFill>
                  <a:srgbClr val="FFFFFF"/>
                </a:solidFill>
                <a:latin typeface="Calibri"/>
              </a:rPr>
              <a:t>Completed Migrations — Full Status Board</a:t>
            </a:r>
          </a:p>
        </p:txBody>
      </p:sp>
      <p:sp>
        <p:nvSpPr>
          <p:cNvPr id="5" name="TextBox 4"/>
          <p:cNvSpPr txBox="1"/>
          <p:nvPr/>
        </p:nvSpPr>
        <p:spPr>
          <a:xfrm>
            <a:off x="320040" y="548640"/>
            <a:ext cx="9144000" cy="320040"/>
          </a:xfrm>
          <a:prstGeom prst="rect">
            <a:avLst/>
          </a:prstGeom>
          <a:noFill/>
        </p:spPr>
        <p:txBody>
          <a:bodyPr wrap="square">
            <a:spAutoFit/>
          </a:bodyPr>
          <a:lstStyle/>
          <a:p>
            <a:pPr algn="l"/>
            <a:r>
              <a:rPr sz="1100" b="0" i="0">
                <a:solidFill>
                  <a:srgbClr val="B0B8C8"/>
                </a:solidFill>
                <a:latin typeface="Calibri"/>
              </a:rPr>
              <a:t>Every report in scope — current delivery status as of May 2026</a:t>
            </a:r>
          </a:p>
        </p:txBody>
      </p:sp>
      <p:sp>
        <p:nvSpPr>
          <p:cNvPr id="6" name="Rectangle 5"/>
          <p:cNvSpPr/>
          <p:nvPr/>
        </p:nvSpPr>
        <p:spPr>
          <a:xfrm>
            <a:off x="0" y="868680"/>
            <a:ext cx="12188952" cy="36576"/>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88952" cy="27432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8229600" cy="274320"/>
          </a:xfrm>
          <a:prstGeom prst="rect">
            <a:avLst/>
          </a:prstGeom>
          <a:noFill/>
        </p:spPr>
        <p:txBody>
          <a:bodyPr wrap="square">
            <a:spAutoFit/>
          </a:bodyPr>
          <a:lstStyle/>
          <a:p>
            <a:pPr algn="l"/>
            <a:r>
              <a:rPr sz="800" b="0" i="0">
                <a:solidFill>
                  <a:srgbClr val="B0B8C8"/>
                </a:solidFill>
                <a:latin typeface="Calibri"/>
              </a:rPr>
              <a:t>Bourntec Solutions  |  PEMCO Mutual Insurance  |  Confidential — May 2026</a:t>
            </a:r>
          </a:p>
        </p:txBody>
      </p:sp>
      <p:sp>
        <p:nvSpPr>
          <p:cNvPr id="9" name="Rectangle 8"/>
          <p:cNvSpPr/>
          <p:nvPr/>
        </p:nvSpPr>
        <p:spPr>
          <a:xfrm>
            <a:off x="320040" y="1005840"/>
            <a:ext cx="164592" cy="164592"/>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496" y="987552"/>
            <a:ext cx="1828800" cy="201168"/>
          </a:xfrm>
          <a:prstGeom prst="rect">
            <a:avLst/>
          </a:prstGeom>
          <a:noFill/>
        </p:spPr>
        <p:txBody>
          <a:bodyPr wrap="square">
            <a:spAutoFit/>
          </a:bodyPr>
          <a:lstStyle/>
          <a:p>
            <a:pPr algn="l"/>
            <a:r>
              <a:rPr sz="900" b="0" i="0">
                <a:solidFill>
                  <a:srgbClr val="3C3C3C"/>
                </a:solidFill>
                <a:latin typeface="Calibri"/>
              </a:rPr>
              <a:t>Complete ✓</a:t>
            </a:r>
          </a:p>
        </p:txBody>
      </p:sp>
      <p:sp>
        <p:nvSpPr>
          <p:cNvPr id="11" name="Rectangle 10"/>
          <p:cNvSpPr/>
          <p:nvPr/>
        </p:nvSpPr>
        <p:spPr>
          <a:xfrm>
            <a:off x="2606040" y="1005840"/>
            <a:ext cx="164592" cy="164592"/>
          </a:xfrm>
          <a:prstGeom prst="rect">
            <a:avLst/>
          </a:prstGeom>
          <a:solidFill>
            <a:srgbClr val="E6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25496" y="987552"/>
            <a:ext cx="1828800" cy="201168"/>
          </a:xfrm>
          <a:prstGeom prst="rect">
            <a:avLst/>
          </a:prstGeom>
          <a:noFill/>
        </p:spPr>
        <p:txBody>
          <a:bodyPr wrap="square">
            <a:spAutoFit/>
          </a:bodyPr>
          <a:lstStyle/>
          <a:p>
            <a:pPr algn="l"/>
            <a:r>
              <a:rPr sz="900" b="0" i="0">
                <a:solidFill>
                  <a:srgbClr val="3C3C3C"/>
                </a:solidFill>
                <a:latin typeface="Calibri"/>
              </a:rPr>
              <a:t>Minor Issues</a:t>
            </a:r>
          </a:p>
        </p:txBody>
      </p:sp>
      <p:sp>
        <p:nvSpPr>
          <p:cNvPr id="13" name="Rectangle 12"/>
          <p:cNvSpPr/>
          <p:nvPr/>
        </p:nvSpPr>
        <p:spPr>
          <a:xfrm>
            <a:off x="4892040" y="1005840"/>
            <a:ext cx="164592" cy="164592"/>
          </a:xfrm>
          <a:prstGeom prst="rect">
            <a:avLst/>
          </a:prstGeom>
          <a:solidFill>
            <a:srgbClr val="E09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11496" y="987552"/>
            <a:ext cx="1828800" cy="201168"/>
          </a:xfrm>
          <a:prstGeom prst="rect">
            <a:avLst/>
          </a:prstGeom>
          <a:noFill/>
        </p:spPr>
        <p:txBody>
          <a:bodyPr wrap="square">
            <a:spAutoFit/>
          </a:bodyPr>
          <a:lstStyle/>
          <a:p>
            <a:pPr algn="l"/>
            <a:r>
              <a:rPr sz="900" b="0" i="0">
                <a:solidFill>
                  <a:srgbClr val="3C3C3C"/>
                </a:solidFill>
                <a:latin typeface="Calibri"/>
              </a:rPr>
              <a:t>In Progress</a:t>
            </a:r>
          </a:p>
        </p:txBody>
      </p:sp>
      <p:sp>
        <p:nvSpPr>
          <p:cNvPr id="15" name="Rectangle 14"/>
          <p:cNvSpPr/>
          <p:nvPr/>
        </p:nvSpPr>
        <p:spPr>
          <a:xfrm>
            <a:off x="7178040" y="1005840"/>
            <a:ext cx="164592" cy="164592"/>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97496" y="987552"/>
            <a:ext cx="1828800" cy="201168"/>
          </a:xfrm>
          <a:prstGeom prst="rect">
            <a:avLst/>
          </a:prstGeom>
          <a:noFill/>
        </p:spPr>
        <p:txBody>
          <a:bodyPr wrap="square">
            <a:spAutoFit/>
          </a:bodyPr>
          <a:lstStyle/>
          <a:p>
            <a:pPr algn="l"/>
            <a:r>
              <a:rPr sz="900" b="0" i="0">
                <a:solidFill>
                  <a:srgbClr val="3C3C3C"/>
                </a:solidFill>
                <a:latin typeface="Calibri"/>
              </a:rPr>
              <a:t>Blocked</a:t>
            </a:r>
          </a:p>
        </p:txBody>
      </p:sp>
      <p:sp>
        <p:nvSpPr>
          <p:cNvPr id="17" name="Rectangle 16"/>
          <p:cNvSpPr/>
          <p:nvPr/>
        </p:nvSpPr>
        <p:spPr>
          <a:xfrm>
            <a:off x="320040" y="1298448"/>
            <a:ext cx="11548872" cy="292608"/>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3192" y="1335024"/>
            <a:ext cx="4919472" cy="256032"/>
          </a:xfrm>
          <a:prstGeom prst="rect">
            <a:avLst/>
          </a:prstGeom>
          <a:noFill/>
        </p:spPr>
        <p:txBody>
          <a:bodyPr wrap="square">
            <a:spAutoFit/>
          </a:bodyPr>
          <a:lstStyle/>
          <a:p>
            <a:pPr algn="l"/>
            <a:r>
              <a:rPr sz="900" b="1" i="0">
                <a:solidFill>
                  <a:srgbClr val="FFFFFF"/>
                </a:solidFill>
                <a:latin typeface="Calibri"/>
              </a:rPr>
              <a:t>Report Name</a:t>
            </a:r>
          </a:p>
        </p:txBody>
      </p:sp>
      <p:sp>
        <p:nvSpPr>
          <p:cNvPr id="19" name="TextBox 18"/>
          <p:cNvSpPr txBox="1"/>
          <p:nvPr/>
        </p:nvSpPr>
        <p:spPr>
          <a:xfrm>
            <a:off x="5422392" y="1335024"/>
            <a:ext cx="1901952" cy="256032"/>
          </a:xfrm>
          <a:prstGeom prst="rect">
            <a:avLst/>
          </a:prstGeom>
          <a:noFill/>
        </p:spPr>
        <p:txBody>
          <a:bodyPr wrap="square">
            <a:spAutoFit/>
          </a:bodyPr>
          <a:lstStyle/>
          <a:p>
            <a:pPr algn="l"/>
            <a:r>
              <a:rPr sz="900" b="1" i="0">
                <a:solidFill>
                  <a:srgbClr val="FFFFFF"/>
                </a:solidFill>
                <a:latin typeface="Calibri"/>
              </a:rPr>
              <a:t>Workstream</a:t>
            </a:r>
          </a:p>
        </p:txBody>
      </p:sp>
      <p:sp>
        <p:nvSpPr>
          <p:cNvPr id="20" name="TextBox 19"/>
          <p:cNvSpPr txBox="1"/>
          <p:nvPr/>
        </p:nvSpPr>
        <p:spPr>
          <a:xfrm>
            <a:off x="7434072" y="1335024"/>
            <a:ext cx="1261872" cy="256032"/>
          </a:xfrm>
          <a:prstGeom prst="rect">
            <a:avLst/>
          </a:prstGeom>
          <a:noFill/>
        </p:spPr>
        <p:txBody>
          <a:bodyPr wrap="square">
            <a:spAutoFit/>
          </a:bodyPr>
          <a:lstStyle/>
          <a:p>
            <a:pPr algn="l"/>
            <a:r>
              <a:rPr sz="900" b="1" i="0">
                <a:solidFill>
                  <a:srgbClr val="FFFFFF"/>
                </a:solidFill>
                <a:latin typeface="Calibri"/>
              </a:rPr>
              <a:t>Source</a:t>
            </a:r>
          </a:p>
        </p:txBody>
      </p:sp>
      <p:sp>
        <p:nvSpPr>
          <p:cNvPr id="21" name="TextBox 20"/>
          <p:cNvSpPr txBox="1"/>
          <p:nvPr/>
        </p:nvSpPr>
        <p:spPr>
          <a:xfrm>
            <a:off x="8805672" y="1335024"/>
            <a:ext cx="1536192" cy="256032"/>
          </a:xfrm>
          <a:prstGeom prst="rect">
            <a:avLst/>
          </a:prstGeom>
          <a:noFill/>
        </p:spPr>
        <p:txBody>
          <a:bodyPr wrap="square">
            <a:spAutoFit/>
          </a:bodyPr>
          <a:lstStyle/>
          <a:p>
            <a:pPr algn="l"/>
            <a:r>
              <a:rPr sz="900" b="1" i="0">
                <a:solidFill>
                  <a:srgbClr val="FFFFFF"/>
                </a:solidFill>
                <a:latin typeface="Calibri"/>
              </a:rPr>
              <a:t>Tool</a:t>
            </a:r>
          </a:p>
        </p:txBody>
      </p:sp>
      <p:sp>
        <p:nvSpPr>
          <p:cNvPr id="22" name="TextBox 21"/>
          <p:cNvSpPr txBox="1"/>
          <p:nvPr/>
        </p:nvSpPr>
        <p:spPr>
          <a:xfrm>
            <a:off x="10497312" y="1335024"/>
            <a:ext cx="1581912" cy="256032"/>
          </a:xfrm>
          <a:prstGeom prst="rect">
            <a:avLst/>
          </a:prstGeom>
          <a:noFill/>
        </p:spPr>
        <p:txBody>
          <a:bodyPr wrap="square">
            <a:spAutoFit/>
          </a:bodyPr>
          <a:lstStyle/>
          <a:p>
            <a:pPr algn="l"/>
            <a:r>
              <a:rPr sz="900" b="1" i="0">
                <a:solidFill>
                  <a:srgbClr val="FFFFFF"/>
                </a:solidFill>
                <a:latin typeface="Calibri"/>
              </a:rPr>
              <a:t>Status</a:t>
            </a:r>
          </a:p>
        </p:txBody>
      </p:sp>
      <p:sp>
        <p:nvSpPr>
          <p:cNvPr id="23" name="Rectangle 22"/>
          <p:cNvSpPr/>
          <p:nvPr/>
        </p:nvSpPr>
        <p:spPr>
          <a:xfrm>
            <a:off x="320040" y="1591056"/>
            <a:ext cx="11548872"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497312" y="1682496"/>
            <a:ext cx="137160" cy="13716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192" y="1627632"/>
            <a:ext cx="4919472" cy="274320"/>
          </a:xfrm>
          <a:prstGeom prst="rect">
            <a:avLst/>
          </a:prstGeom>
          <a:noFill/>
        </p:spPr>
        <p:txBody>
          <a:bodyPr wrap="square">
            <a:spAutoFit/>
          </a:bodyPr>
          <a:lstStyle/>
          <a:p>
            <a:pPr algn="l"/>
            <a:r>
              <a:rPr sz="900" b="0" i="0">
                <a:solidFill>
                  <a:srgbClr val="3C3C3C"/>
                </a:solidFill>
                <a:latin typeface="Calibri"/>
              </a:rPr>
              <a:t>Agent Loss Experience Report (O0140A-M1A-P01)</a:t>
            </a:r>
          </a:p>
        </p:txBody>
      </p:sp>
      <p:sp>
        <p:nvSpPr>
          <p:cNvPr id="26" name="TextBox 25"/>
          <p:cNvSpPr txBox="1"/>
          <p:nvPr/>
        </p:nvSpPr>
        <p:spPr>
          <a:xfrm>
            <a:off x="5422392" y="1627632"/>
            <a:ext cx="1901952" cy="274320"/>
          </a:xfrm>
          <a:prstGeom prst="rect">
            <a:avLst/>
          </a:prstGeom>
          <a:noFill/>
        </p:spPr>
        <p:txBody>
          <a:bodyPr wrap="square">
            <a:spAutoFit/>
          </a:bodyPr>
          <a:lstStyle/>
          <a:p>
            <a:pPr algn="l"/>
            <a:r>
              <a:rPr sz="900" b="0" i="0">
                <a:solidFill>
                  <a:srgbClr val="3C3C3C"/>
                </a:solidFill>
                <a:latin typeface="Calibri"/>
              </a:rPr>
              <a:t>BOXI → Power BI</a:t>
            </a:r>
          </a:p>
        </p:txBody>
      </p:sp>
      <p:sp>
        <p:nvSpPr>
          <p:cNvPr id="27" name="TextBox 26"/>
          <p:cNvSpPr txBox="1"/>
          <p:nvPr/>
        </p:nvSpPr>
        <p:spPr>
          <a:xfrm>
            <a:off x="7434072" y="1627632"/>
            <a:ext cx="1261872" cy="274320"/>
          </a:xfrm>
          <a:prstGeom prst="rect">
            <a:avLst/>
          </a:prstGeom>
          <a:noFill/>
        </p:spPr>
        <p:txBody>
          <a:bodyPr wrap="square">
            <a:spAutoFit/>
          </a:bodyPr>
          <a:lstStyle/>
          <a:p>
            <a:pPr algn="l"/>
            <a:r>
              <a:rPr sz="900" b="0" i="0">
                <a:solidFill>
                  <a:srgbClr val="3C3C3C"/>
                </a:solidFill>
                <a:latin typeface="Calibri"/>
              </a:rPr>
              <a:t>BIM</a:t>
            </a:r>
          </a:p>
        </p:txBody>
      </p:sp>
      <p:sp>
        <p:nvSpPr>
          <p:cNvPr id="28" name="TextBox 27"/>
          <p:cNvSpPr txBox="1"/>
          <p:nvPr/>
        </p:nvSpPr>
        <p:spPr>
          <a:xfrm>
            <a:off x="8805672" y="1627632"/>
            <a:ext cx="1536192" cy="274320"/>
          </a:xfrm>
          <a:prstGeom prst="rect">
            <a:avLst/>
          </a:prstGeom>
          <a:noFill/>
        </p:spPr>
        <p:txBody>
          <a:bodyPr wrap="square">
            <a:spAutoFit/>
          </a:bodyPr>
          <a:lstStyle/>
          <a:p>
            <a:pPr algn="l"/>
            <a:r>
              <a:rPr sz="900" b="0" i="0">
                <a:solidFill>
                  <a:srgbClr val="3C3C3C"/>
                </a:solidFill>
                <a:latin typeface="Calibri"/>
              </a:rPr>
              <a:t>Power BI</a:t>
            </a:r>
          </a:p>
        </p:txBody>
      </p:sp>
      <p:sp>
        <p:nvSpPr>
          <p:cNvPr id="29" name="TextBox 28"/>
          <p:cNvSpPr txBox="1"/>
          <p:nvPr/>
        </p:nvSpPr>
        <p:spPr>
          <a:xfrm>
            <a:off x="10497312" y="1627632"/>
            <a:ext cx="1581912" cy="274320"/>
          </a:xfrm>
          <a:prstGeom prst="rect">
            <a:avLst/>
          </a:prstGeom>
          <a:noFill/>
        </p:spPr>
        <p:txBody>
          <a:bodyPr wrap="square">
            <a:spAutoFit/>
          </a:bodyPr>
          <a:lstStyle/>
          <a:p>
            <a:pPr algn="l"/>
            <a:r>
              <a:rPr sz="900" b="0" i="0">
                <a:solidFill>
                  <a:srgbClr val="1E8A44"/>
                </a:solidFill>
                <a:latin typeface="Calibri"/>
              </a:rPr>
              <a:t>Complete ✓</a:t>
            </a:r>
          </a:p>
        </p:txBody>
      </p:sp>
      <p:sp>
        <p:nvSpPr>
          <p:cNvPr id="30" name="Rectangle 29"/>
          <p:cNvSpPr/>
          <p:nvPr/>
        </p:nvSpPr>
        <p:spPr>
          <a:xfrm>
            <a:off x="320040" y="1920240"/>
            <a:ext cx="11548872" cy="32918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497312" y="2011680"/>
            <a:ext cx="137160" cy="13716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3192" y="1956816"/>
            <a:ext cx="4919472" cy="274320"/>
          </a:xfrm>
          <a:prstGeom prst="rect">
            <a:avLst/>
          </a:prstGeom>
          <a:noFill/>
        </p:spPr>
        <p:txBody>
          <a:bodyPr wrap="square">
            <a:spAutoFit/>
          </a:bodyPr>
          <a:lstStyle/>
          <a:p>
            <a:pPr algn="l"/>
            <a:r>
              <a:rPr sz="900" b="0" i="0">
                <a:solidFill>
                  <a:srgbClr val="3C3C3C"/>
                </a:solidFill>
                <a:latin typeface="Calibri"/>
              </a:rPr>
              <a:t>Agent Loss Experience — Current 12 Months</a:t>
            </a:r>
          </a:p>
        </p:txBody>
      </p:sp>
      <p:sp>
        <p:nvSpPr>
          <p:cNvPr id="33" name="TextBox 32"/>
          <p:cNvSpPr txBox="1"/>
          <p:nvPr/>
        </p:nvSpPr>
        <p:spPr>
          <a:xfrm>
            <a:off x="5422392" y="1956816"/>
            <a:ext cx="1901952" cy="274320"/>
          </a:xfrm>
          <a:prstGeom prst="rect">
            <a:avLst/>
          </a:prstGeom>
          <a:noFill/>
        </p:spPr>
        <p:txBody>
          <a:bodyPr wrap="square">
            <a:spAutoFit/>
          </a:bodyPr>
          <a:lstStyle/>
          <a:p>
            <a:pPr algn="l"/>
            <a:r>
              <a:rPr sz="900" b="0" i="0">
                <a:solidFill>
                  <a:srgbClr val="3C3C3C"/>
                </a:solidFill>
                <a:latin typeface="Calibri"/>
              </a:rPr>
              <a:t>BOXI → Power BI</a:t>
            </a:r>
          </a:p>
        </p:txBody>
      </p:sp>
      <p:sp>
        <p:nvSpPr>
          <p:cNvPr id="34" name="TextBox 33"/>
          <p:cNvSpPr txBox="1"/>
          <p:nvPr/>
        </p:nvSpPr>
        <p:spPr>
          <a:xfrm>
            <a:off x="7434072" y="1956816"/>
            <a:ext cx="1261872" cy="274320"/>
          </a:xfrm>
          <a:prstGeom prst="rect">
            <a:avLst/>
          </a:prstGeom>
          <a:noFill/>
        </p:spPr>
        <p:txBody>
          <a:bodyPr wrap="square">
            <a:spAutoFit/>
          </a:bodyPr>
          <a:lstStyle/>
          <a:p>
            <a:pPr algn="l"/>
            <a:r>
              <a:rPr sz="900" b="0" i="0">
                <a:solidFill>
                  <a:srgbClr val="3C3C3C"/>
                </a:solidFill>
                <a:latin typeface="Calibri"/>
              </a:rPr>
              <a:t>BIM</a:t>
            </a:r>
          </a:p>
        </p:txBody>
      </p:sp>
      <p:sp>
        <p:nvSpPr>
          <p:cNvPr id="35" name="TextBox 34"/>
          <p:cNvSpPr txBox="1"/>
          <p:nvPr/>
        </p:nvSpPr>
        <p:spPr>
          <a:xfrm>
            <a:off x="8805672" y="1956816"/>
            <a:ext cx="1536192" cy="274320"/>
          </a:xfrm>
          <a:prstGeom prst="rect">
            <a:avLst/>
          </a:prstGeom>
          <a:noFill/>
        </p:spPr>
        <p:txBody>
          <a:bodyPr wrap="square">
            <a:spAutoFit/>
          </a:bodyPr>
          <a:lstStyle/>
          <a:p>
            <a:pPr algn="l"/>
            <a:r>
              <a:rPr sz="900" b="0" i="0">
                <a:solidFill>
                  <a:srgbClr val="3C3C3C"/>
                </a:solidFill>
                <a:latin typeface="Calibri"/>
              </a:rPr>
              <a:t>Power BI</a:t>
            </a:r>
          </a:p>
        </p:txBody>
      </p:sp>
      <p:sp>
        <p:nvSpPr>
          <p:cNvPr id="36" name="TextBox 35"/>
          <p:cNvSpPr txBox="1"/>
          <p:nvPr/>
        </p:nvSpPr>
        <p:spPr>
          <a:xfrm>
            <a:off x="10497312" y="1956816"/>
            <a:ext cx="1581912" cy="274320"/>
          </a:xfrm>
          <a:prstGeom prst="rect">
            <a:avLst/>
          </a:prstGeom>
          <a:noFill/>
        </p:spPr>
        <p:txBody>
          <a:bodyPr wrap="square">
            <a:spAutoFit/>
          </a:bodyPr>
          <a:lstStyle/>
          <a:p>
            <a:pPr algn="l"/>
            <a:r>
              <a:rPr sz="900" b="0" i="0">
                <a:solidFill>
                  <a:srgbClr val="1E8A44"/>
                </a:solidFill>
                <a:latin typeface="Calibri"/>
              </a:rPr>
              <a:t>Complete ✓</a:t>
            </a:r>
          </a:p>
        </p:txBody>
      </p:sp>
      <p:sp>
        <p:nvSpPr>
          <p:cNvPr id="37" name="Rectangle 36"/>
          <p:cNvSpPr/>
          <p:nvPr/>
        </p:nvSpPr>
        <p:spPr>
          <a:xfrm>
            <a:off x="320040" y="2249424"/>
            <a:ext cx="11548872"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497312" y="2340864"/>
            <a:ext cx="137160" cy="13716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93192" y="2286000"/>
            <a:ext cx="4919472" cy="274320"/>
          </a:xfrm>
          <a:prstGeom prst="rect">
            <a:avLst/>
          </a:prstGeom>
          <a:noFill/>
        </p:spPr>
        <p:txBody>
          <a:bodyPr wrap="square">
            <a:spAutoFit/>
          </a:bodyPr>
          <a:lstStyle/>
          <a:p>
            <a:pPr algn="l"/>
            <a:r>
              <a:rPr sz="900" b="0" i="0">
                <a:solidFill>
                  <a:srgbClr val="3C3C3C"/>
                </a:solidFill>
                <a:latin typeface="Calibri"/>
              </a:rPr>
              <a:t>Billing Accounts / Suspended Disbursements (O0169A)</a:t>
            </a:r>
          </a:p>
        </p:txBody>
      </p:sp>
      <p:sp>
        <p:nvSpPr>
          <p:cNvPr id="40" name="TextBox 39"/>
          <p:cNvSpPr txBox="1"/>
          <p:nvPr/>
        </p:nvSpPr>
        <p:spPr>
          <a:xfrm>
            <a:off x="5422392" y="2286000"/>
            <a:ext cx="1901952" cy="274320"/>
          </a:xfrm>
          <a:prstGeom prst="rect">
            <a:avLst/>
          </a:prstGeom>
          <a:noFill/>
        </p:spPr>
        <p:txBody>
          <a:bodyPr wrap="square">
            <a:spAutoFit/>
          </a:bodyPr>
          <a:lstStyle/>
          <a:p>
            <a:pPr algn="l"/>
            <a:r>
              <a:rPr sz="900" b="0" i="0">
                <a:solidFill>
                  <a:srgbClr val="3C3C3C"/>
                </a:solidFill>
                <a:latin typeface="Calibri"/>
              </a:rPr>
              <a:t>BOXI → Power BI</a:t>
            </a:r>
          </a:p>
        </p:txBody>
      </p:sp>
      <p:sp>
        <p:nvSpPr>
          <p:cNvPr id="41" name="TextBox 40"/>
          <p:cNvSpPr txBox="1"/>
          <p:nvPr/>
        </p:nvSpPr>
        <p:spPr>
          <a:xfrm>
            <a:off x="7434072" y="2286000"/>
            <a:ext cx="1261872" cy="274320"/>
          </a:xfrm>
          <a:prstGeom prst="rect">
            <a:avLst/>
          </a:prstGeom>
          <a:noFill/>
        </p:spPr>
        <p:txBody>
          <a:bodyPr wrap="square">
            <a:spAutoFit/>
          </a:bodyPr>
          <a:lstStyle/>
          <a:p>
            <a:pPr algn="l"/>
            <a:r>
              <a:rPr sz="900" b="0" i="0">
                <a:solidFill>
                  <a:srgbClr val="3C3C3C"/>
                </a:solidFill>
                <a:latin typeface="Calibri"/>
              </a:rPr>
              <a:t>BIM</a:t>
            </a:r>
          </a:p>
        </p:txBody>
      </p:sp>
      <p:sp>
        <p:nvSpPr>
          <p:cNvPr id="42" name="TextBox 41"/>
          <p:cNvSpPr txBox="1"/>
          <p:nvPr/>
        </p:nvSpPr>
        <p:spPr>
          <a:xfrm>
            <a:off x="8805672" y="2286000"/>
            <a:ext cx="1536192" cy="274320"/>
          </a:xfrm>
          <a:prstGeom prst="rect">
            <a:avLst/>
          </a:prstGeom>
          <a:noFill/>
        </p:spPr>
        <p:txBody>
          <a:bodyPr wrap="square">
            <a:spAutoFit/>
          </a:bodyPr>
          <a:lstStyle/>
          <a:p>
            <a:pPr algn="l"/>
            <a:r>
              <a:rPr sz="900" b="0" i="0">
                <a:solidFill>
                  <a:srgbClr val="3C3C3C"/>
                </a:solidFill>
                <a:latin typeface="Calibri"/>
              </a:rPr>
              <a:t>Power BI</a:t>
            </a:r>
          </a:p>
        </p:txBody>
      </p:sp>
      <p:sp>
        <p:nvSpPr>
          <p:cNvPr id="43" name="TextBox 42"/>
          <p:cNvSpPr txBox="1"/>
          <p:nvPr/>
        </p:nvSpPr>
        <p:spPr>
          <a:xfrm>
            <a:off x="10497312" y="2286000"/>
            <a:ext cx="1581912" cy="274320"/>
          </a:xfrm>
          <a:prstGeom prst="rect">
            <a:avLst/>
          </a:prstGeom>
          <a:noFill/>
        </p:spPr>
        <p:txBody>
          <a:bodyPr wrap="square">
            <a:spAutoFit/>
          </a:bodyPr>
          <a:lstStyle/>
          <a:p>
            <a:pPr algn="l"/>
            <a:r>
              <a:rPr sz="900" b="0" i="0">
                <a:solidFill>
                  <a:srgbClr val="1E8A44"/>
                </a:solidFill>
                <a:latin typeface="Calibri"/>
              </a:rPr>
              <a:t>Complete ✓</a:t>
            </a:r>
          </a:p>
        </p:txBody>
      </p:sp>
      <p:sp>
        <p:nvSpPr>
          <p:cNvPr id="44" name="Rectangle 43"/>
          <p:cNvSpPr/>
          <p:nvPr/>
        </p:nvSpPr>
        <p:spPr>
          <a:xfrm>
            <a:off x="320040" y="2578608"/>
            <a:ext cx="11548872" cy="32918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497312" y="2670048"/>
            <a:ext cx="137160" cy="13716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93192" y="2615184"/>
            <a:ext cx="4919472" cy="274320"/>
          </a:xfrm>
          <a:prstGeom prst="rect">
            <a:avLst/>
          </a:prstGeom>
          <a:noFill/>
        </p:spPr>
        <p:txBody>
          <a:bodyPr wrap="square">
            <a:spAutoFit/>
          </a:bodyPr>
          <a:lstStyle/>
          <a:p>
            <a:pPr algn="l"/>
            <a:r>
              <a:rPr sz="900" b="0" i="0">
                <a:solidFill>
                  <a:srgbClr val="3C3C3C"/>
                </a:solidFill>
                <a:latin typeface="Calibri"/>
              </a:rPr>
              <a:t>Monthly Direct Sales Incentive Count (O0489A)</a:t>
            </a:r>
          </a:p>
        </p:txBody>
      </p:sp>
      <p:sp>
        <p:nvSpPr>
          <p:cNvPr id="47" name="TextBox 46"/>
          <p:cNvSpPr txBox="1"/>
          <p:nvPr/>
        </p:nvSpPr>
        <p:spPr>
          <a:xfrm>
            <a:off x="5422392" y="2615184"/>
            <a:ext cx="1901952" cy="274320"/>
          </a:xfrm>
          <a:prstGeom prst="rect">
            <a:avLst/>
          </a:prstGeom>
          <a:noFill/>
        </p:spPr>
        <p:txBody>
          <a:bodyPr wrap="square">
            <a:spAutoFit/>
          </a:bodyPr>
          <a:lstStyle/>
          <a:p>
            <a:pPr algn="l"/>
            <a:r>
              <a:rPr sz="900" b="0" i="0">
                <a:solidFill>
                  <a:srgbClr val="3C3C3C"/>
                </a:solidFill>
                <a:latin typeface="Calibri"/>
              </a:rPr>
              <a:t>BOXI → Power BI</a:t>
            </a:r>
          </a:p>
        </p:txBody>
      </p:sp>
      <p:sp>
        <p:nvSpPr>
          <p:cNvPr id="48" name="TextBox 47"/>
          <p:cNvSpPr txBox="1"/>
          <p:nvPr/>
        </p:nvSpPr>
        <p:spPr>
          <a:xfrm>
            <a:off x="7434072" y="2615184"/>
            <a:ext cx="1261872" cy="274320"/>
          </a:xfrm>
          <a:prstGeom prst="rect">
            <a:avLst/>
          </a:prstGeom>
          <a:noFill/>
        </p:spPr>
        <p:txBody>
          <a:bodyPr wrap="square">
            <a:spAutoFit/>
          </a:bodyPr>
          <a:lstStyle/>
          <a:p>
            <a:pPr algn="l"/>
            <a:r>
              <a:rPr sz="900" b="0" i="0">
                <a:solidFill>
                  <a:srgbClr val="3C3C3C"/>
                </a:solidFill>
                <a:latin typeface="Calibri"/>
              </a:rPr>
              <a:t>BIM</a:t>
            </a:r>
          </a:p>
        </p:txBody>
      </p:sp>
      <p:sp>
        <p:nvSpPr>
          <p:cNvPr id="49" name="TextBox 48"/>
          <p:cNvSpPr txBox="1"/>
          <p:nvPr/>
        </p:nvSpPr>
        <p:spPr>
          <a:xfrm>
            <a:off x="8805672" y="2615184"/>
            <a:ext cx="1536192" cy="274320"/>
          </a:xfrm>
          <a:prstGeom prst="rect">
            <a:avLst/>
          </a:prstGeom>
          <a:noFill/>
        </p:spPr>
        <p:txBody>
          <a:bodyPr wrap="square">
            <a:spAutoFit/>
          </a:bodyPr>
          <a:lstStyle/>
          <a:p>
            <a:pPr algn="l"/>
            <a:r>
              <a:rPr sz="900" b="0" i="0">
                <a:solidFill>
                  <a:srgbClr val="3C3C3C"/>
                </a:solidFill>
                <a:latin typeface="Calibri"/>
              </a:rPr>
              <a:t>Power BI</a:t>
            </a:r>
          </a:p>
        </p:txBody>
      </p:sp>
      <p:sp>
        <p:nvSpPr>
          <p:cNvPr id="50" name="TextBox 49"/>
          <p:cNvSpPr txBox="1"/>
          <p:nvPr/>
        </p:nvSpPr>
        <p:spPr>
          <a:xfrm>
            <a:off x="10497312" y="2615184"/>
            <a:ext cx="1581912" cy="274320"/>
          </a:xfrm>
          <a:prstGeom prst="rect">
            <a:avLst/>
          </a:prstGeom>
          <a:noFill/>
        </p:spPr>
        <p:txBody>
          <a:bodyPr wrap="square">
            <a:spAutoFit/>
          </a:bodyPr>
          <a:lstStyle/>
          <a:p>
            <a:pPr algn="l"/>
            <a:r>
              <a:rPr sz="900" b="0" i="0">
                <a:solidFill>
                  <a:srgbClr val="1E8A44"/>
                </a:solidFill>
                <a:latin typeface="Calibri"/>
              </a:rPr>
              <a:t>Complete ✓</a:t>
            </a:r>
          </a:p>
        </p:txBody>
      </p:sp>
      <p:sp>
        <p:nvSpPr>
          <p:cNvPr id="51" name="Rectangle 50"/>
          <p:cNvSpPr/>
          <p:nvPr/>
        </p:nvSpPr>
        <p:spPr>
          <a:xfrm>
            <a:off x="320040" y="2907792"/>
            <a:ext cx="11548872"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497312" y="2999232"/>
            <a:ext cx="137160" cy="13716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93192" y="2944368"/>
            <a:ext cx="4919472" cy="274320"/>
          </a:xfrm>
          <a:prstGeom prst="rect">
            <a:avLst/>
          </a:prstGeom>
          <a:noFill/>
        </p:spPr>
        <p:txBody>
          <a:bodyPr wrap="square">
            <a:spAutoFit/>
          </a:bodyPr>
          <a:lstStyle/>
          <a:p>
            <a:pPr algn="l"/>
            <a:r>
              <a:rPr sz="900" b="0" i="0">
                <a:solidFill>
                  <a:srgbClr val="3C3C3C"/>
                </a:solidFill>
                <a:latin typeface="Calibri"/>
              </a:rPr>
              <a:t>Monthly Inforce Household &amp; Policy Unit Counts</a:t>
            </a:r>
          </a:p>
        </p:txBody>
      </p:sp>
      <p:sp>
        <p:nvSpPr>
          <p:cNvPr id="54" name="TextBox 53"/>
          <p:cNvSpPr txBox="1"/>
          <p:nvPr/>
        </p:nvSpPr>
        <p:spPr>
          <a:xfrm>
            <a:off x="5422392" y="2944368"/>
            <a:ext cx="1901952" cy="274320"/>
          </a:xfrm>
          <a:prstGeom prst="rect">
            <a:avLst/>
          </a:prstGeom>
          <a:noFill/>
        </p:spPr>
        <p:txBody>
          <a:bodyPr wrap="square">
            <a:spAutoFit/>
          </a:bodyPr>
          <a:lstStyle/>
          <a:p>
            <a:pPr algn="l"/>
            <a:r>
              <a:rPr sz="900" b="0" i="0">
                <a:solidFill>
                  <a:srgbClr val="3C3C3C"/>
                </a:solidFill>
                <a:latin typeface="Calibri"/>
              </a:rPr>
              <a:t>BOXI/SSRS → Tableau</a:t>
            </a:r>
          </a:p>
        </p:txBody>
      </p:sp>
      <p:sp>
        <p:nvSpPr>
          <p:cNvPr id="55" name="TextBox 54"/>
          <p:cNvSpPr txBox="1"/>
          <p:nvPr/>
        </p:nvSpPr>
        <p:spPr>
          <a:xfrm>
            <a:off x="7434072" y="2944368"/>
            <a:ext cx="1261872" cy="274320"/>
          </a:xfrm>
          <a:prstGeom prst="rect">
            <a:avLst/>
          </a:prstGeom>
          <a:noFill/>
        </p:spPr>
        <p:txBody>
          <a:bodyPr wrap="square">
            <a:spAutoFit/>
          </a:bodyPr>
          <a:lstStyle/>
          <a:p>
            <a:pPr algn="l"/>
            <a:r>
              <a:rPr sz="900" b="0" i="0">
                <a:solidFill>
                  <a:srgbClr val="3C3C3C"/>
                </a:solidFill>
                <a:latin typeface="Calibri"/>
              </a:rPr>
              <a:t>AWM/DWM</a:t>
            </a:r>
          </a:p>
        </p:txBody>
      </p:sp>
      <p:sp>
        <p:nvSpPr>
          <p:cNvPr id="56" name="TextBox 55"/>
          <p:cNvSpPr txBox="1"/>
          <p:nvPr/>
        </p:nvSpPr>
        <p:spPr>
          <a:xfrm>
            <a:off x="8805672" y="2944368"/>
            <a:ext cx="1536192" cy="274320"/>
          </a:xfrm>
          <a:prstGeom prst="rect">
            <a:avLst/>
          </a:prstGeom>
          <a:noFill/>
        </p:spPr>
        <p:txBody>
          <a:bodyPr wrap="square">
            <a:spAutoFit/>
          </a:bodyPr>
          <a:lstStyle/>
          <a:p>
            <a:pPr algn="l"/>
            <a:r>
              <a:rPr sz="900" b="0" i="0">
                <a:solidFill>
                  <a:srgbClr val="3C3C3C"/>
                </a:solidFill>
                <a:latin typeface="Calibri"/>
              </a:rPr>
              <a:t>Tableau</a:t>
            </a:r>
          </a:p>
        </p:txBody>
      </p:sp>
      <p:sp>
        <p:nvSpPr>
          <p:cNvPr id="57" name="TextBox 56"/>
          <p:cNvSpPr txBox="1"/>
          <p:nvPr/>
        </p:nvSpPr>
        <p:spPr>
          <a:xfrm>
            <a:off x="10497312" y="2944368"/>
            <a:ext cx="1581912" cy="274320"/>
          </a:xfrm>
          <a:prstGeom prst="rect">
            <a:avLst/>
          </a:prstGeom>
          <a:noFill/>
        </p:spPr>
        <p:txBody>
          <a:bodyPr wrap="square">
            <a:spAutoFit/>
          </a:bodyPr>
          <a:lstStyle/>
          <a:p>
            <a:pPr algn="l"/>
            <a:r>
              <a:rPr sz="900" b="0" i="0">
                <a:solidFill>
                  <a:srgbClr val="1E8A44"/>
                </a:solidFill>
                <a:latin typeface="Calibri"/>
              </a:rPr>
              <a:t>Complete ✓</a:t>
            </a:r>
          </a:p>
        </p:txBody>
      </p:sp>
      <p:sp>
        <p:nvSpPr>
          <p:cNvPr id="58" name="Rectangle 57"/>
          <p:cNvSpPr/>
          <p:nvPr/>
        </p:nvSpPr>
        <p:spPr>
          <a:xfrm>
            <a:off x="320040" y="3236976"/>
            <a:ext cx="11548872" cy="32918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497312" y="3328416"/>
            <a:ext cx="137160" cy="13716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93192" y="3273552"/>
            <a:ext cx="4919472" cy="274320"/>
          </a:xfrm>
          <a:prstGeom prst="rect">
            <a:avLst/>
          </a:prstGeom>
          <a:noFill/>
        </p:spPr>
        <p:txBody>
          <a:bodyPr wrap="square">
            <a:spAutoFit/>
          </a:bodyPr>
          <a:lstStyle/>
          <a:p>
            <a:pPr algn="l"/>
            <a:r>
              <a:rPr sz="900" b="0" i="0">
                <a:solidFill>
                  <a:srgbClr val="3C3C3C"/>
                </a:solidFill>
                <a:latin typeface="Calibri"/>
              </a:rPr>
              <a:t>Monthly Manual Write Off (O0242A-M1A-P01)</a:t>
            </a:r>
          </a:p>
        </p:txBody>
      </p:sp>
      <p:sp>
        <p:nvSpPr>
          <p:cNvPr id="61" name="TextBox 60"/>
          <p:cNvSpPr txBox="1"/>
          <p:nvPr/>
        </p:nvSpPr>
        <p:spPr>
          <a:xfrm>
            <a:off x="5422392" y="3273552"/>
            <a:ext cx="1901952" cy="274320"/>
          </a:xfrm>
          <a:prstGeom prst="rect">
            <a:avLst/>
          </a:prstGeom>
          <a:noFill/>
        </p:spPr>
        <p:txBody>
          <a:bodyPr wrap="square">
            <a:spAutoFit/>
          </a:bodyPr>
          <a:lstStyle/>
          <a:p>
            <a:pPr algn="l"/>
            <a:r>
              <a:rPr sz="900" b="0" i="0">
                <a:solidFill>
                  <a:srgbClr val="3C3C3C"/>
                </a:solidFill>
                <a:latin typeface="Calibri"/>
              </a:rPr>
              <a:t>BOXI/SSRS → Tableau</a:t>
            </a:r>
          </a:p>
        </p:txBody>
      </p:sp>
      <p:sp>
        <p:nvSpPr>
          <p:cNvPr id="62" name="TextBox 61"/>
          <p:cNvSpPr txBox="1"/>
          <p:nvPr/>
        </p:nvSpPr>
        <p:spPr>
          <a:xfrm>
            <a:off x="7434072" y="3273552"/>
            <a:ext cx="1261872" cy="274320"/>
          </a:xfrm>
          <a:prstGeom prst="rect">
            <a:avLst/>
          </a:prstGeom>
          <a:noFill/>
        </p:spPr>
        <p:txBody>
          <a:bodyPr wrap="square">
            <a:spAutoFit/>
          </a:bodyPr>
          <a:lstStyle/>
          <a:p>
            <a:pPr algn="l"/>
            <a:r>
              <a:rPr sz="900" b="0" i="0">
                <a:solidFill>
                  <a:srgbClr val="3C3C3C"/>
                </a:solidFill>
                <a:latin typeface="Calibri"/>
              </a:rPr>
              <a:t>AWM/DWM</a:t>
            </a:r>
          </a:p>
        </p:txBody>
      </p:sp>
      <p:sp>
        <p:nvSpPr>
          <p:cNvPr id="63" name="TextBox 62"/>
          <p:cNvSpPr txBox="1"/>
          <p:nvPr/>
        </p:nvSpPr>
        <p:spPr>
          <a:xfrm>
            <a:off x="8805672" y="3273552"/>
            <a:ext cx="1536192" cy="274320"/>
          </a:xfrm>
          <a:prstGeom prst="rect">
            <a:avLst/>
          </a:prstGeom>
          <a:noFill/>
        </p:spPr>
        <p:txBody>
          <a:bodyPr wrap="square">
            <a:spAutoFit/>
          </a:bodyPr>
          <a:lstStyle/>
          <a:p>
            <a:pPr algn="l"/>
            <a:r>
              <a:rPr sz="900" b="0" i="0">
                <a:solidFill>
                  <a:srgbClr val="3C3C3C"/>
                </a:solidFill>
                <a:latin typeface="Calibri"/>
              </a:rPr>
              <a:t>Tableau</a:t>
            </a:r>
          </a:p>
        </p:txBody>
      </p:sp>
      <p:sp>
        <p:nvSpPr>
          <p:cNvPr id="64" name="TextBox 63"/>
          <p:cNvSpPr txBox="1"/>
          <p:nvPr/>
        </p:nvSpPr>
        <p:spPr>
          <a:xfrm>
            <a:off x="10497312" y="3273552"/>
            <a:ext cx="1581912" cy="274320"/>
          </a:xfrm>
          <a:prstGeom prst="rect">
            <a:avLst/>
          </a:prstGeom>
          <a:noFill/>
        </p:spPr>
        <p:txBody>
          <a:bodyPr wrap="square">
            <a:spAutoFit/>
          </a:bodyPr>
          <a:lstStyle/>
          <a:p>
            <a:pPr algn="l"/>
            <a:r>
              <a:rPr sz="900" b="0" i="0">
                <a:solidFill>
                  <a:srgbClr val="1E8A44"/>
                </a:solidFill>
                <a:latin typeface="Calibri"/>
              </a:rPr>
              <a:t>Complete ✓</a:t>
            </a:r>
          </a:p>
        </p:txBody>
      </p:sp>
      <p:sp>
        <p:nvSpPr>
          <p:cNvPr id="65" name="Rectangle 64"/>
          <p:cNvSpPr/>
          <p:nvPr/>
        </p:nvSpPr>
        <p:spPr>
          <a:xfrm>
            <a:off x="320040" y="3566160"/>
            <a:ext cx="11548872"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0497312" y="3657600"/>
            <a:ext cx="137160" cy="13716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93192" y="3602736"/>
            <a:ext cx="4919472" cy="274320"/>
          </a:xfrm>
          <a:prstGeom prst="rect">
            <a:avLst/>
          </a:prstGeom>
          <a:noFill/>
        </p:spPr>
        <p:txBody>
          <a:bodyPr wrap="square">
            <a:spAutoFit/>
          </a:bodyPr>
          <a:lstStyle/>
          <a:p>
            <a:pPr algn="l"/>
            <a:r>
              <a:rPr sz="900" b="0" i="0">
                <a:solidFill>
                  <a:srgbClr val="3C3C3C"/>
                </a:solidFill>
                <a:latin typeface="Calibri"/>
              </a:rPr>
              <a:t>Monthly Write Off (O0302A-M1B-P01)</a:t>
            </a:r>
          </a:p>
        </p:txBody>
      </p:sp>
      <p:sp>
        <p:nvSpPr>
          <p:cNvPr id="68" name="TextBox 67"/>
          <p:cNvSpPr txBox="1"/>
          <p:nvPr/>
        </p:nvSpPr>
        <p:spPr>
          <a:xfrm>
            <a:off x="5422392" y="3602736"/>
            <a:ext cx="1901952" cy="274320"/>
          </a:xfrm>
          <a:prstGeom prst="rect">
            <a:avLst/>
          </a:prstGeom>
          <a:noFill/>
        </p:spPr>
        <p:txBody>
          <a:bodyPr wrap="square">
            <a:spAutoFit/>
          </a:bodyPr>
          <a:lstStyle/>
          <a:p>
            <a:pPr algn="l"/>
            <a:r>
              <a:rPr sz="900" b="0" i="0">
                <a:solidFill>
                  <a:srgbClr val="3C3C3C"/>
                </a:solidFill>
                <a:latin typeface="Calibri"/>
              </a:rPr>
              <a:t>BOXI/SSRS → Tableau</a:t>
            </a:r>
          </a:p>
        </p:txBody>
      </p:sp>
      <p:sp>
        <p:nvSpPr>
          <p:cNvPr id="69" name="TextBox 68"/>
          <p:cNvSpPr txBox="1"/>
          <p:nvPr/>
        </p:nvSpPr>
        <p:spPr>
          <a:xfrm>
            <a:off x="7434072" y="3602736"/>
            <a:ext cx="1261872" cy="274320"/>
          </a:xfrm>
          <a:prstGeom prst="rect">
            <a:avLst/>
          </a:prstGeom>
          <a:noFill/>
        </p:spPr>
        <p:txBody>
          <a:bodyPr wrap="square">
            <a:spAutoFit/>
          </a:bodyPr>
          <a:lstStyle/>
          <a:p>
            <a:pPr algn="l"/>
            <a:r>
              <a:rPr sz="900" b="0" i="0">
                <a:solidFill>
                  <a:srgbClr val="3C3C3C"/>
                </a:solidFill>
                <a:latin typeface="Calibri"/>
              </a:rPr>
              <a:t>AWM/DWM</a:t>
            </a:r>
          </a:p>
        </p:txBody>
      </p:sp>
      <p:sp>
        <p:nvSpPr>
          <p:cNvPr id="70" name="TextBox 69"/>
          <p:cNvSpPr txBox="1"/>
          <p:nvPr/>
        </p:nvSpPr>
        <p:spPr>
          <a:xfrm>
            <a:off x="8805672" y="3602736"/>
            <a:ext cx="1536192" cy="274320"/>
          </a:xfrm>
          <a:prstGeom prst="rect">
            <a:avLst/>
          </a:prstGeom>
          <a:noFill/>
        </p:spPr>
        <p:txBody>
          <a:bodyPr wrap="square">
            <a:spAutoFit/>
          </a:bodyPr>
          <a:lstStyle/>
          <a:p>
            <a:pPr algn="l"/>
            <a:r>
              <a:rPr sz="900" b="0" i="0">
                <a:solidFill>
                  <a:srgbClr val="3C3C3C"/>
                </a:solidFill>
                <a:latin typeface="Calibri"/>
              </a:rPr>
              <a:t>Tableau</a:t>
            </a:r>
          </a:p>
        </p:txBody>
      </p:sp>
      <p:sp>
        <p:nvSpPr>
          <p:cNvPr id="71" name="TextBox 70"/>
          <p:cNvSpPr txBox="1"/>
          <p:nvPr/>
        </p:nvSpPr>
        <p:spPr>
          <a:xfrm>
            <a:off x="10497312" y="3602736"/>
            <a:ext cx="1581912" cy="274320"/>
          </a:xfrm>
          <a:prstGeom prst="rect">
            <a:avLst/>
          </a:prstGeom>
          <a:noFill/>
        </p:spPr>
        <p:txBody>
          <a:bodyPr wrap="square">
            <a:spAutoFit/>
          </a:bodyPr>
          <a:lstStyle/>
          <a:p>
            <a:pPr algn="l"/>
            <a:r>
              <a:rPr sz="900" b="0" i="0">
                <a:solidFill>
                  <a:srgbClr val="1E8A44"/>
                </a:solidFill>
                <a:latin typeface="Calibri"/>
              </a:rPr>
              <a:t>Complete ✓</a:t>
            </a:r>
          </a:p>
        </p:txBody>
      </p:sp>
      <p:sp>
        <p:nvSpPr>
          <p:cNvPr id="72" name="Rectangle 71"/>
          <p:cNvSpPr/>
          <p:nvPr/>
        </p:nvSpPr>
        <p:spPr>
          <a:xfrm>
            <a:off x="320040" y="3895344"/>
            <a:ext cx="11548872" cy="32918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497312" y="3986784"/>
            <a:ext cx="137160" cy="13716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93192" y="3931920"/>
            <a:ext cx="4919472" cy="274320"/>
          </a:xfrm>
          <a:prstGeom prst="rect">
            <a:avLst/>
          </a:prstGeom>
          <a:noFill/>
        </p:spPr>
        <p:txBody>
          <a:bodyPr wrap="square">
            <a:spAutoFit/>
          </a:bodyPr>
          <a:lstStyle/>
          <a:p>
            <a:pPr algn="l"/>
            <a:r>
              <a:rPr sz="900" b="0" i="0">
                <a:solidFill>
                  <a:srgbClr val="3C3C3C"/>
                </a:solidFill>
                <a:latin typeface="Calibri"/>
              </a:rPr>
              <a:t>Monthly Proxy Emailed Detail</a:t>
            </a:r>
          </a:p>
        </p:txBody>
      </p:sp>
      <p:sp>
        <p:nvSpPr>
          <p:cNvPr id="75" name="TextBox 74"/>
          <p:cNvSpPr txBox="1"/>
          <p:nvPr/>
        </p:nvSpPr>
        <p:spPr>
          <a:xfrm>
            <a:off x="5422392" y="3931920"/>
            <a:ext cx="1901952" cy="274320"/>
          </a:xfrm>
          <a:prstGeom prst="rect">
            <a:avLst/>
          </a:prstGeom>
          <a:noFill/>
        </p:spPr>
        <p:txBody>
          <a:bodyPr wrap="square">
            <a:spAutoFit/>
          </a:bodyPr>
          <a:lstStyle/>
          <a:p>
            <a:pPr algn="l"/>
            <a:r>
              <a:rPr sz="900" b="0" i="0">
                <a:solidFill>
                  <a:srgbClr val="3C3C3C"/>
                </a:solidFill>
                <a:latin typeface="Calibri"/>
              </a:rPr>
              <a:t>BOXI/SSRS → Tableau</a:t>
            </a:r>
          </a:p>
        </p:txBody>
      </p:sp>
      <p:sp>
        <p:nvSpPr>
          <p:cNvPr id="76" name="TextBox 75"/>
          <p:cNvSpPr txBox="1"/>
          <p:nvPr/>
        </p:nvSpPr>
        <p:spPr>
          <a:xfrm>
            <a:off x="7434072" y="3931920"/>
            <a:ext cx="1261872" cy="274320"/>
          </a:xfrm>
          <a:prstGeom prst="rect">
            <a:avLst/>
          </a:prstGeom>
          <a:noFill/>
        </p:spPr>
        <p:txBody>
          <a:bodyPr wrap="square">
            <a:spAutoFit/>
          </a:bodyPr>
          <a:lstStyle/>
          <a:p>
            <a:pPr algn="l"/>
            <a:r>
              <a:rPr sz="900" b="0" i="0">
                <a:solidFill>
                  <a:srgbClr val="3C3C3C"/>
                </a:solidFill>
                <a:latin typeface="Calibri"/>
              </a:rPr>
              <a:t>AWM/DWM</a:t>
            </a:r>
          </a:p>
        </p:txBody>
      </p:sp>
      <p:sp>
        <p:nvSpPr>
          <p:cNvPr id="77" name="TextBox 76"/>
          <p:cNvSpPr txBox="1"/>
          <p:nvPr/>
        </p:nvSpPr>
        <p:spPr>
          <a:xfrm>
            <a:off x="8805672" y="3931920"/>
            <a:ext cx="1536192" cy="274320"/>
          </a:xfrm>
          <a:prstGeom prst="rect">
            <a:avLst/>
          </a:prstGeom>
          <a:noFill/>
        </p:spPr>
        <p:txBody>
          <a:bodyPr wrap="square">
            <a:spAutoFit/>
          </a:bodyPr>
          <a:lstStyle/>
          <a:p>
            <a:pPr algn="l"/>
            <a:r>
              <a:rPr sz="900" b="0" i="0">
                <a:solidFill>
                  <a:srgbClr val="3C3C3C"/>
                </a:solidFill>
                <a:latin typeface="Calibri"/>
              </a:rPr>
              <a:t>Tableau</a:t>
            </a:r>
          </a:p>
        </p:txBody>
      </p:sp>
      <p:sp>
        <p:nvSpPr>
          <p:cNvPr id="78" name="TextBox 77"/>
          <p:cNvSpPr txBox="1"/>
          <p:nvPr/>
        </p:nvSpPr>
        <p:spPr>
          <a:xfrm>
            <a:off x="10497312" y="3931920"/>
            <a:ext cx="1581912" cy="274320"/>
          </a:xfrm>
          <a:prstGeom prst="rect">
            <a:avLst/>
          </a:prstGeom>
          <a:noFill/>
        </p:spPr>
        <p:txBody>
          <a:bodyPr wrap="square">
            <a:spAutoFit/>
          </a:bodyPr>
          <a:lstStyle/>
          <a:p>
            <a:pPr algn="l"/>
            <a:r>
              <a:rPr sz="900" b="0" i="0">
                <a:solidFill>
                  <a:srgbClr val="1E8A44"/>
                </a:solidFill>
                <a:latin typeface="Calibri"/>
              </a:rPr>
              <a:t>Complete ✓</a:t>
            </a:r>
          </a:p>
        </p:txBody>
      </p:sp>
      <p:sp>
        <p:nvSpPr>
          <p:cNvPr id="79" name="Rectangle 78"/>
          <p:cNvSpPr/>
          <p:nvPr/>
        </p:nvSpPr>
        <p:spPr>
          <a:xfrm>
            <a:off x="320040" y="4224528"/>
            <a:ext cx="11548872"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0497312" y="4315968"/>
            <a:ext cx="137160" cy="13716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93192" y="4261104"/>
            <a:ext cx="4919472" cy="274320"/>
          </a:xfrm>
          <a:prstGeom prst="rect">
            <a:avLst/>
          </a:prstGeom>
          <a:noFill/>
        </p:spPr>
        <p:txBody>
          <a:bodyPr wrap="square">
            <a:spAutoFit/>
          </a:bodyPr>
          <a:lstStyle/>
          <a:p>
            <a:pPr algn="l"/>
            <a:r>
              <a:rPr sz="900" b="0" i="0">
                <a:solidFill>
                  <a:srgbClr val="3C3C3C"/>
                </a:solidFill>
                <a:latin typeface="Calibri"/>
              </a:rPr>
              <a:t>Monthly Proxy Emailer Dashboard</a:t>
            </a:r>
          </a:p>
        </p:txBody>
      </p:sp>
      <p:sp>
        <p:nvSpPr>
          <p:cNvPr id="82" name="TextBox 81"/>
          <p:cNvSpPr txBox="1"/>
          <p:nvPr/>
        </p:nvSpPr>
        <p:spPr>
          <a:xfrm>
            <a:off x="5422392" y="4261104"/>
            <a:ext cx="1901952" cy="274320"/>
          </a:xfrm>
          <a:prstGeom prst="rect">
            <a:avLst/>
          </a:prstGeom>
          <a:noFill/>
        </p:spPr>
        <p:txBody>
          <a:bodyPr wrap="square">
            <a:spAutoFit/>
          </a:bodyPr>
          <a:lstStyle/>
          <a:p>
            <a:pPr algn="l"/>
            <a:r>
              <a:rPr sz="900" b="0" i="0">
                <a:solidFill>
                  <a:srgbClr val="3C3C3C"/>
                </a:solidFill>
                <a:latin typeface="Calibri"/>
              </a:rPr>
              <a:t>BOXI/SSRS → Tableau</a:t>
            </a:r>
          </a:p>
        </p:txBody>
      </p:sp>
      <p:sp>
        <p:nvSpPr>
          <p:cNvPr id="83" name="TextBox 82"/>
          <p:cNvSpPr txBox="1"/>
          <p:nvPr/>
        </p:nvSpPr>
        <p:spPr>
          <a:xfrm>
            <a:off x="7434072" y="4261104"/>
            <a:ext cx="1261872" cy="274320"/>
          </a:xfrm>
          <a:prstGeom prst="rect">
            <a:avLst/>
          </a:prstGeom>
          <a:noFill/>
        </p:spPr>
        <p:txBody>
          <a:bodyPr wrap="square">
            <a:spAutoFit/>
          </a:bodyPr>
          <a:lstStyle/>
          <a:p>
            <a:pPr algn="l"/>
            <a:r>
              <a:rPr sz="900" b="0" i="0">
                <a:solidFill>
                  <a:srgbClr val="3C3C3C"/>
                </a:solidFill>
                <a:latin typeface="Calibri"/>
              </a:rPr>
              <a:t>AWM/DWM</a:t>
            </a:r>
          </a:p>
        </p:txBody>
      </p:sp>
      <p:sp>
        <p:nvSpPr>
          <p:cNvPr id="84" name="TextBox 83"/>
          <p:cNvSpPr txBox="1"/>
          <p:nvPr/>
        </p:nvSpPr>
        <p:spPr>
          <a:xfrm>
            <a:off x="8805672" y="4261104"/>
            <a:ext cx="1536192" cy="274320"/>
          </a:xfrm>
          <a:prstGeom prst="rect">
            <a:avLst/>
          </a:prstGeom>
          <a:noFill/>
        </p:spPr>
        <p:txBody>
          <a:bodyPr wrap="square">
            <a:spAutoFit/>
          </a:bodyPr>
          <a:lstStyle/>
          <a:p>
            <a:pPr algn="l"/>
            <a:r>
              <a:rPr sz="900" b="0" i="0">
                <a:solidFill>
                  <a:srgbClr val="3C3C3C"/>
                </a:solidFill>
                <a:latin typeface="Calibri"/>
              </a:rPr>
              <a:t>Tableau</a:t>
            </a:r>
          </a:p>
        </p:txBody>
      </p:sp>
      <p:sp>
        <p:nvSpPr>
          <p:cNvPr id="85" name="TextBox 84"/>
          <p:cNvSpPr txBox="1"/>
          <p:nvPr/>
        </p:nvSpPr>
        <p:spPr>
          <a:xfrm>
            <a:off x="10497312" y="4261104"/>
            <a:ext cx="1581912" cy="274320"/>
          </a:xfrm>
          <a:prstGeom prst="rect">
            <a:avLst/>
          </a:prstGeom>
          <a:noFill/>
        </p:spPr>
        <p:txBody>
          <a:bodyPr wrap="square">
            <a:spAutoFit/>
          </a:bodyPr>
          <a:lstStyle/>
          <a:p>
            <a:pPr algn="l"/>
            <a:r>
              <a:rPr sz="900" b="0" i="0">
                <a:solidFill>
                  <a:srgbClr val="1E8A44"/>
                </a:solidFill>
                <a:latin typeface="Calibri"/>
              </a:rPr>
              <a:t>Complete ✓</a:t>
            </a:r>
          </a:p>
        </p:txBody>
      </p:sp>
      <p:sp>
        <p:nvSpPr>
          <p:cNvPr id="86" name="Rectangle 85"/>
          <p:cNvSpPr/>
          <p:nvPr/>
        </p:nvSpPr>
        <p:spPr>
          <a:xfrm>
            <a:off x="320040" y="4553712"/>
            <a:ext cx="11548872" cy="32918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0497312" y="4645152"/>
            <a:ext cx="137160" cy="13716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93192" y="4590288"/>
            <a:ext cx="4919472" cy="274320"/>
          </a:xfrm>
          <a:prstGeom prst="rect">
            <a:avLst/>
          </a:prstGeom>
          <a:noFill/>
        </p:spPr>
        <p:txBody>
          <a:bodyPr wrap="square">
            <a:spAutoFit/>
          </a:bodyPr>
          <a:lstStyle/>
          <a:p>
            <a:pPr algn="l"/>
            <a:r>
              <a:rPr sz="900" b="0" i="0">
                <a:solidFill>
                  <a:srgbClr val="3C3C3C"/>
                </a:solidFill>
                <a:latin typeface="Calibri"/>
              </a:rPr>
              <a:t>Monthly Proxy Received Detail</a:t>
            </a:r>
          </a:p>
        </p:txBody>
      </p:sp>
      <p:sp>
        <p:nvSpPr>
          <p:cNvPr id="89" name="TextBox 88"/>
          <p:cNvSpPr txBox="1"/>
          <p:nvPr/>
        </p:nvSpPr>
        <p:spPr>
          <a:xfrm>
            <a:off x="5422392" y="4590288"/>
            <a:ext cx="1901952" cy="274320"/>
          </a:xfrm>
          <a:prstGeom prst="rect">
            <a:avLst/>
          </a:prstGeom>
          <a:noFill/>
        </p:spPr>
        <p:txBody>
          <a:bodyPr wrap="square">
            <a:spAutoFit/>
          </a:bodyPr>
          <a:lstStyle/>
          <a:p>
            <a:pPr algn="l"/>
            <a:r>
              <a:rPr sz="900" b="0" i="0">
                <a:solidFill>
                  <a:srgbClr val="3C3C3C"/>
                </a:solidFill>
                <a:latin typeface="Calibri"/>
              </a:rPr>
              <a:t>BOXI/SSRS → Tableau</a:t>
            </a:r>
          </a:p>
        </p:txBody>
      </p:sp>
      <p:sp>
        <p:nvSpPr>
          <p:cNvPr id="90" name="TextBox 89"/>
          <p:cNvSpPr txBox="1"/>
          <p:nvPr/>
        </p:nvSpPr>
        <p:spPr>
          <a:xfrm>
            <a:off x="7434072" y="4590288"/>
            <a:ext cx="1261872" cy="274320"/>
          </a:xfrm>
          <a:prstGeom prst="rect">
            <a:avLst/>
          </a:prstGeom>
          <a:noFill/>
        </p:spPr>
        <p:txBody>
          <a:bodyPr wrap="square">
            <a:spAutoFit/>
          </a:bodyPr>
          <a:lstStyle/>
          <a:p>
            <a:pPr algn="l"/>
            <a:r>
              <a:rPr sz="900" b="0" i="0">
                <a:solidFill>
                  <a:srgbClr val="3C3C3C"/>
                </a:solidFill>
                <a:latin typeface="Calibri"/>
              </a:rPr>
              <a:t>AWM/DWM</a:t>
            </a:r>
          </a:p>
        </p:txBody>
      </p:sp>
      <p:sp>
        <p:nvSpPr>
          <p:cNvPr id="91" name="TextBox 90"/>
          <p:cNvSpPr txBox="1"/>
          <p:nvPr/>
        </p:nvSpPr>
        <p:spPr>
          <a:xfrm>
            <a:off x="8805672" y="4590288"/>
            <a:ext cx="1536192" cy="274320"/>
          </a:xfrm>
          <a:prstGeom prst="rect">
            <a:avLst/>
          </a:prstGeom>
          <a:noFill/>
        </p:spPr>
        <p:txBody>
          <a:bodyPr wrap="square">
            <a:spAutoFit/>
          </a:bodyPr>
          <a:lstStyle/>
          <a:p>
            <a:pPr algn="l"/>
            <a:r>
              <a:rPr sz="900" b="0" i="0">
                <a:solidFill>
                  <a:srgbClr val="3C3C3C"/>
                </a:solidFill>
                <a:latin typeface="Calibri"/>
              </a:rPr>
              <a:t>Tableau</a:t>
            </a:r>
          </a:p>
        </p:txBody>
      </p:sp>
      <p:sp>
        <p:nvSpPr>
          <p:cNvPr id="92" name="TextBox 91"/>
          <p:cNvSpPr txBox="1"/>
          <p:nvPr/>
        </p:nvSpPr>
        <p:spPr>
          <a:xfrm>
            <a:off x="10497312" y="4590288"/>
            <a:ext cx="1581912" cy="274320"/>
          </a:xfrm>
          <a:prstGeom prst="rect">
            <a:avLst/>
          </a:prstGeom>
          <a:noFill/>
        </p:spPr>
        <p:txBody>
          <a:bodyPr wrap="square">
            <a:spAutoFit/>
          </a:bodyPr>
          <a:lstStyle/>
          <a:p>
            <a:pPr algn="l"/>
            <a:r>
              <a:rPr sz="900" b="0" i="0">
                <a:solidFill>
                  <a:srgbClr val="1E8A44"/>
                </a:solidFill>
                <a:latin typeface="Calibri"/>
              </a:rPr>
              <a:t>Complete ✓</a:t>
            </a:r>
          </a:p>
        </p:txBody>
      </p:sp>
      <p:sp>
        <p:nvSpPr>
          <p:cNvPr id="93" name="Rectangle 92"/>
          <p:cNvSpPr/>
          <p:nvPr/>
        </p:nvSpPr>
        <p:spPr>
          <a:xfrm>
            <a:off x="320040" y="4882896"/>
            <a:ext cx="11548872"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0497312" y="4974336"/>
            <a:ext cx="137160" cy="137160"/>
          </a:xfrm>
          <a:prstGeom prst="rect">
            <a:avLst/>
          </a:prstGeom>
          <a:solidFill>
            <a:srgbClr val="E6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393192" y="4919472"/>
            <a:ext cx="4919472" cy="274320"/>
          </a:xfrm>
          <a:prstGeom prst="rect">
            <a:avLst/>
          </a:prstGeom>
          <a:noFill/>
        </p:spPr>
        <p:txBody>
          <a:bodyPr wrap="square">
            <a:spAutoFit/>
          </a:bodyPr>
          <a:lstStyle/>
          <a:p>
            <a:pPr algn="l"/>
            <a:r>
              <a:rPr sz="900" b="0" i="0">
                <a:solidFill>
                  <a:srgbClr val="3C3C3C"/>
                </a:solidFill>
                <a:latin typeface="Calibri"/>
              </a:rPr>
              <a:t>Consolidated Single-Source Report (5→1)</a:t>
            </a:r>
          </a:p>
        </p:txBody>
      </p:sp>
      <p:sp>
        <p:nvSpPr>
          <p:cNvPr id="96" name="TextBox 95"/>
          <p:cNvSpPr txBox="1"/>
          <p:nvPr/>
        </p:nvSpPr>
        <p:spPr>
          <a:xfrm>
            <a:off x="5422392" y="4919472"/>
            <a:ext cx="1901952" cy="274320"/>
          </a:xfrm>
          <a:prstGeom prst="rect">
            <a:avLst/>
          </a:prstGeom>
          <a:noFill/>
        </p:spPr>
        <p:txBody>
          <a:bodyPr wrap="square">
            <a:spAutoFit/>
          </a:bodyPr>
          <a:lstStyle/>
          <a:p>
            <a:pPr algn="l"/>
            <a:r>
              <a:rPr sz="900" b="0" i="0">
                <a:solidFill>
                  <a:srgbClr val="3C3C3C"/>
                </a:solidFill>
                <a:latin typeface="Calibri"/>
              </a:rPr>
              <a:t>Tableau Consolidation</a:t>
            </a:r>
          </a:p>
        </p:txBody>
      </p:sp>
      <p:sp>
        <p:nvSpPr>
          <p:cNvPr id="97" name="TextBox 96"/>
          <p:cNvSpPr txBox="1"/>
          <p:nvPr/>
        </p:nvSpPr>
        <p:spPr>
          <a:xfrm>
            <a:off x="7434072" y="4919472"/>
            <a:ext cx="1261872" cy="274320"/>
          </a:xfrm>
          <a:prstGeom prst="rect">
            <a:avLst/>
          </a:prstGeom>
          <a:noFill/>
        </p:spPr>
        <p:txBody>
          <a:bodyPr wrap="square">
            <a:spAutoFit/>
          </a:bodyPr>
          <a:lstStyle/>
          <a:p>
            <a:pPr algn="l"/>
            <a:r>
              <a:rPr sz="900" b="0" i="0">
                <a:solidFill>
                  <a:srgbClr val="3C3C3C"/>
                </a:solidFill>
                <a:latin typeface="Calibri"/>
              </a:rPr>
              <a:t>AWM/DWM</a:t>
            </a:r>
          </a:p>
        </p:txBody>
      </p:sp>
      <p:sp>
        <p:nvSpPr>
          <p:cNvPr id="98" name="TextBox 97"/>
          <p:cNvSpPr txBox="1"/>
          <p:nvPr/>
        </p:nvSpPr>
        <p:spPr>
          <a:xfrm>
            <a:off x="8805672" y="4919472"/>
            <a:ext cx="1536192" cy="274320"/>
          </a:xfrm>
          <a:prstGeom prst="rect">
            <a:avLst/>
          </a:prstGeom>
          <a:noFill/>
        </p:spPr>
        <p:txBody>
          <a:bodyPr wrap="square">
            <a:spAutoFit/>
          </a:bodyPr>
          <a:lstStyle/>
          <a:p>
            <a:pPr algn="l"/>
            <a:r>
              <a:rPr sz="900" b="0" i="0">
                <a:solidFill>
                  <a:srgbClr val="3C3C3C"/>
                </a:solidFill>
                <a:latin typeface="Calibri"/>
              </a:rPr>
              <a:t>Tableau</a:t>
            </a:r>
          </a:p>
        </p:txBody>
      </p:sp>
      <p:sp>
        <p:nvSpPr>
          <p:cNvPr id="99" name="TextBox 98"/>
          <p:cNvSpPr txBox="1"/>
          <p:nvPr/>
        </p:nvSpPr>
        <p:spPr>
          <a:xfrm>
            <a:off x="10497312" y="4919472"/>
            <a:ext cx="1581912" cy="274320"/>
          </a:xfrm>
          <a:prstGeom prst="rect">
            <a:avLst/>
          </a:prstGeom>
          <a:noFill/>
        </p:spPr>
        <p:txBody>
          <a:bodyPr wrap="square">
            <a:spAutoFit/>
          </a:bodyPr>
          <a:lstStyle/>
          <a:p>
            <a:pPr algn="l"/>
            <a:r>
              <a:rPr sz="900" b="0" i="0">
                <a:solidFill>
                  <a:srgbClr val="E67300"/>
                </a:solidFill>
                <a:latin typeface="Calibri"/>
              </a:rPr>
              <a:t>Minor Issues</a:t>
            </a:r>
          </a:p>
        </p:txBody>
      </p:sp>
      <p:sp>
        <p:nvSpPr>
          <p:cNvPr id="100" name="Rectangle 99"/>
          <p:cNvSpPr/>
          <p:nvPr/>
        </p:nvSpPr>
        <p:spPr>
          <a:xfrm>
            <a:off x="320040" y="5212080"/>
            <a:ext cx="11548872" cy="32918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0497312" y="5303520"/>
            <a:ext cx="137160" cy="13716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393192" y="5248656"/>
            <a:ext cx="4919472" cy="274320"/>
          </a:xfrm>
          <a:prstGeom prst="rect">
            <a:avLst/>
          </a:prstGeom>
          <a:noFill/>
        </p:spPr>
        <p:txBody>
          <a:bodyPr wrap="square">
            <a:spAutoFit/>
          </a:bodyPr>
          <a:lstStyle/>
          <a:p>
            <a:pPr algn="l"/>
            <a:r>
              <a:rPr sz="900" b="0" i="0">
                <a:solidFill>
                  <a:srgbClr val="3C3C3C"/>
                </a:solidFill>
                <a:latin typeface="Calibri"/>
              </a:rPr>
              <a:t>Engagement Dashboard</a:t>
            </a:r>
          </a:p>
        </p:txBody>
      </p:sp>
      <p:sp>
        <p:nvSpPr>
          <p:cNvPr id="103" name="TextBox 102"/>
          <p:cNvSpPr txBox="1"/>
          <p:nvPr/>
        </p:nvSpPr>
        <p:spPr>
          <a:xfrm>
            <a:off x="5422392" y="5248656"/>
            <a:ext cx="1901952" cy="274320"/>
          </a:xfrm>
          <a:prstGeom prst="rect">
            <a:avLst/>
          </a:prstGeom>
          <a:noFill/>
        </p:spPr>
        <p:txBody>
          <a:bodyPr wrap="square">
            <a:spAutoFit/>
          </a:bodyPr>
          <a:lstStyle/>
          <a:p>
            <a:pPr algn="l"/>
            <a:r>
              <a:rPr sz="900" b="0" i="0">
                <a:solidFill>
                  <a:srgbClr val="3C3C3C"/>
                </a:solidFill>
                <a:latin typeface="Calibri"/>
              </a:rPr>
              <a:t>Tableau Other</a:t>
            </a:r>
          </a:p>
        </p:txBody>
      </p:sp>
      <p:sp>
        <p:nvSpPr>
          <p:cNvPr id="104" name="TextBox 103"/>
          <p:cNvSpPr txBox="1"/>
          <p:nvPr/>
        </p:nvSpPr>
        <p:spPr>
          <a:xfrm>
            <a:off x="7434072" y="5248656"/>
            <a:ext cx="1261872" cy="274320"/>
          </a:xfrm>
          <a:prstGeom prst="rect">
            <a:avLst/>
          </a:prstGeom>
          <a:noFill/>
        </p:spPr>
        <p:txBody>
          <a:bodyPr wrap="square">
            <a:spAutoFit/>
          </a:bodyPr>
          <a:lstStyle/>
          <a:p>
            <a:pPr algn="l"/>
            <a:r>
              <a:rPr sz="900" b="0" i="0">
                <a:solidFill>
                  <a:srgbClr val="3C3C3C"/>
                </a:solidFill>
                <a:latin typeface="Calibri"/>
              </a:rPr>
              <a:t>AWM/DWM</a:t>
            </a:r>
          </a:p>
        </p:txBody>
      </p:sp>
      <p:sp>
        <p:nvSpPr>
          <p:cNvPr id="105" name="TextBox 104"/>
          <p:cNvSpPr txBox="1"/>
          <p:nvPr/>
        </p:nvSpPr>
        <p:spPr>
          <a:xfrm>
            <a:off x="8805672" y="5248656"/>
            <a:ext cx="1536192" cy="274320"/>
          </a:xfrm>
          <a:prstGeom prst="rect">
            <a:avLst/>
          </a:prstGeom>
          <a:noFill/>
        </p:spPr>
        <p:txBody>
          <a:bodyPr wrap="square">
            <a:spAutoFit/>
          </a:bodyPr>
          <a:lstStyle/>
          <a:p>
            <a:pPr algn="l"/>
            <a:r>
              <a:rPr sz="900" b="0" i="0">
                <a:solidFill>
                  <a:srgbClr val="3C3C3C"/>
                </a:solidFill>
                <a:latin typeface="Calibri"/>
              </a:rPr>
              <a:t>Tableau</a:t>
            </a:r>
          </a:p>
        </p:txBody>
      </p:sp>
      <p:sp>
        <p:nvSpPr>
          <p:cNvPr id="106" name="TextBox 105"/>
          <p:cNvSpPr txBox="1"/>
          <p:nvPr/>
        </p:nvSpPr>
        <p:spPr>
          <a:xfrm>
            <a:off x="10497312" y="5248656"/>
            <a:ext cx="1581912" cy="274320"/>
          </a:xfrm>
          <a:prstGeom prst="rect">
            <a:avLst/>
          </a:prstGeom>
          <a:noFill/>
        </p:spPr>
        <p:txBody>
          <a:bodyPr wrap="square">
            <a:spAutoFit/>
          </a:bodyPr>
          <a:lstStyle/>
          <a:p>
            <a:pPr algn="l"/>
            <a:r>
              <a:rPr sz="900" b="0" i="0">
                <a:solidFill>
                  <a:srgbClr val="1E8A44"/>
                </a:solidFill>
                <a:latin typeface="Calibri"/>
              </a:rPr>
              <a:t>Complete ✓</a:t>
            </a:r>
          </a:p>
        </p:txBody>
      </p:sp>
      <p:sp>
        <p:nvSpPr>
          <p:cNvPr id="107" name="Rectangle 106"/>
          <p:cNvSpPr/>
          <p:nvPr/>
        </p:nvSpPr>
        <p:spPr>
          <a:xfrm>
            <a:off x="320040" y="5541264"/>
            <a:ext cx="11548872"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0497312" y="5632704"/>
            <a:ext cx="137160" cy="13716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93192" y="5577840"/>
            <a:ext cx="4919472" cy="274320"/>
          </a:xfrm>
          <a:prstGeom prst="rect">
            <a:avLst/>
          </a:prstGeom>
          <a:noFill/>
        </p:spPr>
        <p:txBody>
          <a:bodyPr wrap="square">
            <a:spAutoFit/>
          </a:bodyPr>
          <a:lstStyle/>
          <a:p>
            <a:pPr algn="l"/>
            <a:r>
              <a:rPr sz="900" b="0" i="0">
                <a:solidFill>
                  <a:srgbClr val="3C3C3C"/>
                </a:solidFill>
                <a:latin typeface="Calibri"/>
              </a:rPr>
              <a:t>Quote to Purchase Online &amp; DIA</a:t>
            </a:r>
          </a:p>
        </p:txBody>
      </p:sp>
      <p:sp>
        <p:nvSpPr>
          <p:cNvPr id="110" name="TextBox 109"/>
          <p:cNvSpPr txBox="1"/>
          <p:nvPr/>
        </p:nvSpPr>
        <p:spPr>
          <a:xfrm>
            <a:off x="5422392" y="5577840"/>
            <a:ext cx="1901952" cy="274320"/>
          </a:xfrm>
          <a:prstGeom prst="rect">
            <a:avLst/>
          </a:prstGeom>
          <a:noFill/>
        </p:spPr>
        <p:txBody>
          <a:bodyPr wrap="square">
            <a:spAutoFit/>
          </a:bodyPr>
          <a:lstStyle/>
          <a:p>
            <a:pPr algn="l"/>
            <a:r>
              <a:rPr sz="900" b="0" i="0">
                <a:solidFill>
                  <a:srgbClr val="3C3C3C"/>
                </a:solidFill>
                <a:latin typeface="Calibri"/>
              </a:rPr>
              <a:t>Tableau Other</a:t>
            </a:r>
          </a:p>
        </p:txBody>
      </p:sp>
      <p:sp>
        <p:nvSpPr>
          <p:cNvPr id="111" name="TextBox 110"/>
          <p:cNvSpPr txBox="1"/>
          <p:nvPr/>
        </p:nvSpPr>
        <p:spPr>
          <a:xfrm>
            <a:off x="7434072" y="5577840"/>
            <a:ext cx="1261872" cy="274320"/>
          </a:xfrm>
          <a:prstGeom prst="rect">
            <a:avLst/>
          </a:prstGeom>
          <a:noFill/>
        </p:spPr>
        <p:txBody>
          <a:bodyPr wrap="square">
            <a:spAutoFit/>
          </a:bodyPr>
          <a:lstStyle/>
          <a:p>
            <a:pPr algn="l"/>
            <a:r>
              <a:rPr sz="900" b="0" i="0">
                <a:solidFill>
                  <a:srgbClr val="3C3C3C"/>
                </a:solidFill>
                <a:latin typeface="Calibri"/>
              </a:rPr>
              <a:t>Salesforce</a:t>
            </a:r>
          </a:p>
        </p:txBody>
      </p:sp>
      <p:sp>
        <p:nvSpPr>
          <p:cNvPr id="112" name="TextBox 111"/>
          <p:cNvSpPr txBox="1"/>
          <p:nvPr/>
        </p:nvSpPr>
        <p:spPr>
          <a:xfrm>
            <a:off x="8805672" y="5577840"/>
            <a:ext cx="1536192" cy="274320"/>
          </a:xfrm>
          <a:prstGeom prst="rect">
            <a:avLst/>
          </a:prstGeom>
          <a:noFill/>
        </p:spPr>
        <p:txBody>
          <a:bodyPr wrap="square">
            <a:spAutoFit/>
          </a:bodyPr>
          <a:lstStyle/>
          <a:p>
            <a:pPr algn="l"/>
            <a:r>
              <a:rPr sz="900" b="0" i="0">
                <a:solidFill>
                  <a:srgbClr val="3C3C3C"/>
                </a:solidFill>
                <a:latin typeface="Calibri"/>
              </a:rPr>
              <a:t>Tableau</a:t>
            </a:r>
          </a:p>
        </p:txBody>
      </p:sp>
      <p:sp>
        <p:nvSpPr>
          <p:cNvPr id="113" name="TextBox 112"/>
          <p:cNvSpPr txBox="1"/>
          <p:nvPr/>
        </p:nvSpPr>
        <p:spPr>
          <a:xfrm>
            <a:off x="10497312" y="5577840"/>
            <a:ext cx="1581912" cy="274320"/>
          </a:xfrm>
          <a:prstGeom prst="rect">
            <a:avLst/>
          </a:prstGeom>
          <a:noFill/>
        </p:spPr>
        <p:txBody>
          <a:bodyPr wrap="square">
            <a:spAutoFit/>
          </a:bodyPr>
          <a:lstStyle/>
          <a:p>
            <a:pPr algn="l"/>
            <a:r>
              <a:rPr sz="900" b="0" i="0">
                <a:solidFill>
                  <a:srgbClr val="C41E3A"/>
                </a:solidFill>
                <a:latin typeface="Calibri"/>
              </a:rPr>
              <a:t>Blocked</a:t>
            </a:r>
          </a:p>
        </p:txBody>
      </p:sp>
      <p:sp>
        <p:nvSpPr>
          <p:cNvPr id="114" name="Rectangle 113"/>
          <p:cNvSpPr/>
          <p:nvPr/>
        </p:nvSpPr>
        <p:spPr>
          <a:xfrm>
            <a:off x="320040" y="5870448"/>
            <a:ext cx="11548872" cy="32918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0497312" y="5961888"/>
            <a:ext cx="137160" cy="137160"/>
          </a:xfrm>
          <a:prstGeom prst="rect">
            <a:avLst/>
          </a:prstGeom>
          <a:solidFill>
            <a:srgbClr val="E09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93192" y="5907024"/>
            <a:ext cx="4919472" cy="274320"/>
          </a:xfrm>
          <a:prstGeom prst="rect">
            <a:avLst/>
          </a:prstGeom>
          <a:noFill/>
        </p:spPr>
        <p:txBody>
          <a:bodyPr wrap="square">
            <a:spAutoFit/>
          </a:bodyPr>
          <a:lstStyle/>
          <a:p>
            <a:pPr algn="l"/>
            <a:r>
              <a:rPr sz="900" b="0" i="0">
                <a:solidFill>
                  <a:srgbClr val="3C3C3C"/>
                </a:solidFill>
                <a:latin typeface="Calibri"/>
              </a:rPr>
              <a:t>Online Accounts (UserEvents)</a:t>
            </a:r>
          </a:p>
        </p:txBody>
      </p:sp>
      <p:sp>
        <p:nvSpPr>
          <p:cNvPr id="117" name="TextBox 116"/>
          <p:cNvSpPr txBox="1"/>
          <p:nvPr/>
        </p:nvSpPr>
        <p:spPr>
          <a:xfrm>
            <a:off x="5422392" y="5907024"/>
            <a:ext cx="1901952" cy="274320"/>
          </a:xfrm>
          <a:prstGeom prst="rect">
            <a:avLst/>
          </a:prstGeom>
          <a:noFill/>
        </p:spPr>
        <p:txBody>
          <a:bodyPr wrap="square">
            <a:spAutoFit/>
          </a:bodyPr>
          <a:lstStyle/>
          <a:p>
            <a:pPr algn="l"/>
            <a:r>
              <a:rPr sz="900" b="0" i="0">
                <a:solidFill>
                  <a:srgbClr val="3C3C3C"/>
                </a:solidFill>
                <a:latin typeface="Calibri"/>
              </a:rPr>
              <a:t>Tableau Other</a:t>
            </a:r>
          </a:p>
        </p:txBody>
      </p:sp>
      <p:sp>
        <p:nvSpPr>
          <p:cNvPr id="118" name="TextBox 117"/>
          <p:cNvSpPr txBox="1"/>
          <p:nvPr/>
        </p:nvSpPr>
        <p:spPr>
          <a:xfrm>
            <a:off x="7434072" y="5907024"/>
            <a:ext cx="1261872" cy="274320"/>
          </a:xfrm>
          <a:prstGeom prst="rect">
            <a:avLst/>
          </a:prstGeom>
          <a:noFill/>
        </p:spPr>
        <p:txBody>
          <a:bodyPr wrap="square">
            <a:spAutoFit/>
          </a:bodyPr>
          <a:lstStyle/>
          <a:p>
            <a:pPr algn="l"/>
            <a:r>
              <a:rPr sz="900" b="0" i="0">
                <a:solidFill>
                  <a:srgbClr val="3C3C3C"/>
                </a:solidFill>
                <a:latin typeface="Calibri"/>
              </a:rPr>
              <a:t>AWM/DWM</a:t>
            </a:r>
          </a:p>
        </p:txBody>
      </p:sp>
      <p:sp>
        <p:nvSpPr>
          <p:cNvPr id="119" name="TextBox 118"/>
          <p:cNvSpPr txBox="1"/>
          <p:nvPr/>
        </p:nvSpPr>
        <p:spPr>
          <a:xfrm>
            <a:off x="8805672" y="5907024"/>
            <a:ext cx="1536192" cy="274320"/>
          </a:xfrm>
          <a:prstGeom prst="rect">
            <a:avLst/>
          </a:prstGeom>
          <a:noFill/>
        </p:spPr>
        <p:txBody>
          <a:bodyPr wrap="square">
            <a:spAutoFit/>
          </a:bodyPr>
          <a:lstStyle/>
          <a:p>
            <a:pPr algn="l"/>
            <a:r>
              <a:rPr sz="900" b="0" i="0">
                <a:solidFill>
                  <a:srgbClr val="3C3C3C"/>
                </a:solidFill>
                <a:latin typeface="Calibri"/>
              </a:rPr>
              <a:t>Tableau</a:t>
            </a:r>
          </a:p>
        </p:txBody>
      </p:sp>
      <p:sp>
        <p:nvSpPr>
          <p:cNvPr id="120" name="TextBox 119"/>
          <p:cNvSpPr txBox="1"/>
          <p:nvPr/>
        </p:nvSpPr>
        <p:spPr>
          <a:xfrm>
            <a:off x="10497312" y="5907024"/>
            <a:ext cx="1581912" cy="274320"/>
          </a:xfrm>
          <a:prstGeom prst="rect">
            <a:avLst/>
          </a:prstGeom>
          <a:noFill/>
        </p:spPr>
        <p:txBody>
          <a:bodyPr wrap="square">
            <a:spAutoFit/>
          </a:bodyPr>
          <a:lstStyle/>
          <a:p>
            <a:pPr algn="l"/>
            <a:r>
              <a:rPr sz="900" b="0" i="0">
                <a:solidFill>
                  <a:srgbClr val="E09A00"/>
                </a:solidFill>
                <a:latin typeface="Calibri"/>
              </a:rPr>
              <a:t>In Progress</a:t>
            </a:r>
          </a:p>
        </p:txBody>
      </p:sp>
      <p:sp>
        <p:nvSpPr>
          <p:cNvPr id="121" name="Rectangle 120"/>
          <p:cNvSpPr/>
          <p:nvPr/>
        </p:nvSpPr>
        <p:spPr>
          <a:xfrm>
            <a:off x="320040" y="6199632"/>
            <a:ext cx="11548872"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0497312" y="6291072"/>
            <a:ext cx="137160" cy="137160"/>
          </a:xfrm>
          <a:prstGeom prst="rect">
            <a:avLst/>
          </a:prstGeom>
          <a:solidFill>
            <a:srgbClr val="E09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393192" y="6236208"/>
            <a:ext cx="4919472" cy="274320"/>
          </a:xfrm>
          <a:prstGeom prst="rect">
            <a:avLst/>
          </a:prstGeom>
          <a:noFill/>
        </p:spPr>
        <p:txBody>
          <a:bodyPr wrap="square">
            <a:spAutoFit/>
          </a:bodyPr>
          <a:lstStyle/>
          <a:p>
            <a:pPr algn="l"/>
            <a:r>
              <a:rPr sz="900" b="0" i="0">
                <a:solidFill>
                  <a:srgbClr val="3C3C3C"/>
                </a:solidFill>
                <a:latin typeface="Calibri"/>
              </a:rPr>
              <a:t>Agent Dashboard (SSRS Reconciliation)</a:t>
            </a:r>
          </a:p>
        </p:txBody>
      </p:sp>
      <p:sp>
        <p:nvSpPr>
          <p:cNvPr id="124" name="TextBox 123"/>
          <p:cNvSpPr txBox="1"/>
          <p:nvPr/>
        </p:nvSpPr>
        <p:spPr>
          <a:xfrm>
            <a:off x="5422392" y="6236208"/>
            <a:ext cx="1901952" cy="274320"/>
          </a:xfrm>
          <a:prstGeom prst="rect">
            <a:avLst/>
          </a:prstGeom>
          <a:noFill/>
        </p:spPr>
        <p:txBody>
          <a:bodyPr wrap="square">
            <a:spAutoFit/>
          </a:bodyPr>
          <a:lstStyle/>
          <a:p>
            <a:pPr algn="l"/>
            <a:r>
              <a:rPr sz="900" b="0" i="0">
                <a:solidFill>
                  <a:srgbClr val="3C3C3C"/>
                </a:solidFill>
                <a:latin typeface="Calibri"/>
              </a:rPr>
              <a:t>Agent Dashboard</a:t>
            </a:r>
          </a:p>
        </p:txBody>
      </p:sp>
      <p:sp>
        <p:nvSpPr>
          <p:cNvPr id="125" name="TextBox 124"/>
          <p:cNvSpPr txBox="1"/>
          <p:nvPr/>
        </p:nvSpPr>
        <p:spPr>
          <a:xfrm>
            <a:off x="7434072" y="6236208"/>
            <a:ext cx="1261872" cy="274320"/>
          </a:xfrm>
          <a:prstGeom prst="rect">
            <a:avLst/>
          </a:prstGeom>
          <a:noFill/>
        </p:spPr>
        <p:txBody>
          <a:bodyPr wrap="square">
            <a:spAutoFit/>
          </a:bodyPr>
          <a:lstStyle/>
          <a:p>
            <a:pPr algn="l"/>
            <a:r>
              <a:rPr sz="900" b="0" i="0">
                <a:solidFill>
                  <a:srgbClr val="3C3C3C"/>
                </a:solidFill>
                <a:latin typeface="Calibri"/>
              </a:rPr>
              <a:t>BIM/EDW</a:t>
            </a:r>
          </a:p>
        </p:txBody>
      </p:sp>
      <p:sp>
        <p:nvSpPr>
          <p:cNvPr id="126" name="TextBox 125"/>
          <p:cNvSpPr txBox="1"/>
          <p:nvPr/>
        </p:nvSpPr>
        <p:spPr>
          <a:xfrm>
            <a:off x="8805672" y="6236208"/>
            <a:ext cx="1536192" cy="274320"/>
          </a:xfrm>
          <a:prstGeom prst="rect">
            <a:avLst/>
          </a:prstGeom>
          <a:noFill/>
        </p:spPr>
        <p:txBody>
          <a:bodyPr wrap="square">
            <a:spAutoFit/>
          </a:bodyPr>
          <a:lstStyle/>
          <a:p>
            <a:pPr algn="l"/>
            <a:r>
              <a:rPr sz="900" b="0" i="0">
                <a:solidFill>
                  <a:srgbClr val="3C3C3C"/>
                </a:solidFill>
                <a:latin typeface="Calibri"/>
              </a:rPr>
              <a:t>SSRS</a:t>
            </a:r>
          </a:p>
        </p:txBody>
      </p:sp>
      <p:sp>
        <p:nvSpPr>
          <p:cNvPr id="127" name="TextBox 126"/>
          <p:cNvSpPr txBox="1"/>
          <p:nvPr/>
        </p:nvSpPr>
        <p:spPr>
          <a:xfrm>
            <a:off x="10497312" y="6236208"/>
            <a:ext cx="1581912" cy="274320"/>
          </a:xfrm>
          <a:prstGeom prst="rect">
            <a:avLst/>
          </a:prstGeom>
          <a:noFill/>
        </p:spPr>
        <p:txBody>
          <a:bodyPr wrap="square">
            <a:spAutoFit/>
          </a:bodyPr>
          <a:lstStyle/>
          <a:p>
            <a:pPr algn="l"/>
            <a:r>
              <a:rPr sz="900" b="0" i="0">
                <a:solidFill>
                  <a:srgbClr val="E09A00"/>
                </a:solidFill>
                <a:latin typeface="Calibri"/>
              </a:rPr>
              <a:t>In Progress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9144000" cy="502920"/>
          </a:xfrm>
          <a:prstGeom prst="rect">
            <a:avLst/>
          </a:prstGeom>
          <a:noFill/>
        </p:spPr>
        <p:txBody>
          <a:bodyPr wrap="square">
            <a:spAutoFit/>
          </a:bodyPr>
          <a:lstStyle/>
          <a:p>
            <a:pPr algn="l"/>
            <a:r>
              <a:rPr sz="2200" b="1" i="0">
                <a:solidFill>
                  <a:srgbClr val="FFFFFF"/>
                </a:solidFill>
                <a:latin typeface="Calibri"/>
              </a:rPr>
              <a:t>Tableau Consolidation: 5 Reports → 1 Unified Source</a:t>
            </a:r>
          </a:p>
        </p:txBody>
      </p:sp>
      <p:sp>
        <p:nvSpPr>
          <p:cNvPr id="5" name="TextBox 4"/>
          <p:cNvSpPr txBox="1"/>
          <p:nvPr/>
        </p:nvSpPr>
        <p:spPr>
          <a:xfrm>
            <a:off x="320040" y="548640"/>
            <a:ext cx="9144000" cy="320040"/>
          </a:xfrm>
          <a:prstGeom prst="rect">
            <a:avLst/>
          </a:prstGeom>
          <a:noFill/>
        </p:spPr>
        <p:txBody>
          <a:bodyPr wrap="square">
            <a:spAutoFit/>
          </a:bodyPr>
          <a:lstStyle/>
          <a:p>
            <a:pPr algn="l"/>
            <a:r>
              <a:rPr sz="1100" b="0" i="0">
                <a:solidFill>
                  <a:srgbClr val="B0B8C8"/>
                </a:solidFill>
                <a:latin typeface="Calibri"/>
              </a:rPr>
              <a:t>Eliminating fragmentation — single AWM/DWM data source, consistent logic everywhere</a:t>
            </a:r>
          </a:p>
        </p:txBody>
      </p:sp>
      <p:sp>
        <p:nvSpPr>
          <p:cNvPr id="6" name="Rectangle 5"/>
          <p:cNvSpPr/>
          <p:nvPr/>
        </p:nvSpPr>
        <p:spPr>
          <a:xfrm>
            <a:off x="0" y="868680"/>
            <a:ext cx="12188952" cy="36576"/>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88952" cy="27432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8229600" cy="274320"/>
          </a:xfrm>
          <a:prstGeom prst="rect">
            <a:avLst/>
          </a:prstGeom>
          <a:noFill/>
        </p:spPr>
        <p:txBody>
          <a:bodyPr wrap="square">
            <a:spAutoFit/>
          </a:bodyPr>
          <a:lstStyle/>
          <a:p>
            <a:pPr algn="l"/>
            <a:r>
              <a:rPr sz="800" b="0" i="0">
                <a:solidFill>
                  <a:srgbClr val="B0B8C8"/>
                </a:solidFill>
                <a:latin typeface="Calibri"/>
              </a:rPr>
              <a:t>Bourntec Solutions  |  PEMCO Mutual Insurance  |  Confidential — May 2026</a:t>
            </a:r>
          </a:p>
        </p:txBody>
      </p:sp>
      <p:sp>
        <p:nvSpPr>
          <p:cNvPr id="9" name="Rectangle 8"/>
          <p:cNvSpPr/>
          <p:nvPr/>
        </p:nvSpPr>
        <p:spPr>
          <a:xfrm>
            <a:off x="320040" y="1005840"/>
            <a:ext cx="4663440"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005840"/>
            <a:ext cx="4663440" cy="347472"/>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024128"/>
            <a:ext cx="4480560" cy="292608"/>
          </a:xfrm>
          <a:prstGeom prst="rect">
            <a:avLst/>
          </a:prstGeom>
          <a:noFill/>
        </p:spPr>
        <p:txBody>
          <a:bodyPr wrap="square">
            <a:spAutoFit/>
          </a:bodyPr>
          <a:lstStyle/>
          <a:p>
            <a:pPr algn="l"/>
            <a:r>
              <a:rPr sz="1000" b="1" i="0">
                <a:solidFill>
                  <a:srgbClr val="FFFFFF"/>
                </a:solidFill>
                <a:latin typeface="Calibri"/>
              </a:rPr>
              <a:t>BEFORE — 5 Disconnected BIM Sources</a:t>
            </a:r>
          </a:p>
        </p:txBody>
      </p:sp>
      <p:sp>
        <p:nvSpPr>
          <p:cNvPr id="12" name="Rectangle 11"/>
          <p:cNvSpPr/>
          <p:nvPr/>
        </p:nvSpPr>
        <p:spPr>
          <a:xfrm>
            <a:off x="502920" y="1481328"/>
            <a:ext cx="4297680" cy="47548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81328"/>
            <a:ext cx="73152" cy="475488"/>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572768"/>
            <a:ext cx="4160520" cy="292608"/>
          </a:xfrm>
          <a:prstGeom prst="rect">
            <a:avLst/>
          </a:prstGeom>
          <a:noFill/>
        </p:spPr>
        <p:txBody>
          <a:bodyPr wrap="square">
            <a:spAutoFit/>
          </a:bodyPr>
          <a:lstStyle/>
          <a:p>
            <a:pPr algn="l"/>
            <a:r>
              <a:rPr sz="1000" b="0" i="0">
                <a:solidFill>
                  <a:srgbClr val="3C3C3C"/>
                </a:solidFill>
                <a:latin typeface="Calibri"/>
              </a:rPr>
              <a:t>Paper Report</a:t>
            </a:r>
          </a:p>
        </p:txBody>
      </p:sp>
      <p:sp>
        <p:nvSpPr>
          <p:cNvPr id="15" name="TextBox 14"/>
          <p:cNvSpPr txBox="1"/>
          <p:nvPr/>
        </p:nvSpPr>
        <p:spPr>
          <a:xfrm>
            <a:off x="685800" y="1792224"/>
            <a:ext cx="4160520" cy="182880"/>
          </a:xfrm>
          <a:prstGeom prst="rect">
            <a:avLst/>
          </a:prstGeom>
          <a:noFill/>
        </p:spPr>
        <p:txBody>
          <a:bodyPr wrap="square">
            <a:spAutoFit/>
          </a:bodyPr>
          <a:lstStyle/>
          <a:p>
            <a:pPr algn="l"/>
            <a:r>
              <a:rPr sz="800" b="0" i="1">
                <a:solidFill>
                  <a:srgbClr val="C41E3A"/>
                </a:solidFill>
                <a:latin typeface="Calibri"/>
              </a:rPr>
              <a:t>Source: BIM (Monthly ETL)</a:t>
            </a:r>
          </a:p>
        </p:txBody>
      </p:sp>
      <p:sp>
        <p:nvSpPr>
          <p:cNvPr id="16" name="Rectangle 15"/>
          <p:cNvSpPr/>
          <p:nvPr/>
        </p:nvSpPr>
        <p:spPr>
          <a:xfrm>
            <a:off x="502920" y="2048256"/>
            <a:ext cx="4297680" cy="47548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048256"/>
            <a:ext cx="73152" cy="475488"/>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39696"/>
            <a:ext cx="4160520" cy="292608"/>
          </a:xfrm>
          <a:prstGeom prst="rect">
            <a:avLst/>
          </a:prstGeom>
          <a:noFill/>
        </p:spPr>
        <p:txBody>
          <a:bodyPr wrap="square">
            <a:spAutoFit/>
          </a:bodyPr>
          <a:lstStyle/>
          <a:p>
            <a:pPr algn="l"/>
            <a:r>
              <a:rPr sz="1000" b="0" i="0">
                <a:solidFill>
                  <a:srgbClr val="3C3C3C"/>
                </a:solidFill>
                <a:latin typeface="Calibri"/>
              </a:rPr>
              <a:t>Online Accounts — Household &amp; Paperless</a:t>
            </a:r>
          </a:p>
        </p:txBody>
      </p:sp>
      <p:sp>
        <p:nvSpPr>
          <p:cNvPr id="19" name="TextBox 18"/>
          <p:cNvSpPr txBox="1"/>
          <p:nvPr/>
        </p:nvSpPr>
        <p:spPr>
          <a:xfrm>
            <a:off x="685800" y="2359152"/>
            <a:ext cx="4160520" cy="182880"/>
          </a:xfrm>
          <a:prstGeom prst="rect">
            <a:avLst/>
          </a:prstGeom>
          <a:noFill/>
        </p:spPr>
        <p:txBody>
          <a:bodyPr wrap="square">
            <a:spAutoFit/>
          </a:bodyPr>
          <a:lstStyle/>
          <a:p>
            <a:pPr algn="l"/>
            <a:r>
              <a:rPr sz="800" b="0" i="1">
                <a:solidFill>
                  <a:srgbClr val="C41E3A"/>
                </a:solidFill>
                <a:latin typeface="Calibri"/>
              </a:rPr>
              <a:t>Source: BIM (Monthly ETL)</a:t>
            </a:r>
          </a:p>
        </p:txBody>
      </p:sp>
      <p:sp>
        <p:nvSpPr>
          <p:cNvPr id="20" name="Rectangle 19"/>
          <p:cNvSpPr/>
          <p:nvPr/>
        </p:nvSpPr>
        <p:spPr>
          <a:xfrm>
            <a:off x="502920" y="2615184"/>
            <a:ext cx="4297680" cy="47548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2615184"/>
            <a:ext cx="73152" cy="475488"/>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706624"/>
            <a:ext cx="4160520" cy="292608"/>
          </a:xfrm>
          <a:prstGeom prst="rect">
            <a:avLst/>
          </a:prstGeom>
          <a:noFill/>
        </p:spPr>
        <p:txBody>
          <a:bodyPr wrap="square">
            <a:spAutoFit/>
          </a:bodyPr>
          <a:lstStyle/>
          <a:p>
            <a:pPr algn="l"/>
            <a:r>
              <a:rPr sz="1000" b="0" i="0">
                <a:solidFill>
                  <a:srgbClr val="3C3C3C"/>
                </a:solidFill>
                <a:latin typeface="Calibri"/>
              </a:rPr>
              <a:t>Paperless Policies by State &amp; Policy Type</a:t>
            </a:r>
          </a:p>
        </p:txBody>
      </p:sp>
      <p:sp>
        <p:nvSpPr>
          <p:cNvPr id="23" name="TextBox 22"/>
          <p:cNvSpPr txBox="1"/>
          <p:nvPr/>
        </p:nvSpPr>
        <p:spPr>
          <a:xfrm>
            <a:off x="685800" y="2926080"/>
            <a:ext cx="4160520" cy="182880"/>
          </a:xfrm>
          <a:prstGeom prst="rect">
            <a:avLst/>
          </a:prstGeom>
          <a:noFill/>
        </p:spPr>
        <p:txBody>
          <a:bodyPr wrap="square">
            <a:spAutoFit/>
          </a:bodyPr>
          <a:lstStyle/>
          <a:p>
            <a:pPr algn="l"/>
            <a:r>
              <a:rPr sz="800" b="0" i="1">
                <a:solidFill>
                  <a:srgbClr val="C41E3A"/>
                </a:solidFill>
                <a:latin typeface="Calibri"/>
              </a:rPr>
              <a:t>Source: BIM (Monthly ETL)</a:t>
            </a:r>
          </a:p>
        </p:txBody>
      </p:sp>
      <p:sp>
        <p:nvSpPr>
          <p:cNvPr id="24" name="Rectangle 23"/>
          <p:cNvSpPr/>
          <p:nvPr/>
        </p:nvSpPr>
        <p:spPr>
          <a:xfrm>
            <a:off x="502920" y="3182112"/>
            <a:ext cx="4297680" cy="47548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3182112"/>
            <a:ext cx="73152" cy="475488"/>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273552"/>
            <a:ext cx="4160520" cy="292608"/>
          </a:xfrm>
          <a:prstGeom prst="rect">
            <a:avLst/>
          </a:prstGeom>
          <a:noFill/>
        </p:spPr>
        <p:txBody>
          <a:bodyPr wrap="square">
            <a:spAutoFit/>
          </a:bodyPr>
          <a:lstStyle/>
          <a:p>
            <a:pPr algn="l"/>
            <a:r>
              <a:rPr sz="1000" b="0" i="0">
                <a:solidFill>
                  <a:srgbClr val="3C3C3C"/>
                </a:solidFill>
                <a:latin typeface="Calibri"/>
              </a:rPr>
              <a:t>Percent of Households with Online Accounts</a:t>
            </a:r>
          </a:p>
        </p:txBody>
      </p:sp>
      <p:sp>
        <p:nvSpPr>
          <p:cNvPr id="27" name="TextBox 26"/>
          <p:cNvSpPr txBox="1"/>
          <p:nvPr/>
        </p:nvSpPr>
        <p:spPr>
          <a:xfrm>
            <a:off x="685800" y="3493008"/>
            <a:ext cx="4160520" cy="182880"/>
          </a:xfrm>
          <a:prstGeom prst="rect">
            <a:avLst/>
          </a:prstGeom>
          <a:noFill/>
        </p:spPr>
        <p:txBody>
          <a:bodyPr wrap="square">
            <a:spAutoFit/>
          </a:bodyPr>
          <a:lstStyle/>
          <a:p>
            <a:pPr algn="l"/>
            <a:r>
              <a:rPr sz="800" b="0" i="1">
                <a:solidFill>
                  <a:srgbClr val="C41E3A"/>
                </a:solidFill>
                <a:latin typeface="Calibri"/>
              </a:rPr>
              <a:t>Source: BIM (Monthly ETL)</a:t>
            </a:r>
          </a:p>
        </p:txBody>
      </p:sp>
      <p:sp>
        <p:nvSpPr>
          <p:cNvPr id="28" name="Rectangle 27"/>
          <p:cNvSpPr/>
          <p:nvPr/>
        </p:nvSpPr>
        <p:spPr>
          <a:xfrm>
            <a:off x="502920" y="3749040"/>
            <a:ext cx="4297680" cy="47548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3749040"/>
            <a:ext cx="73152" cy="475488"/>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840480"/>
            <a:ext cx="4160520" cy="292608"/>
          </a:xfrm>
          <a:prstGeom prst="rect">
            <a:avLst/>
          </a:prstGeom>
          <a:noFill/>
        </p:spPr>
        <p:txBody>
          <a:bodyPr wrap="square">
            <a:spAutoFit/>
          </a:bodyPr>
          <a:lstStyle/>
          <a:p>
            <a:pPr algn="l"/>
            <a:r>
              <a:rPr sz="1000" b="0" i="0">
                <a:solidFill>
                  <a:srgbClr val="3C3C3C"/>
                </a:solidFill>
                <a:latin typeface="Calibri"/>
              </a:rPr>
              <a:t>Paperless Online Accounts</a:t>
            </a:r>
          </a:p>
        </p:txBody>
      </p:sp>
      <p:sp>
        <p:nvSpPr>
          <p:cNvPr id="31" name="TextBox 30"/>
          <p:cNvSpPr txBox="1"/>
          <p:nvPr/>
        </p:nvSpPr>
        <p:spPr>
          <a:xfrm>
            <a:off x="685800" y="4059936"/>
            <a:ext cx="4160520" cy="182880"/>
          </a:xfrm>
          <a:prstGeom prst="rect">
            <a:avLst/>
          </a:prstGeom>
          <a:noFill/>
        </p:spPr>
        <p:txBody>
          <a:bodyPr wrap="square">
            <a:spAutoFit/>
          </a:bodyPr>
          <a:lstStyle/>
          <a:p>
            <a:pPr algn="l"/>
            <a:r>
              <a:rPr sz="800" b="0" i="1">
                <a:solidFill>
                  <a:srgbClr val="C41E3A"/>
                </a:solidFill>
                <a:latin typeface="Calibri"/>
              </a:rPr>
              <a:t>Source: BIM (Monthly ETL)</a:t>
            </a:r>
          </a:p>
        </p:txBody>
      </p:sp>
      <p:sp>
        <p:nvSpPr>
          <p:cNvPr id="32" name="Rectangle 31"/>
          <p:cNvSpPr/>
          <p:nvPr/>
        </p:nvSpPr>
        <p:spPr>
          <a:xfrm>
            <a:off x="457200" y="4343400"/>
            <a:ext cx="4389120" cy="1920240"/>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4407408"/>
            <a:ext cx="4251960" cy="1737360"/>
          </a:xfrm>
          <a:prstGeom prst="rect">
            <a:avLst/>
          </a:prstGeom>
          <a:noFill/>
        </p:spPr>
        <p:txBody>
          <a:bodyPr wrap="square">
            <a:spAutoFit/>
          </a:bodyPr>
          <a:lstStyle/>
          <a:p>
            <a:pPr algn="l">
              <a:spcBef>
                <a:spcPts val="200"/>
              </a:spcBef>
            </a:pPr>
            <a:r>
              <a:rPr sz="1000" b="1">
                <a:solidFill>
                  <a:srgbClr val="C41E3A"/>
                </a:solidFill>
                <a:latin typeface="Calibri"/>
              </a:rPr>
              <a:t>Issues with this approach:</a:t>
            </a:r>
          </a:p>
          <a:p>
            <a:pPr algn="l">
              <a:spcBef>
                <a:spcPts val="200"/>
              </a:spcBef>
            </a:pPr>
            <a:r>
              <a:rPr sz="1000" b="0">
                <a:solidFill>
                  <a:srgbClr val="3C3C3C"/>
                </a:solidFill>
                <a:latin typeface="Calibri"/>
              </a:rPr>
              <a:t>›  Duplicate logic maintained in 5 separate workbooks</a:t>
            </a:r>
          </a:p>
          <a:p>
            <a:pPr algn="l">
              <a:spcBef>
                <a:spcPts val="200"/>
              </a:spcBef>
            </a:pPr>
            <a:r>
              <a:rPr sz="1000" b="0">
                <a:solidFill>
                  <a:srgbClr val="3C3C3C"/>
                </a:solidFill>
                <a:latin typeface="Calibri"/>
              </a:rPr>
              <a:t>›  Inconsistent definitions — numbers differed across reports</a:t>
            </a:r>
          </a:p>
          <a:p>
            <a:pPr algn="l">
              <a:spcBef>
                <a:spcPts val="200"/>
              </a:spcBef>
            </a:pPr>
            <a:r>
              <a:rPr sz="1000" b="0">
                <a:solidFill>
                  <a:srgbClr val="3C3C3C"/>
                </a:solidFill>
                <a:latin typeface="Calibri"/>
              </a:rPr>
              <a:t>›  Any BIM ETL delay broke all 5 dashboards simultaneously</a:t>
            </a:r>
          </a:p>
          <a:p>
            <a:pPr algn="l">
              <a:spcBef>
                <a:spcPts val="200"/>
              </a:spcBef>
            </a:pPr>
            <a:r>
              <a:rPr sz="1000" b="0">
                <a:solidFill>
                  <a:srgbClr val="3C3C3C"/>
                </a:solidFill>
                <a:latin typeface="Calibri"/>
              </a:rPr>
              <a:t>›  5× the maintenance burden for any data model change</a:t>
            </a:r>
          </a:p>
        </p:txBody>
      </p:sp>
      <p:sp>
        <p:nvSpPr>
          <p:cNvPr id="34" name="TextBox 33"/>
          <p:cNvSpPr txBox="1"/>
          <p:nvPr/>
        </p:nvSpPr>
        <p:spPr>
          <a:xfrm>
            <a:off x="5074920" y="3108960"/>
            <a:ext cx="731520" cy="640080"/>
          </a:xfrm>
          <a:prstGeom prst="rect">
            <a:avLst/>
          </a:prstGeom>
          <a:noFill/>
        </p:spPr>
        <p:txBody>
          <a:bodyPr wrap="square">
            <a:spAutoFit/>
          </a:bodyPr>
          <a:lstStyle/>
          <a:p>
            <a:pPr algn="ctr"/>
            <a:r>
              <a:rPr sz="4200" b="1" i="0">
                <a:solidFill>
                  <a:srgbClr val="1E8A44"/>
                </a:solidFill>
                <a:latin typeface="Calibri"/>
              </a:rPr>
              <a:t>→</a:t>
            </a:r>
          </a:p>
        </p:txBody>
      </p:sp>
      <p:sp>
        <p:nvSpPr>
          <p:cNvPr id="35" name="Rectangle 34"/>
          <p:cNvSpPr/>
          <p:nvPr/>
        </p:nvSpPr>
        <p:spPr>
          <a:xfrm>
            <a:off x="5897880" y="1005840"/>
            <a:ext cx="6080760"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97880" y="1005840"/>
            <a:ext cx="6080760" cy="347472"/>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35040" y="1024128"/>
            <a:ext cx="5897880" cy="292608"/>
          </a:xfrm>
          <a:prstGeom prst="rect">
            <a:avLst/>
          </a:prstGeom>
          <a:noFill/>
        </p:spPr>
        <p:txBody>
          <a:bodyPr wrap="square">
            <a:spAutoFit/>
          </a:bodyPr>
          <a:lstStyle/>
          <a:p>
            <a:pPr algn="l"/>
            <a:r>
              <a:rPr sz="1000" b="1" i="0">
                <a:solidFill>
                  <a:srgbClr val="FFFFFF"/>
                </a:solidFill>
                <a:latin typeface="Calibri"/>
              </a:rPr>
              <a:t>AFTER — 1 Unified Report, Single AWM/DWM Source</a:t>
            </a:r>
          </a:p>
        </p:txBody>
      </p:sp>
      <p:sp>
        <p:nvSpPr>
          <p:cNvPr id="38" name="Rectangle 37"/>
          <p:cNvSpPr/>
          <p:nvPr/>
        </p:nvSpPr>
        <p:spPr>
          <a:xfrm>
            <a:off x="6126480" y="1508760"/>
            <a:ext cx="5623560" cy="1005840"/>
          </a:xfrm>
          <a:prstGeom prst="rect">
            <a:avLst/>
          </a:prstGeom>
          <a:solidFill>
            <a:srgbClr val="E8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6480" y="1508760"/>
            <a:ext cx="91440" cy="100584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1600200"/>
            <a:ext cx="5349240" cy="292608"/>
          </a:xfrm>
          <a:prstGeom prst="rect">
            <a:avLst/>
          </a:prstGeom>
          <a:noFill/>
        </p:spPr>
        <p:txBody>
          <a:bodyPr wrap="square">
            <a:spAutoFit/>
          </a:bodyPr>
          <a:lstStyle/>
          <a:p>
            <a:pPr algn="l"/>
            <a:r>
              <a:rPr sz="1200" b="1" i="0">
                <a:solidFill>
                  <a:srgbClr val="1E8A44"/>
                </a:solidFill>
                <a:latin typeface="Calibri"/>
              </a:rPr>
              <a:t>Consolidated Tableau Report</a:t>
            </a:r>
          </a:p>
        </p:txBody>
      </p:sp>
      <p:sp>
        <p:nvSpPr>
          <p:cNvPr id="41" name="TextBox 40"/>
          <p:cNvSpPr txBox="1"/>
          <p:nvPr/>
        </p:nvSpPr>
        <p:spPr>
          <a:xfrm>
            <a:off x="6355080" y="1892807"/>
            <a:ext cx="5349240" cy="256032"/>
          </a:xfrm>
          <a:prstGeom prst="rect">
            <a:avLst/>
          </a:prstGeom>
          <a:noFill/>
        </p:spPr>
        <p:txBody>
          <a:bodyPr wrap="square">
            <a:spAutoFit/>
          </a:bodyPr>
          <a:lstStyle/>
          <a:p>
            <a:pPr algn="l"/>
            <a:r>
              <a:rPr sz="900" b="0" i="0">
                <a:solidFill>
                  <a:srgbClr val="3C3C3C"/>
                </a:solidFill>
                <a:latin typeface="Calibri"/>
              </a:rPr>
              <a:t>Single shared AWM/DWM data source  |  All 5 views in one workbook</a:t>
            </a:r>
          </a:p>
        </p:txBody>
      </p:sp>
      <p:sp>
        <p:nvSpPr>
          <p:cNvPr id="42" name="TextBox 41"/>
          <p:cNvSpPr txBox="1"/>
          <p:nvPr/>
        </p:nvSpPr>
        <p:spPr>
          <a:xfrm>
            <a:off x="6355080" y="2148840"/>
            <a:ext cx="5349240" cy="201168"/>
          </a:xfrm>
          <a:prstGeom prst="rect">
            <a:avLst/>
          </a:prstGeom>
          <a:noFill/>
        </p:spPr>
        <p:txBody>
          <a:bodyPr wrap="square">
            <a:spAutoFit/>
          </a:bodyPr>
          <a:lstStyle/>
          <a:p>
            <a:pPr algn="l"/>
            <a:r>
              <a:rPr sz="800" b="0" i="1">
                <a:solidFill>
                  <a:srgbClr val="1E8A44"/>
                </a:solidFill>
                <a:latin typeface="Calibri"/>
              </a:rPr>
              <a:t>Source: AWM / DWM (Enterprise Data Warehouse)</a:t>
            </a:r>
          </a:p>
        </p:txBody>
      </p:sp>
      <p:sp>
        <p:nvSpPr>
          <p:cNvPr id="43" name="TextBox 42"/>
          <p:cNvSpPr txBox="1"/>
          <p:nvPr/>
        </p:nvSpPr>
        <p:spPr>
          <a:xfrm>
            <a:off x="6126480" y="2606040"/>
            <a:ext cx="5715000" cy="274320"/>
          </a:xfrm>
          <a:prstGeom prst="rect">
            <a:avLst/>
          </a:prstGeom>
          <a:noFill/>
        </p:spPr>
        <p:txBody>
          <a:bodyPr wrap="square">
            <a:spAutoFit/>
          </a:bodyPr>
          <a:lstStyle/>
          <a:p>
            <a:pPr algn="l"/>
            <a:r>
              <a:rPr sz="1000" b="1" i="0">
                <a:solidFill>
                  <a:srgbClr val="1A3055"/>
                </a:solidFill>
                <a:latin typeface="Calibri"/>
              </a:rPr>
              <a:t>Benefits Delivered</a:t>
            </a:r>
          </a:p>
        </p:txBody>
      </p:sp>
      <p:sp>
        <p:nvSpPr>
          <p:cNvPr id="44" name="Rectangle 43"/>
          <p:cNvSpPr/>
          <p:nvPr/>
        </p:nvSpPr>
        <p:spPr>
          <a:xfrm>
            <a:off x="6126480" y="2926080"/>
            <a:ext cx="5623560" cy="51206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63640" y="2962656"/>
            <a:ext cx="1645920" cy="237744"/>
          </a:xfrm>
          <a:prstGeom prst="rect">
            <a:avLst/>
          </a:prstGeom>
          <a:noFill/>
        </p:spPr>
        <p:txBody>
          <a:bodyPr wrap="square">
            <a:spAutoFit/>
          </a:bodyPr>
          <a:lstStyle/>
          <a:p>
            <a:pPr algn="l"/>
            <a:r>
              <a:rPr sz="1000" b="1" i="0">
                <a:solidFill>
                  <a:srgbClr val="1E8A44"/>
                </a:solidFill>
                <a:latin typeface="Calibri"/>
              </a:rPr>
              <a:t>✓  Maintenance</a:t>
            </a:r>
          </a:p>
        </p:txBody>
      </p:sp>
      <p:sp>
        <p:nvSpPr>
          <p:cNvPr id="46" name="TextBox 45"/>
          <p:cNvSpPr txBox="1"/>
          <p:nvPr/>
        </p:nvSpPr>
        <p:spPr>
          <a:xfrm>
            <a:off x="7909560" y="2962656"/>
            <a:ext cx="3794760" cy="457200"/>
          </a:xfrm>
          <a:prstGeom prst="rect">
            <a:avLst/>
          </a:prstGeom>
          <a:noFill/>
        </p:spPr>
        <p:txBody>
          <a:bodyPr wrap="square">
            <a:spAutoFit/>
          </a:bodyPr>
          <a:lstStyle/>
          <a:p>
            <a:pPr algn="l"/>
            <a:r>
              <a:rPr sz="1000" b="0" i="0">
                <a:solidFill>
                  <a:srgbClr val="3C3C3C"/>
                </a:solidFill>
                <a:latin typeface="Calibri"/>
              </a:rPr>
              <a:t>1 workbook to maintain vs 5 — 80% reduction in update overhead</a:t>
            </a:r>
          </a:p>
        </p:txBody>
      </p:sp>
      <p:sp>
        <p:nvSpPr>
          <p:cNvPr id="47" name="Rectangle 46"/>
          <p:cNvSpPr/>
          <p:nvPr/>
        </p:nvSpPr>
        <p:spPr>
          <a:xfrm>
            <a:off x="6126480" y="3493008"/>
            <a:ext cx="5623560" cy="51206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63640" y="3529584"/>
            <a:ext cx="1645920" cy="237744"/>
          </a:xfrm>
          <a:prstGeom prst="rect">
            <a:avLst/>
          </a:prstGeom>
          <a:noFill/>
        </p:spPr>
        <p:txBody>
          <a:bodyPr wrap="square">
            <a:spAutoFit/>
          </a:bodyPr>
          <a:lstStyle/>
          <a:p>
            <a:pPr algn="l"/>
            <a:r>
              <a:rPr sz="1000" b="1" i="0">
                <a:solidFill>
                  <a:srgbClr val="1E8A44"/>
                </a:solidFill>
                <a:latin typeface="Calibri"/>
              </a:rPr>
              <a:t>✓  Consistency</a:t>
            </a:r>
          </a:p>
        </p:txBody>
      </p:sp>
      <p:sp>
        <p:nvSpPr>
          <p:cNvPr id="49" name="TextBox 48"/>
          <p:cNvSpPr txBox="1"/>
          <p:nvPr/>
        </p:nvSpPr>
        <p:spPr>
          <a:xfrm>
            <a:off x="7909560" y="3529584"/>
            <a:ext cx="3794760" cy="457200"/>
          </a:xfrm>
          <a:prstGeom prst="rect">
            <a:avLst/>
          </a:prstGeom>
          <a:noFill/>
        </p:spPr>
        <p:txBody>
          <a:bodyPr wrap="square">
            <a:spAutoFit/>
          </a:bodyPr>
          <a:lstStyle/>
          <a:p>
            <a:pPr algn="l"/>
            <a:r>
              <a:rPr sz="1000" b="0" i="0">
                <a:solidFill>
                  <a:srgbClr val="3C3C3C"/>
                </a:solidFill>
                <a:latin typeface="Calibri"/>
              </a:rPr>
              <a:t>Identical business logic across all views — numbers always agree</a:t>
            </a:r>
          </a:p>
        </p:txBody>
      </p:sp>
      <p:sp>
        <p:nvSpPr>
          <p:cNvPr id="50" name="Rectangle 49"/>
          <p:cNvSpPr/>
          <p:nvPr/>
        </p:nvSpPr>
        <p:spPr>
          <a:xfrm>
            <a:off x="6126480" y="4059936"/>
            <a:ext cx="5623560" cy="51206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63640" y="4096512"/>
            <a:ext cx="1645920" cy="237744"/>
          </a:xfrm>
          <a:prstGeom prst="rect">
            <a:avLst/>
          </a:prstGeom>
          <a:noFill/>
        </p:spPr>
        <p:txBody>
          <a:bodyPr wrap="square">
            <a:spAutoFit/>
          </a:bodyPr>
          <a:lstStyle/>
          <a:p>
            <a:pPr algn="l"/>
            <a:r>
              <a:rPr sz="1000" b="1" i="0">
                <a:solidFill>
                  <a:srgbClr val="1E8A44"/>
                </a:solidFill>
                <a:latin typeface="Calibri"/>
              </a:rPr>
              <a:t>✓  Reliability</a:t>
            </a:r>
          </a:p>
        </p:txBody>
      </p:sp>
      <p:sp>
        <p:nvSpPr>
          <p:cNvPr id="52" name="TextBox 51"/>
          <p:cNvSpPr txBox="1"/>
          <p:nvPr/>
        </p:nvSpPr>
        <p:spPr>
          <a:xfrm>
            <a:off x="7909560" y="4096512"/>
            <a:ext cx="3794760" cy="457200"/>
          </a:xfrm>
          <a:prstGeom prst="rect">
            <a:avLst/>
          </a:prstGeom>
          <a:noFill/>
        </p:spPr>
        <p:txBody>
          <a:bodyPr wrap="square">
            <a:spAutoFit/>
          </a:bodyPr>
          <a:lstStyle/>
          <a:p>
            <a:pPr algn="l"/>
            <a:r>
              <a:rPr sz="1000" b="0" i="0">
                <a:solidFill>
                  <a:srgbClr val="3C3C3C"/>
                </a:solidFill>
                <a:latin typeface="Calibri"/>
              </a:rPr>
              <a:t>No BIM ETL dependency — report refreshes independently</a:t>
            </a:r>
          </a:p>
        </p:txBody>
      </p:sp>
      <p:sp>
        <p:nvSpPr>
          <p:cNvPr id="53" name="Rectangle 52"/>
          <p:cNvSpPr/>
          <p:nvPr/>
        </p:nvSpPr>
        <p:spPr>
          <a:xfrm>
            <a:off x="6126480" y="4626864"/>
            <a:ext cx="5623560" cy="51206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63640" y="4663440"/>
            <a:ext cx="1645920" cy="237744"/>
          </a:xfrm>
          <a:prstGeom prst="rect">
            <a:avLst/>
          </a:prstGeom>
          <a:noFill/>
        </p:spPr>
        <p:txBody>
          <a:bodyPr wrap="square">
            <a:spAutoFit/>
          </a:bodyPr>
          <a:lstStyle/>
          <a:p>
            <a:pPr algn="l"/>
            <a:r>
              <a:rPr sz="1000" b="1" i="0">
                <a:solidFill>
                  <a:srgbClr val="1E8A44"/>
                </a:solidFill>
                <a:latin typeface="Calibri"/>
              </a:rPr>
              <a:t>✓  Data Freshness</a:t>
            </a:r>
          </a:p>
        </p:txBody>
      </p:sp>
      <p:sp>
        <p:nvSpPr>
          <p:cNvPr id="55" name="TextBox 54"/>
          <p:cNvSpPr txBox="1"/>
          <p:nvPr/>
        </p:nvSpPr>
        <p:spPr>
          <a:xfrm>
            <a:off x="7909560" y="4663440"/>
            <a:ext cx="3794760" cy="457200"/>
          </a:xfrm>
          <a:prstGeom prst="rect">
            <a:avLst/>
          </a:prstGeom>
          <a:noFill/>
        </p:spPr>
        <p:txBody>
          <a:bodyPr wrap="square">
            <a:spAutoFit/>
          </a:bodyPr>
          <a:lstStyle/>
          <a:p>
            <a:pPr algn="l"/>
            <a:r>
              <a:rPr sz="1000" b="0" i="0">
                <a:solidFill>
                  <a:srgbClr val="3C3C3C"/>
                </a:solidFill>
                <a:latin typeface="Calibri"/>
              </a:rPr>
              <a:t>Near-real-time AWM/DWM refresh — no monthly batch lag</a:t>
            </a:r>
          </a:p>
        </p:txBody>
      </p:sp>
      <p:sp>
        <p:nvSpPr>
          <p:cNvPr id="56" name="Rectangle 55"/>
          <p:cNvSpPr/>
          <p:nvPr/>
        </p:nvSpPr>
        <p:spPr>
          <a:xfrm>
            <a:off x="6126480" y="5193792"/>
            <a:ext cx="5623560" cy="51206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63640" y="5230368"/>
            <a:ext cx="1645920" cy="237744"/>
          </a:xfrm>
          <a:prstGeom prst="rect">
            <a:avLst/>
          </a:prstGeom>
          <a:noFill/>
        </p:spPr>
        <p:txBody>
          <a:bodyPr wrap="square">
            <a:spAutoFit/>
          </a:bodyPr>
          <a:lstStyle/>
          <a:p>
            <a:pPr algn="l"/>
            <a:r>
              <a:rPr sz="1000" b="1" i="0">
                <a:solidFill>
                  <a:srgbClr val="1E8A44"/>
                </a:solidFill>
                <a:latin typeface="Calibri"/>
              </a:rPr>
              <a:t>✓  Extensibility</a:t>
            </a:r>
          </a:p>
        </p:txBody>
      </p:sp>
      <p:sp>
        <p:nvSpPr>
          <p:cNvPr id="58" name="TextBox 57"/>
          <p:cNvSpPr txBox="1"/>
          <p:nvPr/>
        </p:nvSpPr>
        <p:spPr>
          <a:xfrm>
            <a:off x="7909560" y="5230368"/>
            <a:ext cx="3794760" cy="457200"/>
          </a:xfrm>
          <a:prstGeom prst="rect">
            <a:avLst/>
          </a:prstGeom>
          <a:noFill/>
        </p:spPr>
        <p:txBody>
          <a:bodyPr wrap="square">
            <a:spAutoFit/>
          </a:bodyPr>
          <a:lstStyle/>
          <a:p>
            <a:pPr algn="l"/>
            <a:r>
              <a:rPr sz="1000" b="0" i="0">
                <a:solidFill>
                  <a:srgbClr val="3C3C3C"/>
                </a:solidFill>
                <a:latin typeface="Calibri"/>
              </a:rPr>
              <a:t>New views or metrics added in one place, available everywhere</a:t>
            </a:r>
          </a:p>
        </p:txBody>
      </p:sp>
      <p:sp>
        <p:nvSpPr>
          <p:cNvPr id="59" name="Rectangle 58"/>
          <p:cNvSpPr/>
          <p:nvPr/>
        </p:nvSpPr>
        <p:spPr>
          <a:xfrm>
            <a:off x="6126480" y="5760720"/>
            <a:ext cx="5623560" cy="45720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63640" y="5806440"/>
            <a:ext cx="5486400" cy="384048"/>
          </a:xfrm>
          <a:prstGeom prst="rect">
            <a:avLst/>
          </a:prstGeom>
          <a:noFill/>
        </p:spPr>
        <p:txBody>
          <a:bodyPr wrap="square">
            <a:spAutoFit/>
          </a:bodyPr>
          <a:lstStyle/>
          <a:p>
            <a:pPr algn="l"/>
            <a:r>
              <a:rPr sz="900" b="0" i="1">
                <a:solidFill>
                  <a:srgbClr val="E67300"/>
                </a:solidFill>
                <a:latin typeface="Calibri"/>
              </a:rPr>
              <a:t>⚠  Status: Complete with minor data issues under investigation. AWM/DWM source validation ongoing.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9144000" cy="502920"/>
          </a:xfrm>
          <a:prstGeom prst="rect">
            <a:avLst/>
          </a:prstGeom>
          <a:noFill/>
        </p:spPr>
        <p:txBody>
          <a:bodyPr wrap="square">
            <a:spAutoFit/>
          </a:bodyPr>
          <a:lstStyle/>
          <a:p>
            <a:pPr algn="l"/>
            <a:r>
              <a:rPr sz="2200" b="1" i="0">
                <a:solidFill>
                  <a:srgbClr val="FFFFFF"/>
                </a:solidFill>
                <a:latin typeface="Calibri"/>
              </a:rPr>
              <a:t>Online Accounts: Migration &amp; Validation Results</a:t>
            </a:r>
          </a:p>
        </p:txBody>
      </p:sp>
      <p:sp>
        <p:nvSpPr>
          <p:cNvPr id="5" name="TextBox 4"/>
          <p:cNvSpPr txBox="1"/>
          <p:nvPr/>
        </p:nvSpPr>
        <p:spPr>
          <a:xfrm>
            <a:off x="320040" y="548640"/>
            <a:ext cx="9144000" cy="320040"/>
          </a:xfrm>
          <a:prstGeom prst="rect">
            <a:avLst/>
          </a:prstGeom>
          <a:noFill/>
        </p:spPr>
        <p:txBody>
          <a:bodyPr wrap="square">
            <a:spAutoFit/>
          </a:bodyPr>
          <a:lstStyle/>
          <a:p>
            <a:pPr algn="l"/>
            <a:r>
              <a:rPr sz="1100" b="0" i="0">
                <a:solidFill>
                  <a:srgbClr val="B0B8C8"/>
                </a:solidFill>
                <a:latin typeface="Calibri"/>
              </a:rPr>
              <a:t>4 DateTypes rewritten from BIM to AWM/EDW — validated within accepted thresholds</a:t>
            </a:r>
          </a:p>
        </p:txBody>
      </p:sp>
      <p:sp>
        <p:nvSpPr>
          <p:cNvPr id="6" name="Rectangle 5"/>
          <p:cNvSpPr/>
          <p:nvPr/>
        </p:nvSpPr>
        <p:spPr>
          <a:xfrm>
            <a:off x="0" y="868680"/>
            <a:ext cx="12188952" cy="36576"/>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88952" cy="27432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8229600" cy="274320"/>
          </a:xfrm>
          <a:prstGeom prst="rect">
            <a:avLst/>
          </a:prstGeom>
          <a:noFill/>
        </p:spPr>
        <p:txBody>
          <a:bodyPr wrap="square">
            <a:spAutoFit/>
          </a:bodyPr>
          <a:lstStyle/>
          <a:p>
            <a:pPr algn="l"/>
            <a:r>
              <a:rPr sz="800" b="0" i="0">
                <a:solidFill>
                  <a:srgbClr val="B0B8C8"/>
                </a:solidFill>
                <a:latin typeface="Calibri"/>
              </a:rPr>
              <a:t>Bourntec Solutions  |  PEMCO Mutual Insurance  |  Confidential — May 2026</a:t>
            </a:r>
          </a:p>
        </p:txBody>
      </p:sp>
      <p:sp>
        <p:nvSpPr>
          <p:cNvPr id="9" name="TextBox 8"/>
          <p:cNvSpPr txBox="1"/>
          <p:nvPr/>
        </p:nvSpPr>
        <p:spPr>
          <a:xfrm>
            <a:off x="320040" y="1005840"/>
            <a:ext cx="11521440" cy="502920"/>
          </a:xfrm>
          <a:prstGeom prst="rect">
            <a:avLst/>
          </a:prstGeom>
          <a:noFill/>
        </p:spPr>
        <p:txBody>
          <a:bodyPr wrap="square">
            <a:spAutoFit/>
          </a:bodyPr>
          <a:lstStyle/>
          <a:p>
            <a:pPr algn="l"/>
            <a:r>
              <a:rPr sz="1000" b="0" i="0">
                <a:solidFill>
                  <a:srgbClr val="3C3C3C"/>
                </a:solidFill>
                <a:latin typeface="Calibri"/>
              </a:rPr>
              <a:t>The Online Accounts Self-Service report tracks enrollment across 4 DateTypes (Activation, Initiation, Inforce, DriverOnly). Each DateType was rewritten to query AWM/EDW and validated line-by-line against the BIM legacy baseline.</a:t>
            </a:r>
          </a:p>
        </p:txBody>
      </p:sp>
      <p:sp>
        <p:nvSpPr>
          <p:cNvPr id="10" name="Rectangle 9"/>
          <p:cNvSpPr/>
          <p:nvPr/>
        </p:nvSpPr>
        <p:spPr>
          <a:xfrm>
            <a:off x="320040" y="1600200"/>
            <a:ext cx="11521440" cy="292608"/>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3192" y="1618488"/>
            <a:ext cx="1901952" cy="256032"/>
          </a:xfrm>
          <a:prstGeom prst="rect">
            <a:avLst/>
          </a:prstGeom>
          <a:noFill/>
        </p:spPr>
        <p:txBody>
          <a:bodyPr wrap="square">
            <a:spAutoFit/>
          </a:bodyPr>
          <a:lstStyle/>
          <a:p>
            <a:pPr algn="l"/>
            <a:r>
              <a:rPr sz="900" b="1" i="0">
                <a:solidFill>
                  <a:srgbClr val="FFFFFF"/>
                </a:solidFill>
                <a:latin typeface="Calibri"/>
              </a:rPr>
              <a:t>DateType</a:t>
            </a:r>
          </a:p>
        </p:txBody>
      </p:sp>
      <p:sp>
        <p:nvSpPr>
          <p:cNvPr id="12" name="TextBox 11"/>
          <p:cNvSpPr txBox="1"/>
          <p:nvPr/>
        </p:nvSpPr>
        <p:spPr>
          <a:xfrm>
            <a:off x="2404872" y="1618488"/>
            <a:ext cx="1993392" cy="256032"/>
          </a:xfrm>
          <a:prstGeom prst="rect">
            <a:avLst/>
          </a:prstGeom>
          <a:noFill/>
        </p:spPr>
        <p:txBody>
          <a:bodyPr wrap="square">
            <a:spAutoFit/>
          </a:bodyPr>
          <a:lstStyle/>
          <a:p>
            <a:pPr algn="l"/>
            <a:r>
              <a:rPr sz="900" b="1" i="0">
                <a:solidFill>
                  <a:srgbClr val="FFFFFF"/>
                </a:solidFill>
                <a:latin typeface="Calibri"/>
              </a:rPr>
              <a:t>BIM → AWM/EDW</a:t>
            </a:r>
          </a:p>
        </p:txBody>
      </p:sp>
      <p:sp>
        <p:nvSpPr>
          <p:cNvPr id="13" name="TextBox 12"/>
          <p:cNvSpPr txBox="1"/>
          <p:nvPr/>
        </p:nvSpPr>
        <p:spPr>
          <a:xfrm>
            <a:off x="4507992" y="1618488"/>
            <a:ext cx="1719072" cy="256032"/>
          </a:xfrm>
          <a:prstGeom prst="rect">
            <a:avLst/>
          </a:prstGeom>
          <a:noFill/>
        </p:spPr>
        <p:txBody>
          <a:bodyPr wrap="square">
            <a:spAutoFit/>
          </a:bodyPr>
          <a:lstStyle/>
          <a:p>
            <a:pPr algn="l"/>
            <a:r>
              <a:rPr sz="900" b="1" i="0">
                <a:solidFill>
                  <a:srgbClr val="FFFFFF"/>
                </a:solidFill>
                <a:latin typeface="Calibri"/>
              </a:rPr>
              <a:t>Delta vs BIM</a:t>
            </a:r>
          </a:p>
        </p:txBody>
      </p:sp>
      <p:sp>
        <p:nvSpPr>
          <p:cNvPr id="14" name="TextBox 13"/>
          <p:cNvSpPr txBox="1"/>
          <p:nvPr/>
        </p:nvSpPr>
        <p:spPr>
          <a:xfrm>
            <a:off x="6336792" y="1618488"/>
            <a:ext cx="1536192" cy="256032"/>
          </a:xfrm>
          <a:prstGeom prst="rect">
            <a:avLst/>
          </a:prstGeom>
          <a:noFill/>
        </p:spPr>
        <p:txBody>
          <a:bodyPr wrap="square">
            <a:spAutoFit/>
          </a:bodyPr>
          <a:lstStyle/>
          <a:p>
            <a:pPr algn="l"/>
            <a:r>
              <a:rPr sz="900" b="1" i="0">
                <a:solidFill>
                  <a:srgbClr val="FFFFFF"/>
                </a:solidFill>
                <a:latin typeface="Calibri"/>
              </a:rPr>
              <a:t>Status</a:t>
            </a:r>
          </a:p>
        </p:txBody>
      </p:sp>
      <p:sp>
        <p:nvSpPr>
          <p:cNvPr id="15" name="TextBox 14"/>
          <p:cNvSpPr txBox="1"/>
          <p:nvPr/>
        </p:nvSpPr>
        <p:spPr>
          <a:xfrm>
            <a:off x="7982712" y="1618488"/>
            <a:ext cx="3822192" cy="256032"/>
          </a:xfrm>
          <a:prstGeom prst="rect">
            <a:avLst/>
          </a:prstGeom>
          <a:noFill/>
        </p:spPr>
        <p:txBody>
          <a:bodyPr wrap="square">
            <a:spAutoFit/>
          </a:bodyPr>
          <a:lstStyle/>
          <a:p>
            <a:pPr algn="l"/>
            <a:r>
              <a:rPr sz="900" b="1" i="0">
                <a:solidFill>
                  <a:srgbClr val="FFFFFF"/>
                </a:solidFill>
                <a:latin typeface="Calibri"/>
              </a:rPr>
              <a:t>Notes</a:t>
            </a:r>
          </a:p>
        </p:txBody>
      </p:sp>
      <p:sp>
        <p:nvSpPr>
          <p:cNvPr id="16" name="Rectangle 15"/>
          <p:cNvSpPr/>
          <p:nvPr/>
        </p:nvSpPr>
        <p:spPr>
          <a:xfrm>
            <a:off x="320040" y="1892807"/>
            <a:ext cx="11521440" cy="6492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 y="1965959"/>
            <a:ext cx="1874520" cy="566928"/>
          </a:xfrm>
          <a:prstGeom prst="rect">
            <a:avLst/>
          </a:prstGeom>
          <a:noFill/>
        </p:spPr>
        <p:txBody>
          <a:bodyPr wrap="square">
            <a:spAutoFit/>
          </a:bodyPr>
          <a:lstStyle/>
          <a:p>
            <a:pPr algn="l"/>
            <a:r>
              <a:rPr sz="1000" b="1" i="0">
                <a:solidFill>
                  <a:srgbClr val="3C3C3C"/>
                </a:solidFill>
                <a:latin typeface="Calibri"/>
              </a:rPr>
              <a:t>Activation</a:t>
            </a:r>
          </a:p>
        </p:txBody>
      </p:sp>
      <p:sp>
        <p:nvSpPr>
          <p:cNvPr id="18" name="TextBox 17"/>
          <p:cNvSpPr txBox="1"/>
          <p:nvPr/>
        </p:nvSpPr>
        <p:spPr>
          <a:xfrm>
            <a:off x="2423160" y="1965959"/>
            <a:ext cx="1965960" cy="566928"/>
          </a:xfrm>
          <a:prstGeom prst="rect">
            <a:avLst/>
          </a:prstGeom>
          <a:noFill/>
        </p:spPr>
        <p:txBody>
          <a:bodyPr wrap="square">
            <a:spAutoFit/>
          </a:bodyPr>
          <a:lstStyle/>
          <a:p>
            <a:pPr algn="l"/>
            <a:r>
              <a:rPr sz="1000" b="0" i="0">
                <a:solidFill>
                  <a:srgbClr val="3C3C3C"/>
                </a:solidFill>
                <a:latin typeface="Calibri"/>
              </a:rPr>
              <a:t>BIM → AWM/DWM</a:t>
            </a:r>
          </a:p>
        </p:txBody>
      </p:sp>
      <p:sp>
        <p:nvSpPr>
          <p:cNvPr id="19" name="TextBox 18"/>
          <p:cNvSpPr txBox="1"/>
          <p:nvPr/>
        </p:nvSpPr>
        <p:spPr>
          <a:xfrm>
            <a:off x="4526280" y="1965959"/>
            <a:ext cx="1691640" cy="566928"/>
          </a:xfrm>
          <a:prstGeom prst="rect">
            <a:avLst/>
          </a:prstGeom>
          <a:noFill/>
        </p:spPr>
        <p:txBody>
          <a:bodyPr wrap="square">
            <a:spAutoFit/>
          </a:bodyPr>
          <a:lstStyle/>
          <a:p>
            <a:pPr algn="l"/>
            <a:r>
              <a:rPr sz="1000" b="0" i="0">
                <a:solidFill>
                  <a:srgbClr val="3C3C3C"/>
                </a:solidFill>
                <a:latin typeface="Calibri"/>
              </a:rPr>
              <a:t>&lt; 1%</a:t>
            </a:r>
          </a:p>
        </p:txBody>
      </p:sp>
      <p:sp>
        <p:nvSpPr>
          <p:cNvPr id="20" name="TextBox 19"/>
          <p:cNvSpPr txBox="1"/>
          <p:nvPr/>
        </p:nvSpPr>
        <p:spPr>
          <a:xfrm>
            <a:off x="6355080" y="1965959"/>
            <a:ext cx="1508760" cy="566928"/>
          </a:xfrm>
          <a:prstGeom prst="rect">
            <a:avLst/>
          </a:prstGeom>
          <a:noFill/>
        </p:spPr>
        <p:txBody>
          <a:bodyPr wrap="square">
            <a:spAutoFit/>
          </a:bodyPr>
          <a:lstStyle/>
          <a:p>
            <a:pPr algn="l"/>
            <a:r>
              <a:rPr sz="1000" b="0" i="0">
                <a:solidFill>
                  <a:srgbClr val="1E8A44"/>
                </a:solidFill>
                <a:latin typeface="Calibri"/>
              </a:rPr>
              <a:t>Validated ✓</a:t>
            </a:r>
          </a:p>
        </p:txBody>
      </p:sp>
      <p:sp>
        <p:nvSpPr>
          <p:cNvPr id="21" name="TextBox 20"/>
          <p:cNvSpPr txBox="1"/>
          <p:nvPr/>
        </p:nvSpPr>
        <p:spPr>
          <a:xfrm>
            <a:off x="8001000" y="1965959"/>
            <a:ext cx="3794760" cy="566928"/>
          </a:xfrm>
          <a:prstGeom prst="rect">
            <a:avLst/>
          </a:prstGeom>
          <a:noFill/>
        </p:spPr>
        <p:txBody>
          <a:bodyPr wrap="square">
            <a:spAutoFit/>
          </a:bodyPr>
          <a:lstStyle/>
          <a:p>
            <a:pPr algn="l"/>
            <a:r>
              <a:rPr sz="1000" b="0" i="0">
                <a:solidFill>
                  <a:srgbClr val="3C3C3C"/>
                </a:solidFill>
                <a:latin typeface="Calibri"/>
              </a:rPr>
              <a:t>Rewrite complete. Delta within 1% — accepted as rounding/timing.</a:t>
            </a:r>
          </a:p>
        </p:txBody>
      </p:sp>
      <p:sp>
        <p:nvSpPr>
          <p:cNvPr id="22" name="Rectangle 21"/>
          <p:cNvSpPr/>
          <p:nvPr/>
        </p:nvSpPr>
        <p:spPr>
          <a:xfrm>
            <a:off x="320040" y="2560319"/>
            <a:ext cx="11521440" cy="64922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2633471"/>
            <a:ext cx="1874520" cy="566928"/>
          </a:xfrm>
          <a:prstGeom prst="rect">
            <a:avLst/>
          </a:prstGeom>
          <a:noFill/>
        </p:spPr>
        <p:txBody>
          <a:bodyPr wrap="square">
            <a:spAutoFit/>
          </a:bodyPr>
          <a:lstStyle/>
          <a:p>
            <a:pPr algn="l"/>
            <a:r>
              <a:rPr sz="1000" b="1" i="0">
                <a:solidFill>
                  <a:srgbClr val="3C3C3C"/>
                </a:solidFill>
                <a:latin typeface="Calibri"/>
              </a:rPr>
              <a:t>Initiation</a:t>
            </a:r>
          </a:p>
        </p:txBody>
      </p:sp>
      <p:sp>
        <p:nvSpPr>
          <p:cNvPr id="24" name="TextBox 23"/>
          <p:cNvSpPr txBox="1"/>
          <p:nvPr/>
        </p:nvSpPr>
        <p:spPr>
          <a:xfrm>
            <a:off x="2423160" y="2633471"/>
            <a:ext cx="1965960" cy="566928"/>
          </a:xfrm>
          <a:prstGeom prst="rect">
            <a:avLst/>
          </a:prstGeom>
          <a:noFill/>
        </p:spPr>
        <p:txBody>
          <a:bodyPr wrap="square">
            <a:spAutoFit/>
          </a:bodyPr>
          <a:lstStyle/>
          <a:p>
            <a:pPr algn="l"/>
            <a:r>
              <a:rPr sz="1000" b="0" i="0">
                <a:solidFill>
                  <a:srgbClr val="3C3C3C"/>
                </a:solidFill>
                <a:latin typeface="Calibri"/>
              </a:rPr>
              <a:t>BIM → AWM/DWM</a:t>
            </a:r>
          </a:p>
        </p:txBody>
      </p:sp>
      <p:sp>
        <p:nvSpPr>
          <p:cNvPr id="25" name="TextBox 24"/>
          <p:cNvSpPr txBox="1"/>
          <p:nvPr/>
        </p:nvSpPr>
        <p:spPr>
          <a:xfrm>
            <a:off x="4526280" y="2633471"/>
            <a:ext cx="1691640" cy="566928"/>
          </a:xfrm>
          <a:prstGeom prst="rect">
            <a:avLst/>
          </a:prstGeom>
          <a:noFill/>
        </p:spPr>
        <p:txBody>
          <a:bodyPr wrap="square">
            <a:spAutoFit/>
          </a:bodyPr>
          <a:lstStyle/>
          <a:p>
            <a:pPr algn="l"/>
            <a:r>
              <a:rPr sz="1000" b="0" i="0">
                <a:solidFill>
                  <a:srgbClr val="3C3C3C"/>
                </a:solidFill>
                <a:latin typeface="Calibri"/>
              </a:rPr>
              <a:t>&lt; 2%</a:t>
            </a:r>
          </a:p>
        </p:txBody>
      </p:sp>
      <p:sp>
        <p:nvSpPr>
          <p:cNvPr id="26" name="TextBox 25"/>
          <p:cNvSpPr txBox="1"/>
          <p:nvPr/>
        </p:nvSpPr>
        <p:spPr>
          <a:xfrm>
            <a:off x="6355080" y="2633471"/>
            <a:ext cx="1508760" cy="566928"/>
          </a:xfrm>
          <a:prstGeom prst="rect">
            <a:avLst/>
          </a:prstGeom>
          <a:noFill/>
        </p:spPr>
        <p:txBody>
          <a:bodyPr wrap="square">
            <a:spAutoFit/>
          </a:bodyPr>
          <a:lstStyle/>
          <a:p>
            <a:pPr algn="l"/>
            <a:r>
              <a:rPr sz="1000" b="0" i="0">
                <a:solidFill>
                  <a:srgbClr val="1E8A44"/>
                </a:solidFill>
                <a:latin typeface="Calibri"/>
              </a:rPr>
              <a:t>Validated ✓</a:t>
            </a:r>
          </a:p>
        </p:txBody>
      </p:sp>
      <p:sp>
        <p:nvSpPr>
          <p:cNvPr id="27" name="TextBox 26"/>
          <p:cNvSpPr txBox="1"/>
          <p:nvPr/>
        </p:nvSpPr>
        <p:spPr>
          <a:xfrm>
            <a:off x="8001000" y="2633471"/>
            <a:ext cx="3794760" cy="566928"/>
          </a:xfrm>
          <a:prstGeom prst="rect">
            <a:avLst/>
          </a:prstGeom>
          <a:noFill/>
        </p:spPr>
        <p:txBody>
          <a:bodyPr wrap="square">
            <a:spAutoFit/>
          </a:bodyPr>
          <a:lstStyle/>
          <a:p>
            <a:pPr algn="l"/>
            <a:r>
              <a:rPr sz="1000" b="0" i="0">
                <a:solidFill>
                  <a:srgbClr val="3C3C3C"/>
                </a:solidFill>
                <a:latin typeface="Calibri"/>
              </a:rPr>
              <a:t>2021+ fully validated. Pre-2021 gap accepted — AWM history incomplete before that date.</a:t>
            </a:r>
          </a:p>
        </p:txBody>
      </p:sp>
      <p:sp>
        <p:nvSpPr>
          <p:cNvPr id="28" name="Rectangle 27"/>
          <p:cNvSpPr/>
          <p:nvPr/>
        </p:nvSpPr>
        <p:spPr>
          <a:xfrm>
            <a:off x="320040" y="3227831"/>
            <a:ext cx="11521440" cy="6492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80" y="3300983"/>
            <a:ext cx="1874520" cy="566928"/>
          </a:xfrm>
          <a:prstGeom prst="rect">
            <a:avLst/>
          </a:prstGeom>
          <a:noFill/>
        </p:spPr>
        <p:txBody>
          <a:bodyPr wrap="square">
            <a:spAutoFit/>
          </a:bodyPr>
          <a:lstStyle/>
          <a:p>
            <a:pPr algn="l"/>
            <a:r>
              <a:rPr sz="1000" b="1" i="0">
                <a:solidFill>
                  <a:srgbClr val="3C3C3C"/>
                </a:solidFill>
                <a:latin typeface="Calibri"/>
              </a:rPr>
              <a:t>Inforce CSR</a:t>
            </a:r>
          </a:p>
        </p:txBody>
      </p:sp>
      <p:sp>
        <p:nvSpPr>
          <p:cNvPr id="30" name="TextBox 29"/>
          <p:cNvSpPr txBox="1"/>
          <p:nvPr/>
        </p:nvSpPr>
        <p:spPr>
          <a:xfrm>
            <a:off x="2423160" y="3300983"/>
            <a:ext cx="1965960" cy="566928"/>
          </a:xfrm>
          <a:prstGeom prst="rect">
            <a:avLst/>
          </a:prstGeom>
          <a:noFill/>
        </p:spPr>
        <p:txBody>
          <a:bodyPr wrap="square">
            <a:spAutoFit/>
          </a:bodyPr>
          <a:lstStyle/>
          <a:p>
            <a:pPr algn="l"/>
            <a:r>
              <a:rPr sz="1000" b="0" i="0">
                <a:solidFill>
                  <a:srgbClr val="3C3C3C"/>
                </a:solidFill>
                <a:latin typeface="Calibri"/>
              </a:rPr>
              <a:t>BIM → AWM/DWM</a:t>
            </a:r>
          </a:p>
        </p:txBody>
      </p:sp>
      <p:sp>
        <p:nvSpPr>
          <p:cNvPr id="31" name="TextBox 30"/>
          <p:cNvSpPr txBox="1"/>
          <p:nvPr/>
        </p:nvSpPr>
        <p:spPr>
          <a:xfrm>
            <a:off x="4526280" y="3300983"/>
            <a:ext cx="1691640" cy="566928"/>
          </a:xfrm>
          <a:prstGeom prst="rect">
            <a:avLst/>
          </a:prstGeom>
          <a:noFill/>
        </p:spPr>
        <p:txBody>
          <a:bodyPr wrap="square">
            <a:spAutoFit/>
          </a:bodyPr>
          <a:lstStyle/>
          <a:p>
            <a:pPr algn="l"/>
            <a:r>
              <a:rPr sz="1000" b="0" i="0">
                <a:solidFill>
                  <a:srgbClr val="3C3C3C"/>
                </a:solidFill>
                <a:latin typeface="Calibri"/>
              </a:rPr>
              <a:t>−1.21%</a:t>
            </a:r>
          </a:p>
        </p:txBody>
      </p:sp>
      <p:sp>
        <p:nvSpPr>
          <p:cNvPr id="32" name="TextBox 31"/>
          <p:cNvSpPr txBox="1"/>
          <p:nvPr/>
        </p:nvSpPr>
        <p:spPr>
          <a:xfrm>
            <a:off x="6355080" y="3300983"/>
            <a:ext cx="1508760" cy="566928"/>
          </a:xfrm>
          <a:prstGeom prst="rect">
            <a:avLst/>
          </a:prstGeom>
          <a:noFill/>
        </p:spPr>
        <p:txBody>
          <a:bodyPr wrap="square">
            <a:spAutoFit/>
          </a:bodyPr>
          <a:lstStyle/>
          <a:p>
            <a:pPr algn="l"/>
            <a:r>
              <a:rPr sz="1000" b="0" i="0">
                <a:solidFill>
                  <a:srgbClr val="1E8A44"/>
                </a:solidFill>
                <a:latin typeface="Calibri"/>
              </a:rPr>
              <a:t>Validated ✓</a:t>
            </a:r>
          </a:p>
        </p:txBody>
      </p:sp>
      <p:sp>
        <p:nvSpPr>
          <p:cNvPr id="33" name="TextBox 32"/>
          <p:cNvSpPr txBox="1"/>
          <p:nvPr/>
        </p:nvSpPr>
        <p:spPr>
          <a:xfrm>
            <a:off x="8001000" y="3300983"/>
            <a:ext cx="3794760" cy="566928"/>
          </a:xfrm>
          <a:prstGeom prst="rect">
            <a:avLst/>
          </a:prstGeom>
          <a:noFill/>
        </p:spPr>
        <p:txBody>
          <a:bodyPr wrap="square">
            <a:spAutoFit/>
          </a:bodyPr>
          <a:lstStyle/>
          <a:p>
            <a:pPr algn="l"/>
            <a:r>
              <a:rPr sz="1000" b="0" i="0">
                <a:solidFill>
                  <a:srgbClr val="3C3C3C"/>
                </a:solidFill>
                <a:latin typeface="Calibri"/>
              </a:rPr>
              <a:t>CSR (agent-enrolled) bucket. Delta within threshold. Root cause documented.</a:t>
            </a:r>
          </a:p>
        </p:txBody>
      </p:sp>
      <p:sp>
        <p:nvSpPr>
          <p:cNvPr id="34" name="Rectangle 33"/>
          <p:cNvSpPr/>
          <p:nvPr/>
        </p:nvSpPr>
        <p:spPr>
          <a:xfrm>
            <a:off x="320040" y="3895343"/>
            <a:ext cx="11521440" cy="64922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3968495"/>
            <a:ext cx="1874520" cy="566928"/>
          </a:xfrm>
          <a:prstGeom prst="rect">
            <a:avLst/>
          </a:prstGeom>
          <a:noFill/>
        </p:spPr>
        <p:txBody>
          <a:bodyPr wrap="square">
            <a:spAutoFit/>
          </a:bodyPr>
          <a:lstStyle/>
          <a:p>
            <a:pPr algn="l"/>
            <a:r>
              <a:rPr sz="1000" b="1" i="0">
                <a:solidFill>
                  <a:srgbClr val="3C3C3C"/>
                </a:solidFill>
                <a:latin typeface="Calibri"/>
              </a:rPr>
              <a:t>Inforce CSS</a:t>
            </a:r>
          </a:p>
        </p:txBody>
      </p:sp>
      <p:sp>
        <p:nvSpPr>
          <p:cNvPr id="36" name="TextBox 35"/>
          <p:cNvSpPr txBox="1"/>
          <p:nvPr/>
        </p:nvSpPr>
        <p:spPr>
          <a:xfrm>
            <a:off x="2423160" y="3968495"/>
            <a:ext cx="1965960" cy="566928"/>
          </a:xfrm>
          <a:prstGeom prst="rect">
            <a:avLst/>
          </a:prstGeom>
          <a:noFill/>
        </p:spPr>
        <p:txBody>
          <a:bodyPr wrap="square">
            <a:spAutoFit/>
          </a:bodyPr>
          <a:lstStyle/>
          <a:p>
            <a:pPr algn="l"/>
            <a:r>
              <a:rPr sz="1000" b="0" i="0">
                <a:solidFill>
                  <a:srgbClr val="3C3C3C"/>
                </a:solidFill>
                <a:latin typeface="Calibri"/>
              </a:rPr>
              <a:t>BIM → AWM/DWM</a:t>
            </a:r>
          </a:p>
        </p:txBody>
      </p:sp>
      <p:sp>
        <p:nvSpPr>
          <p:cNvPr id="37" name="TextBox 36"/>
          <p:cNvSpPr txBox="1"/>
          <p:nvPr/>
        </p:nvSpPr>
        <p:spPr>
          <a:xfrm>
            <a:off x="4526280" y="3968495"/>
            <a:ext cx="1691640" cy="566928"/>
          </a:xfrm>
          <a:prstGeom prst="rect">
            <a:avLst/>
          </a:prstGeom>
          <a:noFill/>
        </p:spPr>
        <p:txBody>
          <a:bodyPr wrap="square">
            <a:spAutoFit/>
          </a:bodyPr>
          <a:lstStyle/>
          <a:p>
            <a:pPr algn="l"/>
            <a:r>
              <a:rPr sz="1000" b="0" i="0">
                <a:solidFill>
                  <a:srgbClr val="3C3C3C"/>
                </a:solidFill>
                <a:latin typeface="Calibri"/>
              </a:rPr>
              <a:t>+1.46%</a:t>
            </a:r>
          </a:p>
        </p:txBody>
      </p:sp>
      <p:sp>
        <p:nvSpPr>
          <p:cNvPr id="38" name="TextBox 37"/>
          <p:cNvSpPr txBox="1"/>
          <p:nvPr/>
        </p:nvSpPr>
        <p:spPr>
          <a:xfrm>
            <a:off x="6355080" y="3968495"/>
            <a:ext cx="1508760" cy="566928"/>
          </a:xfrm>
          <a:prstGeom prst="rect">
            <a:avLst/>
          </a:prstGeom>
          <a:noFill/>
        </p:spPr>
        <p:txBody>
          <a:bodyPr wrap="square">
            <a:spAutoFit/>
          </a:bodyPr>
          <a:lstStyle/>
          <a:p>
            <a:pPr algn="l"/>
            <a:r>
              <a:rPr sz="1000" b="0" i="0">
                <a:solidFill>
                  <a:srgbClr val="1E8A44"/>
                </a:solidFill>
                <a:latin typeface="Calibri"/>
              </a:rPr>
              <a:t>Validated ✓</a:t>
            </a:r>
          </a:p>
        </p:txBody>
      </p:sp>
      <p:sp>
        <p:nvSpPr>
          <p:cNvPr id="39" name="TextBox 38"/>
          <p:cNvSpPr txBox="1"/>
          <p:nvPr/>
        </p:nvSpPr>
        <p:spPr>
          <a:xfrm>
            <a:off x="8001000" y="3968495"/>
            <a:ext cx="3794760" cy="566928"/>
          </a:xfrm>
          <a:prstGeom prst="rect">
            <a:avLst/>
          </a:prstGeom>
          <a:noFill/>
        </p:spPr>
        <p:txBody>
          <a:bodyPr wrap="square">
            <a:spAutoFit/>
          </a:bodyPr>
          <a:lstStyle/>
          <a:p>
            <a:pPr algn="l"/>
            <a:r>
              <a:rPr sz="1000" b="0" i="0">
                <a:solidFill>
                  <a:srgbClr val="3C3C3C"/>
                </a:solidFill>
                <a:latin typeface="Calibri"/>
              </a:rPr>
              <a:t>CSS (web self-enrollment) bucket. Delta within threshold.</a:t>
            </a:r>
          </a:p>
        </p:txBody>
      </p:sp>
      <p:sp>
        <p:nvSpPr>
          <p:cNvPr id="40" name="Rectangle 39"/>
          <p:cNvSpPr/>
          <p:nvPr/>
        </p:nvSpPr>
        <p:spPr>
          <a:xfrm>
            <a:off x="320040" y="4562855"/>
            <a:ext cx="11521440" cy="6492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80" y="4636007"/>
            <a:ext cx="1874520" cy="566928"/>
          </a:xfrm>
          <a:prstGeom prst="rect">
            <a:avLst/>
          </a:prstGeom>
          <a:noFill/>
        </p:spPr>
        <p:txBody>
          <a:bodyPr wrap="square">
            <a:spAutoFit/>
          </a:bodyPr>
          <a:lstStyle/>
          <a:p>
            <a:pPr algn="l"/>
            <a:r>
              <a:rPr sz="1000" b="1" i="0">
                <a:solidFill>
                  <a:srgbClr val="3C3C3C"/>
                </a:solidFill>
                <a:latin typeface="Calibri"/>
              </a:rPr>
              <a:t>DriverOnly CSR</a:t>
            </a:r>
          </a:p>
        </p:txBody>
      </p:sp>
      <p:sp>
        <p:nvSpPr>
          <p:cNvPr id="42" name="TextBox 41"/>
          <p:cNvSpPr txBox="1"/>
          <p:nvPr/>
        </p:nvSpPr>
        <p:spPr>
          <a:xfrm>
            <a:off x="2423160" y="4636007"/>
            <a:ext cx="1965960" cy="566928"/>
          </a:xfrm>
          <a:prstGeom prst="rect">
            <a:avLst/>
          </a:prstGeom>
          <a:noFill/>
        </p:spPr>
        <p:txBody>
          <a:bodyPr wrap="square">
            <a:spAutoFit/>
          </a:bodyPr>
          <a:lstStyle/>
          <a:p>
            <a:pPr algn="l"/>
            <a:r>
              <a:rPr sz="1000" b="0" i="0">
                <a:solidFill>
                  <a:srgbClr val="3C3C3C"/>
                </a:solidFill>
                <a:latin typeface="Calibri"/>
              </a:rPr>
              <a:t>BIM → AWM/DWM</a:t>
            </a:r>
          </a:p>
        </p:txBody>
      </p:sp>
      <p:sp>
        <p:nvSpPr>
          <p:cNvPr id="43" name="TextBox 42"/>
          <p:cNvSpPr txBox="1"/>
          <p:nvPr/>
        </p:nvSpPr>
        <p:spPr>
          <a:xfrm>
            <a:off x="4526280" y="4636007"/>
            <a:ext cx="1691640" cy="566928"/>
          </a:xfrm>
          <a:prstGeom prst="rect">
            <a:avLst/>
          </a:prstGeom>
          <a:noFill/>
        </p:spPr>
        <p:txBody>
          <a:bodyPr wrap="square">
            <a:spAutoFit/>
          </a:bodyPr>
          <a:lstStyle/>
          <a:p>
            <a:pPr algn="l"/>
            <a:r>
              <a:rPr sz="1000" b="0" i="0">
                <a:solidFill>
                  <a:srgbClr val="3C3C3C"/>
                </a:solidFill>
                <a:latin typeface="Calibri"/>
              </a:rPr>
              <a:t>−46.6%</a:t>
            </a:r>
          </a:p>
        </p:txBody>
      </p:sp>
      <p:sp>
        <p:nvSpPr>
          <p:cNvPr id="44" name="TextBox 43"/>
          <p:cNvSpPr txBox="1"/>
          <p:nvPr/>
        </p:nvSpPr>
        <p:spPr>
          <a:xfrm>
            <a:off x="6355080" y="4636007"/>
            <a:ext cx="1508760" cy="566928"/>
          </a:xfrm>
          <a:prstGeom prst="rect">
            <a:avLst/>
          </a:prstGeom>
          <a:noFill/>
        </p:spPr>
        <p:txBody>
          <a:bodyPr wrap="square">
            <a:spAutoFit/>
          </a:bodyPr>
          <a:lstStyle/>
          <a:p>
            <a:pPr algn="l"/>
            <a:r>
              <a:rPr sz="1000" b="0" i="0">
                <a:solidFill>
                  <a:srgbClr val="E67300"/>
                </a:solidFill>
                <a:latin typeface="Calibri"/>
              </a:rPr>
              <a:t>Accepted ⚠</a:t>
            </a:r>
          </a:p>
        </p:txBody>
      </p:sp>
      <p:sp>
        <p:nvSpPr>
          <p:cNvPr id="45" name="TextBox 44"/>
          <p:cNvSpPr txBox="1"/>
          <p:nvPr/>
        </p:nvSpPr>
        <p:spPr>
          <a:xfrm>
            <a:off x="8001000" y="4636007"/>
            <a:ext cx="3794760" cy="566928"/>
          </a:xfrm>
          <a:prstGeom prst="rect">
            <a:avLst/>
          </a:prstGeom>
          <a:noFill/>
        </p:spPr>
        <p:txBody>
          <a:bodyPr wrap="square">
            <a:spAutoFit/>
          </a:bodyPr>
          <a:lstStyle/>
          <a:p>
            <a:pPr algn="l"/>
            <a:r>
              <a:rPr sz="1000" b="0" i="0">
                <a:solidFill>
                  <a:srgbClr val="3C3C3C"/>
                </a:solidFill>
                <a:latin typeface="Calibri"/>
              </a:rPr>
              <a:t>Known structural gap. vw_policy_driver has ~13% coverage gap vs BIM dim_policy_role. Under investigation.</a:t>
            </a:r>
          </a:p>
        </p:txBody>
      </p:sp>
      <p:sp>
        <p:nvSpPr>
          <p:cNvPr id="46" name="Rectangle 45"/>
          <p:cNvSpPr/>
          <p:nvPr/>
        </p:nvSpPr>
        <p:spPr>
          <a:xfrm>
            <a:off x="320040" y="5230367"/>
            <a:ext cx="11521440" cy="64922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11480" y="5303519"/>
            <a:ext cx="1874520" cy="566928"/>
          </a:xfrm>
          <a:prstGeom prst="rect">
            <a:avLst/>
          </a:prstGeom>
          <a:noFill/>
        </p:spPr>
        <p:txBody>
          <a:bodyPr wrap="square">
            <a:spAutoFit/>
          </a:bodyPr>
          <a:lstStyle/>
          <a:p>
            <a:pPr algn="l"/>
            <a:r>
              <a:rPr sz="1000" b="1" i="0">
                <a:solidFill>
                  <a:srgbClr val="3C3C3C"/>
                </a:solidFill>
                <a:latin typeface="Calibri"/>
              </a:rPr>
              <a:t>DriverOnly CSS</a:t>
            </a:r>
          </a:p>
        </p:txBody>
      </p:sp>
      <p:sp>
        <p:nvSpPr>
          <p:cNvPr id="48" name="TextBox 47"/>
          <p:cNvSpPr txBox="1"/>
          <p:nvPr/>
        </p:nvSpPr>
        <p:spPr>
          <a:xfrm>
            <a:off x="2423160" y="5303519"/>
            <a:ext cx="1965960" cy="566928"/>
          </a:xfrm>
          <a:prstGeom prst="rect">
            <a:avLst/>
          </a:prstGeom>
          <a:noFill/>
        </p:spPr>
        <p:txBody>
          <a:bodyPr wrap="square">
            <a:spAutoFit/>
          </a:bodyPr>
          <a:lstStyle/>
          <a:p>
            <a:pPr algn="l"/>
            <a:r>
              <a:rPr sz="1000" b="0" i="0">
                <a:solidFill>
                  <a:srgbClr val="3C3C3C"/>
                </a:solidFill>
                <a:latin typeface="Calibri"/>
              </a:rPr>
              <a:t>BIM → AWM/DWM</a:t>
            </a:r>
          </a:p>
        </p:txBody>
      </p:sp>
      <p:sp>
        <p:nvSpPr>
          <p:cNvPr id="49" name="TextBox 48"/>
          <p:cNvSpPr txBox="1"/>
          <p:nvPr/>
        </p:nvSpPr>
        <p:spPr>
          <a:xfrm>
            <a:off x="4526280" y="5303519"/>
            <a:ext cx="1691640" cy="566928"/>
          </a:xfrm>
          <a:prstGeom prst="rect">
            <a:avLst/>
          </a:prstGeom>
          <a:noFill/>
        </p:spPr>
        <p:txBody>
          <a:bodyPr wrap="square">
            <a:spAutoFit/>
          </a:bodyPr>
          <a:lstStyle/>
          <a:p>
            <a:pPr algn="l"/>
            <a:r>
              <a:rPr sz="1000" b="0" i="0">
                <a:solidFill>
                  <a:srgbClr val="3C3C3C"/>
                </a:solidFill>
                <a:latin typeface="Calibri"/>
              </a:rPr>
              <a:t>−38.3%</a:t>
            </a:r>
          </a:p>
        </p:txBody>
      </p:sp>
      <p:sp>
        <p:nvSpPr>
          <p:cNvPr id="50" name="TextBox 49"/>
          <p:cNvSpPr txBox="1"/>
          <p:nvPr/>
        </p:nvSpPr>
        <p:spPr>
          <a:xfrm>
            <a:off x="6355080" y="5303519"/>
            <a:ext cx="1508760" cy="566928"/>
          </a:xfrm>
          <a:prstGeom prst="rect">
            <a:avLst/>
          </a:prstGeom>
          <a:noFill/>
        </p:spPr>
        <p:txBody>
          <a:bodyPr wrap="square">
            <a:spAutoFit/>
          </a:bodyPr>
          <a:lstStyle/>
          <a:p>
            <a:pPr algn="l"/>
            <a:r>
              <a:rPr sz="1000" b="0" i="0">
                <a:solidFill>
                  <a:srgbClr val="E67300"/>
                </a:solidFill>
                <a:latin typeface="Calibri"/>
              </a:rPr>
              <a:t>Accepted ⚠</a:t>
            </a:r>
          </a:p>
        </p:txBody>
      </p:sp>
      <p:sp>
        <p:nvSpPr>
          <p:cNvPr id="51" name="TextBox 50"/>
          <p:cNvSpPr txBox="1"/>
          <p:nvPr/>
        </p:nvSpPr>
        <p:spPr>
          <a:xfrm>
            <a:off x="8001000" y="5303519"/>
            <a:ext cx="3794760" cy="566928"/>
          </a:xfrm>
          <a:prstGeom prst="rect">
            <a:avLst/>
          </a:prstGeom>
          <a:noFill/>
        </p:spPr>
        <p:txBody>
          <a:bodyPr wrap="square">
            <a:spAutoFit/>
          </a:bodyPr>
          <a:lstStyle/>
          <a:p>
            <a:pPr algn="l"/>
            <a:r>
              <a:rPr sz="1000" b="0" i="0">
                <a:solidFill>
                  <a:srgbClr val="3C3C3C"/>
                </a:solidFill>
                <a:latin typeface="Calibri"/>
              </a:rPr>
              <a:t>Same structural gap as CSR. 3,971 BIM DR parties have no row in vw_policy_driver.</a:t>
            </a:r>
          </a:p>
        </p:txBody>
      </p:sp>
      <p:sp>
        <p:nvSpPr>
          <p:cNvPr id="52" name="TextBox 51"/>
          <p:cNvSpPr txBox="1"/>
          <p:nvPr/>
        </p:nvSpPr>
        <p:spPr>
          <a:xfrm>
            <a:off x="320040" y="5989320"/>
            <a:ext cx="10972800" cy="256032"/>
          </a:xfrm>
          <a:prstGeom prst="rect">
            <a:avLst/>
          </a:prstGeom>
          <a:noFill/>
        </p:spPr>
        <p:txBody>
          <a:bodyPr wrap="square">
            <a:spAutoFit/>
          </a:bodyPr>
          <a:lstStyle/>
          <a:p>
            <a:pPr algn="l"/>
            <a:r>
              <a:rPr sz="1100" b="1" i="0">
                <a:solidFill>
                  <a:srgbClr val="1A3055"/>
                </a:solidFill>
                <a:latin typeface="Calibri"/>
              </a:rPr>
              <a:t>Key Technical Findings</a:t>
            </a:r>
          </a:p>
        </p:txBody>
      </p:sp>
      <p:sp>
        <p:nvSpPr>
          <p:cNvPr id="53" name="Rectangle 52"/>
          <p:cNvSpPr/>
          <p:nvPr/>
        </p:nvSpPr>
        <p:spPr>
          <a:xfrm>
            <a:off x="320040" y="6263640"/>
            <a:ext cx="3657600" cy="50292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80" y="6291072"/>
            <a:ext cx="1645920" cy="256032"/>
          </a:xfrm>
          <a:prstGeom prst="rect">
            <a:avLst/>
          </a:prstGeom>
          <a:noFill/>
        </p:spPr>
        <p:txBody>
          <a:bodyPr wrap="square">
            <a:spAutoFit/>
          </a:bodyPr>
          <a:lstStyle/>
          <a:p>
            <a:pPr algn="l"/>
            <a:r>
              <a:rPr sz="900" b="1" i="0">
                <a:solidFill>
                  <a:srgbClr val="E09A00"/>
                </a:solidFill>
                <a:latin typeface="Calibri"/>
              </a:rPr>
              <a:t>is_up_and_running = 255</a:t>
            </a:r>
          </a:p>
        </p:txBody>
      </p:sp>
      <p:sp>
        <p:nvSpPr>
          <p:cNvPr id="55" name="TextBox 54"/>
          <p:cNvSpPr txBox="1"/>
          <p:nvPr/>
        </p:nvSpPr>
        <p:spPr>
          <a:xfrm>
            <a:off x="2057400" y="6291072"/>
            <a:ext cx="1828800" cy="438912"/>
          </a:xfrm>
          <a:prstGeom prst="rect">
            <a:avLst/>
          </a:prstGeom>
          <a:noFill/>
        </p:spPr>
        <p:txBody>
          <a:bodyPr wrap="square">
            <a:spAutoFit/>
          </a:bodyPr>
          <a:lstStyle/>
          <a:p>
            <a:pPr algn="l"/>
            <a:r>
              <a:rPr sz="800" b="0" i="0">
                <a:solidFill>
                  <a:srgbClr val="B0B8C8"/>
                </a:solidFill>
                <a:latin typeface="Calibri"/>
              </a:rPr>
              <a:t>The active account indicator is a tinyint — all-bits-set (255), not 1. Using = 1 returned 0 rows.</a:t>
            </a:r>
          </a:p>
        </p:txBody>
      </p:sp>
      <p:sp>
        <p:nvSpPr>
          <p:cNvPr id="56" name="Rectangle 55"/>
          <p:cNvSpPr/>
          <p:nvPr/>
        </p:nvSpPr>
        <p:spPr>
          <a:xfrm>
            <a:off x="4087368" y="6263640"/>
            <a:ext cx="3657600" cy="50292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178808" y="6291072"/>
            <a:ext cx="1645920" cy="256032"/>
          </a:xfrm>
          <a:prstGeom prst="rect">
            <a:avLst/>
          </a:prstGeom>
          <a:noFill/>
        </p:spPr>
        <p:txBody>
          <a:bodyPr wrap="square">
            <a:spAutoFit/>
          </a:bodyPr>
          <a:lstStyle/>
          <a:p>
            <a:pPr algn="l"/>
            <a:r>
              <a:rPr sz="900" b="1" i="0">
                <a:solidFill>
                  <a:srgbClr val="E09A00"/>
                </a:solidFill>
                <a:latin typeface="Calibri"/>
              </a:rPr>
              <a:t>AWM → EDW Party Bridge</a:t>
            </a:r>
          </a:p>
        </p:txBody>
      </p:sp>
      <p:sp>
        <p:nvSpPr>
          <p:cNvPr id="58" name="TextBox 57"/>
          <p:cNvSpPr txBox="1"/>
          <p:nvPr/>
        </p:nvSpPr>
        <p:spPr>
          <a:xfrm>
            <a:off x="5824728" y="6291072"/>
            <a:ext cx="1828800" cy="438912"/>
          </a:xfrm>
          <a:prstGeom prst="rect">
            <a:avLst/>
          </a:prstGeom>
          <a:noFill/>
        </p:spPr>
        <p:txBody>
          <a:bodyPr wrap="square">
            <a:spAutoFit/>
          </a:bodyPr>
          <a:lstStyle/>
          <a:p>
            <a:pPr algn="l"/>
            <a:r>
              <a:rPr sz="800" b="0" i="0">
                <a:solidFill>
                  <a:srgbClr val="B0B8C8"/>
                </a:solidFill>
                <a:latin typeface="Calibri"/>
              </a:rPr>
              <a:t>party_id_same_as_link maps AWM duplicate anchor IDs to EDW master party_key — critical join path.</a:t>
            </a:r>
          </a:p>
        </p:txBody>
      </p:sp>
      <p:sp>
        <p:nvSpPr>
          <p:cNvPr id="59" name="Rectangle 58"/>
          <p:cNvSpPr/>
          <p:nvPr/>
        </p:nvSpPr>
        <p:spPr>
          <a:xfrm>
            <a:off x="7854696" y="6263640"/>
            <a:ext cx="3657600" cy="50292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946136" y="6291072"/>
            <a:ext cx="1645920" cy="256032"/>
          </a:xfrm>
          <a:prstGeom prst="rect">
            <a:avLst/>
          </a:prstGeom>
          <a:noFill/>
        </p:spPr>
        <p:txBody>
          <a:bodyPr wrap="square">
            <a:spAutoFit/>
          </a:bodyPr>
          <a:lstStyle/>
          <a:p>
            <a:pPr algn="l"/>
            <a:r>
              <a:rPr sz="900" b="1" i="0">
                <a:solidFill>
                  <a:srgbClr val="E09A00"/>
                </a:solidFill>
                <a:latin typeface="Calibri"/>
              </a:rPr>
              <a:t>ECOMM1 Session IDs</a:t>
            </a:r>
          </a:p>
        </p:txBody>
      </p:sp>
      <p:sp>
        <p:nvSpPr>
          <p:cNvPr id="61" name="TextBox 60"/>
          <p:cNvSpPr txBox="1"/>
          <p:nvPr/>
        </p:nvSpPr>
        <p:spPr>
          <a:xfrm>
            <a:off x="9592056" y="6291072"/>
            <a:ext cx="1828800" cy="438912"/>
          </a:xfrm>
          <a:prstGeom prst="rect">
            <a:avLst/>
          </a:prstGeom>
          <a:noFill/>
        </p:spPr>
        <p:txBody>
          <a:bodyPr wrap="square">
            <a:spAutoFit/>
          </a:bodyPr>
          <a:lstStyle/>
          <a:p>
            <a:pPr algn="l"/>
            <a:r>
              <a:rPr sz="800" b="0" i="0">
                <a:solidFill>
                  <a:srgbClr val="B0B8C8"/>
                </a:solidFill>
                <a:latin typeface="Calibri"/>
              </a:rPr>
              <a:t>Web session identifiers (ECOMM1%) were misclassified as CSR. Fixed to route correctly to CSS bucket.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9144000" cy="502920"/>
          </a:xfrm>
          <a:prstGeom prst="rect">
            <a:avLst/>
          </a:prstGeom>
          <a:noFill/>
        </p:spPr>
        <p:txBody>
          <a:bodyPr wrap="square">
            <a:spAutoFit/>
          </a:bodyPr>
          <a:lstStyle/>
          <a:p>
            <a:pPr algn="l"/>
            <a:r>
              <a:rPr sz="2200" b="1" i="0">
                <a:solidFill>
                  <a:srgbClr val="FFFFFF"/>
                </a:solidFill>
                <a:latin typeface="Calibri"/>
              </a:rPr>
              <a:t>Paperless Report: Data Quality Transformation</a:t>
            </a:r>
          </a:p>
        </p:txBody>
      </p:sp>
      <p:sp>
        <p:nvSpPr>
          <p:cNvPr id="5" name="TextBox 4"/>
          <p:cNvSpPr txBox="1"/>
          <p:nvPr/>
        </p:nvSpPr>
        <p:spPr>
          <a:xfrm>
            <a:off x="320040" y="548640"/>
            <a:ext cx="9144000" cy="320040"/>
          </a:xfrm>
          <a:prstGeom prst="rect">
            <a:avLst/>
          </a:prstGeom>
          <a:noFill/>
        </p:spPr>
        <p:txBody>
          <a:bodyPr wrap="square">
            <a:spAutoFit/>
          </a:bodyPr>
          <a:lstStyle/>
          <a:p>
            <a:pPr algn="l"/>
            <a:r>
              <a:rPr sz="1100" b="0" i="0">
                <a:solidFill>
                  <a:srgbClr val="B0B8C8"/>
                </a:solidFill>
                <a:latin typeface="Calibri"/>
              </a:rPr>
              <a:t>Full EDW/AWM rewrite — 15 bugs resolved, +9.3 percentage points of email coverage recovered</a:t>
            </a:r>
          </a:p>
        </p:txBody>
      </p:sp>
      <p:sp>
        <p:nvSpPr>
          <p:cNvPr id="6" name="Rectangle 5"/>
          <p:cNvSpPr/>
          <p:nvPr/>
        </p:nvSpPr>
        <p:spPr>
          <a:xfrm>
            <a:off x="0" y="868680"/>
            <a:ext cx="12188952" cy="36576"/>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88952" cy="27432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8229600" cy="274320"/>
          </a:xfrm>
          <a:prstGeom prst="rect">
            <a:avLst/>
          </a:prstGeom>
          <a:noFill/>
        </p:spPr>
        <p:txBody>
          <a:bodyPr wrap="square">
            <a:spAutoFit/>
          </a:bodyPr>
          <a:lstStyle/>
          <a:p>
            <a:pPr algn="l"/>
            <a:r>
              <a:rPr sz="800" b="0" i="0">
                <a:solidFill>
                  <a:srgbClr val="B0B8C8"/>
                </a:solidFill>
                <a:latin typeface="Calibri"/>
              </a:rPr>
              <a:t>Bourntec Solutions  |  PEMCO Mutual Insurance  |  Confidential — May 2026</a:t>
            </a:r>
          </a:p>
        </p:txBody>
      </p:sp>
      <p:sp>
        <p:nvSpPr>
          <p:cNvPr id="9" name="Rectangle 8"/>
          <p:cNvSpPr/>
          <p:nvPr/>
        </p:nvSpPr>
        <p:spPr>
          <a:xfrm>
            <a:off x="320040" y="1005840"/>
            <a:ext cx="2148840" cy="132588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143000"/>
            <a:ext cx="2148840" cy="594360"/>
          </a:xfrm>
          <a:prstGeom prst="rect">
            <a:avLst/>
          </a:prstGeom>
          <a:noFill/>
        </p:spPr>
        <p:txBody>
          <a:bodyPr wrap="square">
            <a:spAutoFit/>
          </a:bodyPr>
          <a:lstStyle/>
          <a:p>
            <a:pPr algn="ctr"/>
            <a:r>
              <a:rPr sz="3600" b="1" i="0">
                <a:solidFill>
                  <a:srgbClr val="FFFFFF"/>
                </a:solidFill>
                <a:latin typeface="Calibri"/>
              </a:rPr>
              <a:t>75.8%</a:t>
            </a:r>
          </a:p>
        </p:txBody>
      </p:sp>
      <p:sp>
        <p:nvSpPr>
          <p:cNvPr id="11" name="TextBox 10"/>
          <p:cNvSpPr txBox="1"/>
          <p:nvPr/>
        </p:nvSpPr>
        <p:spPr>
          <a:xfrm>
            <a:off x="411480" y="1691640"/>
            <a:ext cx="1965960" cy="502920"/>
          </a:xfrm>
          <a:prstGeom prst="rect">
            <a:avLst/>
          </a:prstGeom>
          <a:noFill/>
        </p:spPr>
        <p:txBody>
          <a:bodyPr wrap="square">
            <a:spAutoFit/>
          </a:bodyPr>
          <a:lstStyle/>
          <a:p>
            <a:pPr algn="ctr"/>
            <a:r>
              <a:rPr sz="1100" b="0" i="0">
                <a:solidFill>
                  <a:srgbClr val="FFCCCC"/>
                </a:solidFill>
                <a:latin typeface="Calibri"/>
              </a:rPr>
              <a:t>Email Coverage
Before</a:t>
            </a:r>
          </a:p>
        </p:txBody>
      </p:sp>
      <p:sp>
        <p:nvSpPr>
          <p:cNvPr id="12" name="Rectangle 11"/>
          <p:cNvSpPr/>
          <p:nvPr/>
        </p:nvSpPr>
        <p:spPr>
          <a:xfrm>
            <a:off x="2606040" y="1005840"/>
            <a:ext cx="2148840" cy="132588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1143000"/>
            <a:ext cx="2148840" cy="594360"/>
          </a:xfrm>
          <a:prstGeom prst="rect">
            <a:avLst/>
          </a:prstGeom>
          <a:noFill/>
        </p:spPr>
        <p:txBody>
          <a:bodyPr wrap="square">
            <a:spAutoFit/>
          </a:bodyPr>
          <a:lstStyle/>
          <a:p>
            <a:pPr algn="ctr"/>
            <a:r>
              <a:rPr sz="3600" b="1" i="0">
                <a:solidFill>
                  <a:srgbClr val="FFFFFF"/>
                </a:solidFill>
                <a:latin typeface="Calibri"/>
              </a:rPr>
              <a:t>85.1%</a:t>
            </a:r>
          </a:p>
        </p:txBody>
      </p:sp>
      <p:sp>
        <p:nvSpPr>
          <p:cNvPr id="14" name="TextBox 13"/>
          <p:cNvSpPr txBox="1"/>
          <p:nvPr/>
        </p:nvSpPr>
        <p:spPr>
          <a:xfrm>
            <a:off x="2697480" y="1691640"/>
            <a:ext cx="1965960" cy="502920"/>
          </a:xfrm>
          <a:prstGeom prst="rect">
            <a:avLst/>
          </a:prstGeom>
          <a:noFill/>
        </p:spPr>
        <p:txBody>
          <a:bodyPr wrap="square">
            <a:spAutoFit/>
          </a:bodyPr>
          <a:lstStyle/>
          <a:p>
            <a:pPr algn="ctr"/>
            <a:r>
              <a:rPr sz="1100" b="0" i="0">
                <a:solidFill>
                  <a:srgbClr val="CCFFDD"/>
                </a:solidFill>
                <a:latin typeface="Calibri"/>
              </a:rPr>
              <a:t>Email Coverage
After</a:t>
            </a:r>
          </a:p>
        </p:txBody>
      </p:sp>
      <p:sp>
        <p:nvSpPr>
          <p:cNvPr id="15" name="Rectangle 14"/>
          <p:cNvSpPr/>
          <p:nvPr/>
        </p:nvSpPr>
        <p:spPr>
          <a:xfrm>
            <a:off x="4892040" y="1005840"/>
            <a:ext cx="2148840" cy="1325880"/>
          </a:xfrm>
          <a:prstGeom prst="rect">
            <a:avLst/>
          </a:prstGeom>
          <a:solidFill>
            <a:srgbClr val="26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92040" y="1143000"/>
            <a:ext cx="2148840" cy="594360"/>
          </a:xfrm>
          <a:prstGeom prst="rect">
            <a:avLst/>
          </a:prstGeom>
          <a:noFill/>
        </p:spPr>
        <p:txBody>
          <a:bodyPr wrap="square">
            <a:spAutoFit/>
          </a:bodyPr>
          <a:lstStyle/>
          <a:p>
            <a:pPr algn="ctr"/>
            <a:r>
              <a:rPr sz="3600" b="1" i="0">
                <a:solidFill>
                  <a:srgbClr val="FFFFFF"/>
                </a:solidFill>
                <a:latin typeface="Calibri"/>
              </a:rPr>
              <a:t>+26,476</a:t>
            </a:r>
          </a:p>
        </p:txBody>
      </p:sp>
      <p:sp>
        <p:nvSpPr>
          <p:cNvPr id="17" name="TextBox 16"/>
          <p:cNvSpPr txBox="1"/>
          <p:nvPr/>
        </p:nvSpPr>
        <p:spPr>
          <a:xfrm>
            <a:off x="4983480" y="1691640"/>
            <a:ext cx="1965960" cy="502920"/>
          </a:xfrm>
          <a:prstGeom prst="rect">
            <a:avLst/>
          </a:prstGeom>
          <a:noFill/>
        </p:spPr>
        <p:txBody>
          <a:bodyPr wrap="square">
            <a:spAutoFit/>
          </a:bodyPr>
          <a:lstStyle/>
          <a:p>
            <a:pPr algn="ctr"/>
            <a:r>
              <a:rPr sz="1100" b="0" i="0">
                <a:solidFill>
                  <a:srgbClr val="CCE0FF"/>
                </a:solidFill>
                <a:latin typeface="Calibri"/>
              </a:rPr>
              <a:t>Additional Policies
With Email</a:t>
            </a:r>
          </a:p>
        </p:txBody>
      </p:sp>
      <p:sp>
        <p:nvSpPr>
          <p:cNvPr id="18" name="Rectangle 17"/>
          <p:cNvSpPr/>
          <p:nvPr/>
        </p:nvSpPr>
        <p:spPr>
          <a:xfrm>
            <a:off x="7178040" y="1005840"/>
            <a:ext cx="2148840" cy="132588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78040" y="1143000"/>
            <a:ext cx="2148840" cy="594360"/>
          </a:xfrm>
          <a:prstGeom prst="rect">
            <a:avLst/>
          </a:prstGeom>
          <a:noFill/>
        </p:spPr>
        <p:txBody>
          <a:bodyPr wrap="square">
            <a:spAutoFit/>
          </a:bodyPr>
          <a:lstStyle/>
          <a:p>
            <a:pPr algn="ctr"/>
            <a:r>
              <a:rPr sz="3600" b="1" i="0">
                <a:solidFill>
                  <a:srgbClr val="FFFFFF"/>
                </a:solidFill>
                <a:latin typeface="Calibri"/>
              </a:rPr>
              <a:t>15</a:t>
            </a:r>
          </a:p>
        </p:txBody>
      </p:sp>
      <p:sp>
        <p:nvSpPr>
          <p:cNvPr id="20" name="TextBox 19"/>
          <p:cNvSpPr txBox="1"/>
          <p:nvPr/>
        </p:nvSpPr>
        <p:spPr>
          <a:xfrm>
            <a:off x="7269480" y="1691640"/>
            <a:ext cx="1965960" cy="502920"/>
          </a:xfrm>
          <a:prstGeom prst="rect">
            <a:avLst/>
          </a:prstGeom>
          <a:noFill/>
        </p:spPr>
        <p:txBody>
          <a:bodyPr wrap="square">
            <a:spAutoFit/>
          </a:bodyPr>
          <a:lstStyle/>
          <a:p>
            <a:pPr algn="ctr"/>
            <a:r>
              <a:rPr sz="1100" b="0" i="0">
                <a:solidFill>
                  <a:srgbClr val="B0B8C8"/>
                </a:solidFill>
                <a:latin typeface="Calibri"/>
              </a:rPr>
              <a:t>Data Quality Issues
Found &amp; Resolved</a:t>
            </a:r>
          </a:p>
        </p:txBody>
      </p:sp>
      <p:sp>
        <p:nvSpPr>
          <p:cNvPr id="21" name="Rectangle 20"/>
          <p:cNvSpPr/>
          <p:nvPr/>
        </p:nvSpPr>
        <p:spPr>
          <a:xfrm>
            <a:off x="9464040" y="1005840"/>
            <a:ext cx="2148840" cy="1325880"/>
          </a:xfrm>
          <a:prstGeom prst="rect">
            <a:avLst/>
          </a:prstGeom>
          <a:solidFill>
            <a:srgbClr val="E09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64040" y="1143000"/>
            <a:ext cx="2148840" cy="594360"/>
          </a:xfrm>
          <a:prstGeom prst="rect">
            <a:avLst/>
          </a:prstGeom>
          <a:noFill/>
        </p:spPr>
        <p:txBody>
          <a:bodyPr wrap="square">
            <a:spAutoFit/>
          </a:bodyPr>
          <a:lstStyle/>
          <a:p>
            <a:pPr algn="ctr"/>
            <a:r>
              <a:rPr sz="3600" b="1" i="0">
                <a:solidFill>
                  <a:srgbClr val="3C3C3C"/>
                </a:solidFill>
                <a:latin typeface="Calibri"/>
              </a:rPr>
              <a:t>16→10</a:t>
            </a:r>
          </a:p>
        </p:txBody>
      </p:sp>
      <p:sp>
        <p:nvSpPr>
          <p:cNvPr id="23" name="TextBox 22"/>
          <p:cNvSpPr txBox="1"/>
          <p:nvPr/>
        </p:nvSpPr>
        <p:spPr>
          <a:xfrm>
            <a:off x="9555480" y="1691640"/>
            <a:ext cx="1965960" cy="502920"/>
          </a:xfrm>
          <a:prstGeom prst="rect">
            <a:avLst/>
          </a:prstGeom>
          <a:noFill/>
        </p:spPr>
        <p:txBody>
          <a:bodyPr wrap="square">
            <a:spAutoFit/>
          </a:bodyPr>
          <a:lstStyle/>
          <a:p>
            <a:pPr algn="ctr"/>
            <a:r>
              <a:rPr sz="1100" b="0" i="0">
                <a:solidFill>
                  <a:srgbClr val="FFFFFF"/>
                </a:solidFill>
                <a:latin typeface="Calibri"/>
              </a:rPr>
              <a:t>Pipeline Temp
Tables (Streamlined)</a:t>
            </a:r>
          </a:p>
        </p:txBody>
      </p:sp>
      <p:sp>
        <p:nvSpPr>
          <p:cNvPr id="24" name="Rectangle 23"/>
          <p:cNvSpPr/>
          <p:nvPr/>
        </p:nvSpPr>
        <p:spPr>
          <a:xfrm>
            <a:off x="320040" y="2468880"/>
            <a:ext cx="5486400" cy="3886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0040" y="2468880"/>
            <a:ext cx="5486400" cy="27432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2487168"/>
            <a:ext cx="5303520" cy="237744"/>
          </a:xfrm>
          <a:prstGeom prst="rect">
            <a:avLst/>
          </a:prstGeom>
          <a:noFill/>
        </p:spPr>
        <p:txBody>
          <a:bodyPr wrap="square">
            <a:spAutoFit/>
          </a:bodyPr>
          <a:lstStyle/>
          <a:p>
            <a:pPr algn="l"/>
            <a:r>
              <a:rPr sz="900" b="1" i="0">
                <a:solidFill>
                  <a:srgbClr val="FFFFFF"/>
                </a:solidFill>
                <a:latin typeface="Calibri"/>
              </a:rPr>
              <a:t>TOP ISSUES IDENTIFIED &amp; RESOLVED</a:t>
            </a:r>
          </a:p>
        </p:txBody>
      </p:sp>
      <p:sp>
        <p:nvSpPr>
          <p:cNvPr id="27" name="Rectangle 26"/>
          <p:cNvSpPr/>
          <p:nvPr/>
        </p:nvSpPr>
        <p:spPr>
          <a:xfrm>
            <a:off x="457200" y="2834640"/>
            <a:ext cx="411480" cy="475488"/>
          </a:xfrm>
          <a:prstGeom prst="rect">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2926080"/>
            <a:ext cx="411480" cy="274320"/>
          </a:xfrm>
          <a:prstGeom prst="rect">
            <a:avLst/>
          </a:prstGeom>
          <a:noFill/>
        </p:spPr>
        <p:txBody>
          <a:bodyPr wrap="square">
            <a:spAutoFit/>
          </a:bodyPr>
          <a:lstStyle/>
          <a:p>
            <a:pPr algn="ctr"/>
            <a:r>
              <a:rPr sz="800" b="1" i="0">
                <a:solidFill>
                  <a:srgbClr val="FFFFFF"/>
                </a:solidFill>
                <a:latin typeface="Calibri"/>
              </a:rPr>
              <a:t>#1</a:t>
            </a:r>
          </a:p>
        </p:txBody>
      </p:sp>
      <p:sp>
        <p:nvSpPr>
          <p:cNvPr id="29" name="TextBox 28"/>
          <p:cNvSpPr txBox="1"/>
          <p:nvPr/>
        </p:nvSpPr>
        <p:spPr>
          <a:xfrm>
            <a:off x="960120" y="2862072"/>
            <a:ext cx="1737360" cy="237744"/>
          </a:xfrm>
          <a:prstGeom prst="rect">
            <a:avLst/>
          </a:prstGeom>
          <a:noFill/>
        </p:spPr>
        <p:txBody>
          <a:bodyPr wrap="square">
            <a:spAutoFit/>
          </a:bodyPr>
          <a:lstStyle/>
          <a:p>
            <a:pPr algn="l"/>
            <a:r>
              <a:rPr sz="1000" b="1" i="0">
                <a:solidFill>
                  <a:srgbClr val="1A3055"/>
                </a:solidFill>
                <a:latin typeface="Calibri"/>
              </a:rPr>
              <a:t>35,820 policies dropped</a:t>
            </a:r>
          </a:p>
        </p:txBody>
      </p:sp>
      <p:sp>
        <p:nvSpPr>
          <p:cNvPr id="30" name="TextBox 29"/>
          <p:cNvSpPr txBox="1"/>
          <p:nvPr/>
        </p:nvSpPr>
        <p:spPr>
          <a:xfrm>
            <a:off x="960120" y="3090672"/>
            <a:ext cx="4754880" cy="256032"/>
          </a:xfrm>
          <a:prstGeom prst="rect">
            <a:avLst/>
          </a:prstGeom>
          <a:noFill/>
        </p:spPr>
        <p:txBody>
          <a:bodyPr wrap="square">
            <a:spAutoFit/>
          </a:bodyPr>
          <a:lstStyle/>
          <a:p>
            <a:pPr algn="l"/>
            <a:r>
              <a:rPr sz="900" b="0" i="0">
                <a:solidFill>
                  <a:srgbClr val="3C3C3C"/>
                </a:solidFill>
                <a:latin typeface="Calibri"/>
              </a:rPr>
              <a:t>vw_policyholder joined on 3 date columns — mid-term endorsements silently failed join.</a:t>
            </a:r>
          </a:p>
        </p:txBody>
      </p:sp>
      <p:sp>
        <p:nvSpPr>
          <p:cNvPr id="31" name="Rectangle 30"/>
          <p:cNvSpPr/>
          <p:nvPr/>
        </p:nvSpPr>
        <p:spPr>
          <a:xfrm>
            <a:off x="457200" y="3429000"/>
            <a:ext cx="411480" cy="475488"/>
          </a:xfrm>
          <a:prstGeom prst="rect">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3520440"/>
            <a:ext cx="411480" cy="274320"/>
          </a:xfrm>
          <a:prstGeom prst="rect">
            <a:avLst/>
          </a:prstGeom>
          <a:noFill/>
        </p:spPr>
        <p:txBody>
          <a:bodyPr wrap="square">
            <a:spAutoFit/>
          </a:bodyPr>
          <a:lstStyle/>
          <a:p>
            <a:pPr algn="ctr"/>
            <a:r>
              <a:rPr sz="800" b="1" i="0">
                <a:solidFill>
                  <a:srgbClr val="FFFFFF"/>
                </a:solidFill>
                <a:latin typeface="Calibri"/>
              </a:rPr>
              <a:t>#5</a:t>
            </a:r>
          </a:p>
        </p:txBody>
      </p:sp>
      <p:sp>
        <p:nvSpPr>
          <p:cNvPr id="33" name="TextBox 32"/>
          <p:cNvSpPr txBox="1"/>
          <p:nvPr/>
        </p:nvSpPr>
        <p:spPr>
          <a:xfrm>
            <a:off x="960120" y="3456432"/>
            <a:ext cx="1737360" cy="237744"/>
          </a:xfrm>
          <a:prstGeom prst="rect">
            <a:avLst/>
          </a:prstGeom>
          <a:noFill/>
        </p:spPr>
        <p:txBody>
          <a:bodyPr wrap="square">
            <a:spAutoFit/>
          </a:bodyPr>
          <a:lstStyle/>
          <a:p>
            <a:pPr algn="l"/>
            <a:r>
              <a:rPr sz="1000" b="1" i="0">
                <a:solidFill>
                  <a:srgbClr val="1A3055"/>
                </a:solidFill>
                <a:latin typeface="Calibri"/>
              </a:rPr>
              <a:t>Email fan-out bug</a:t>
            </a:r>
          </a:p>
        </p:txBody>
      </p:sp>
      <p:sp>
        <p:nvSpPr>
          <p:cNvPr id="34" name="TextBox 33"/>
          <p:cNvSpPr txBox="1"/>
          <p:nvPr/>
        </p:nvSpPr>
        <p:spPr>
          <a:xfrm>
            <a:off x="960120" y="3685032"/>
            <a:ext cx="4754880" cy="256032"/>
          </a:xfrm>
          <a:prstGeom prst="rect">
            <a:avLst/>
          </a:prstGeom>
          <a:noFill/>
        </p:spPr>
        <p:txBody>
          <a:bodyPr wrap="square">
            <a:spAutoFit/>
          </a:bodyPr>
          <a:lstStyle/>
          <a:p>
            <a:pPr algn="l"/>
            <a:r>
              <a:rPr sz="900" b="0" i="0">
                <a:solidFill>
                  <a:srgbClr val="3C3C3C"/>
                </a:solidFill>
                <a:latin typeface="Calibri"/>
              </a:rPr>
              <a:t>asp_user_account_detail partitioned by (link_id, user_name) — one link, 3 rows, counts &gt; total.</a:t>
            </a:r>
          </a:p>
        </p:txBody>
      </p:sp>
      <p:sp>
        <p:nvSpPr>
          <p:cNvPr id="35" name="Rectangle 34"/>
          <p:cNvSpPr/>
          <p:nvPr/>
        </p:nvSpPr>
        <p:spPr>
          <a:xfrm>
            <a:off x="457200" y="4023360"/>
            <a:ext cx="411480" cy="475488"/>
          </a:xfrm>
          <a:prstGeom prst="rect">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114800"/>
            <a:ext cx="411480" cy="274320"/>
          </a:xfrm>
          <a:prstGeom prst="rect">
            <a:avLst/>
          </a:prstGeom>
          <a:noFill/>
        </p:spPr>
        <p:txBody>
          <a:bodyPr wrap="square">
            <a:spAutoFit/>
          </a:bodyPr>
          <a:lstStyle/>
          <a:p>
            <a:pPr algn="ctr"/>
            <a:r>
              <a:rPr sz="800" b="1" i="0">
                <a:solidFill>
                  <a:srgbClr val="FFFFFF"/>
                </a:solidFill>
                <a:latin typeface="Calibri"/>
              </a:rPr>
              <a:t>#8</a:t>
            </a:r>
          </a:p>
        </p:txBody>
      </p:sp>
      <p:sp>
        <p:nvSpPr>
          <p:cNvPr id="37" name="TextBox 36"/>
          <p:cNvSpPr txBox="1"/>
          <p:nvPr/>
        </p:nvSpPr>
        <p:spPr>
          <a:xfrm>
            <a:off x="960120" y="4050792"/>
            <a:ext cx="1737360" cy="237744"/>
          </a:xfrm>
          <a:prstGeom prst="rect">
            <a:avLst/>
          </a:prstGeom>
          <a:noFill/>
        </p:spPr>
        <p:txBody>
          <a:bodyPr wrap="square">
            <a:spAutoFit/>
          </a:bodyPr>
          <a:lstStyle/>
          <a:p>
            <a:pPr algn="l"/>
            <a:r>
              <a:rPr sz="1000" b="1" i="0">
                <a:solidFill>
                  <a:srgbClr val="1A3055"/>
                </a:solidFill>
                <a:latin typeface="Calibri"/>
              </a:rPr>
              <a:t>26,476 ANI emails missed</a:t>
            </a:r>
          </a:p>
        </p:txBody>
      </p:sp>
      <p:sp>
        <p:nvSpPr>
          <p:cNvPr id="38" name="TextBox 37"/>
          <p:cNvSpPr txBox="1"/>
          <p:nvPr/>
        </p:nvSpPr>
        <p:spPr>
          <a:xfrm>
            <a:off x="960120" y="4279392"/>
            <a:ext cx="4754880" cy="256032"/>
          </a:xfrm>
          <a:prstGeom prst="rect">
            <a:avLst/>
          </a:prstGeom>
          <a:noFill/>
        </p:spPr>
        <p:txBody>
          <a:bodyPr wrap="square">
            <a:spAutoFit/>
          </a:bodyPr>
          <a:lstStyle/>
          <a:p>
            <a:pPr algn="l"/>
            <a:r>
              <a:rPr sz="900" b="0" i="0">
                <a:solidFill>
                  <a:srgbClr val="3C3C3C"/>
                </a:solidFill>
                <a:latin typeface="Calibri"/>
              </a:rPr>
              <a:t>Grain dedup always picked NIN even when NIN had no email. ANI email was silently discarded.</a:t>
            </a:r>
          </a:p>
        </p:txBody>
      </p:sp>
      <p:sp>
        <p:nvSpPr>
          <p:cNvPr id="39" name="Rectangle 38"/>
          <p:cNvSpPr/>
          <p:nvPr/>
        </p:nvSpPr>
        <p:spPr>
          <a:xfrm>
            <a:off x="457200" y="4617720"/>
            <a:ext cx="411480" cy="475488"/>
          </a:xfrm>
          <a:prstGeom prst="rect">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4709160"/>
            <a:ext cx="411480" cy="274320"/>
          </a:xfrm>
          <a:prstGeom prst="rect">
            <a:avLst/>
          </a:prstGeom>
          <a:noFill/>
        </p:spPr>
        <p:txBody>
          <a:bodyPr wrap="square">
            <a:spAutoFit/>
          </a:bodyPr>
          <a:lstStyle/>
          <a:p>
            <a:pPr algn="ctr"/>
            <a:r>
              <a:rPr sz="800" b="1" i="0">
                <a:solidFill>
                  <a:srgbClr val="FFFFFF"/>
                </a:solidFill>
                <a:latin typeface="Calibri"/>
              </a:rPr>
              <a:t>#2</a:t>
            </a:r>
          </a:p>
        </p:txBody>
      </p:sp>
      <p:sp>
        <p:nvSpPr>
          <p:cNvPr id="41" name="TextBox 40"/>
          <p:cNvSpPr txBox="1"/>
          <p:nvPr/>
        </p:nvSpPr>
        <p:spPr>
          <a:xfrm>
            <a:off x="960120" y="4645152"/>
            <a:ext cx="1737360" cy="237744"/>
          </a:xfrm>
          <a:prstGeom prst="rect">
            <a:avLst/>
          </a:prstGeom>
          <a:noFill/>
        </p:spPr>
        <p:txBody>
          <a:bodyPr wrap="square">
            <a:spAutoFit/>
          </a:bodyPr>
          <a:lstStyle/>
          <a:p>
            <a:pPr algn="l"/>
            <a:r>
              <a:rPr sz="1000" b="1" i="0">
                <a:solidFill>
                  <a:srgbClr val="1A3055"/>
                </a:solidFill>
                <a:latin typeface="Calibri"/>
              </a:rPr>
              <a:t>CIF superseded records</a:t>
            </a:r>
          </a:p>
        </p:txBody>
      </p:sp>
      <p:sp>
        <p:nvSpPr>
          <p:cNvPr id="42" name="TextBox 41"/>
          <p:cNvSpPr txBox="1"/>
          <p:nvPr/>
        </p:nvSpPr>
        <p:spPr>
          <a:xfrm>
            <a:off x="960120" y="4873752"/>
            <a:ext cx="4754880" cy="256032"/>
          </a:xfrm>
          <a:prstGeom prst="rect">
            <a:avLst/>
          </a:prstGeom>
          <a:noFill/>
        </p:spPr>
        <p:txBody>
          <a:bodyPr wrap="square">
            <a:spAutoFit/>
          </a:bodyPr>
          <a:lstStyle/>
          <a:p>
            <a:pPr algn="l"/>
            <a:r>
              <a:rPr sz="900" b="0" i="0">
                <a:solidFill>
                  <a:srgbClr val="3C3C3C"/>
                </a:solidFill>
                <a:latin typeface="Calibri"/>
              </a:rPr>
              <a:t>Valid_to_date filter missing — stale superseded CIF records overrode current paperless preference.</a:t>
            </a:r>
          </a:p>
        </p:txBody>
      </p:sp>
      <p:sp>
        <p:nvSpPr>
          <p:cNvPr id="43" name="Rectangle 42"/>
          <p:cNvSpPr/>
          <p:nvPr/>
        </p:nvSpPr>
        <p:spPr>
          <a:xfrm>
            <a:off x="457200" y="5212080"/>
            <a:ext cx="411480" cy="475488"/>
          </a:xfrm>
          <a:prstGeom prst="rect">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5303520"/>
            <a:ext cx="411480" cy="274320"/>
          </a:xfrm>
          <a:prstGeom prst="rect">
            <a:avLst/>
          </a:prstGeom>
          <a:noFill/>
        </p:spPr>
        <p:txBody>
          <a:bodyPr wrap="square">
            <a:spAutoFit/>
          </a:bodyPr>
          <a:lstStyle/>
          <a:p>
            <a:pPr algn="ctr"/>
            <a:r>
              <a:rPr sz="800" b="1" i="0">
                <a:solidFill>
                  <a:srgbClr val="FFFFFF"/>
                </a:solidFill>
                <a:latin typeface="Calibri"/>
              </a:rPr>
              <a:t>#4</a:t>
            </a:r>
          </a:p>
        </p:txBody>
      </p:sp>
      <p:sp>
        <p:nvSpPr>
          <p:cNvPr id="45" name="TextBox 44"/>
          <p:cNvSpPr txBox="1"/>
          <p:nvPr/>
        </p:nvSpPr>
        <p:spPr>
          <a:xfrm>
            <a:off x="960120" y="5239512"/>
            <a:ext cx="1737360" cy="237744"/>
          </a:xfrm>
          <a:prstGeom prst="rect">
            <a:avLst/>
          </a:prstGeom>
          <a:noFill/>
        </p:spPr>
        <p:txBody>
          <a:bodyPr wrap="square">
            <a:spAutoFit/>
          </a:bodyPr>
          <a:lstStyle/>
          <a:p>
            <a:pPr algn="l"/>
            <a:r>
              <a:rPr sz="1000" b="1" i="0">
                <a:solidFill>
                  <a:srgbClr val="1A3055"/>
                </a:solidFill>
                <a:latin typeface="Calibri"/>
              </a:rPr>
              <a:t>NULL coerced to 'N'</a:t>
            </a:r>
          </a:p>
        </p:txBody>
      </p:sp>
      <p:sp>
        <p:nvSpPr>
          <p:cNvPr id="46" name="TextBox 45"/>
          <p:cNvSpPr txBox="1"/>
          <p:nvPr/>
        </p:nvSpPr>
        <p:spPr>
          <a:xfrm>
            <a:off x="960120" y="5468112"/>
            <a:ext cx="4754880" cy="256032"/>
          </a:xfrm>
          <a:prstGeom prst="rect">
            <a:avLst/>
          </a:prstGeom>
          <a:noFill/>
        </p:spPr>
        <p:txBody>
          <a:bodyPr wrap="square">
            <a:spAutoFit/>
          </a:bodyPr>
          <a:lstStyle/>
          <a:p>
            <a:pPr algn="l"/>
            <a:r>
              <a:rPr sz="900" b="0" i="0">
                <a:solidFill>
                  <a:srgbClr val="3C3C3C"/>
                </a:solidFill>
                <a:latin typeface="Calibri"/>
              </a:rPr>
              <a:t>Paper_notify NULL treated as 'N' (not paperless). Absent data ≠ confirmed non-paperless.</a:t>
            </a:r>
          </a:p>
        </p:txBody>
      </p:sp>
      <p:sp>
        <p:nvSpPr>
          <p:cNvPr id="47" name="Rectangle 46"/>
          <p:cNvSpPr/>
          <p:nvPr/>
        </p:nvSpPr>
        <p:spPr>
          <a:xfrm>
            <a:off x="457200" y="5806440"/>
            <a:ext cx="411480" cy="475488"/>
          </a:xfrm>
          <a:prstGeom prst="rect">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5897880"/>
            <a:ext cx="411480" cy="274320"/>
          </a:xfrm>
          <a:prstGeom prst="rect">
            <a:avLst/>
          </a:prstGeom>
          <a:noFill/>
        </p:spPr>
        <p:txBody>
          <a:bodyPr wrap="square">
            <a:spAutoFit/>
          </a:bodyPr>
          <a:lstStyle/>
          <a:p>
            <a:pPr algn="ctr"/>
            <a:r>
              <a:rPr sz="800" b="1" i="0">
                <a:solidFill>
                  <a:srgbClr val="FFFFFF"/>
                </a:solidFill>
                <a:latin typeface="Calibri"/>
              </a:rPr>
              <a:t>#7</a:t>
            </a:r>
          </a:p>
        </p:txBody>
      </p:sp>
      <p:sp>
        <p:nvSpPr>
          <p:cNvPr id="49" name="TextBox 48"/>
          <p:cNvSpPr txBox="1"/>
          <p:nvPr/>
        </p:nvSpPr>
        <p:spPr>
          <a:xfrm>
            <a:off x="960120" y="5833872"/>
            <a:ext cx="1737360" cy="237744"/>
          </a:xfrm>
          <a:prstGeom prst="rect">
            <a:avLst/>
          </a:prstGeom>
          <a:noFill/>
        </p:spPr>
        <p:txBody>
          <a:bodyPr wrap="square">
            <a:spAutoFit/>
          </a:bodyPr>
          <a:lstStyle/>
          <a:p>
            <a:pPr algn="l"/>
            <a:r>
              <a:rPr sz="1000" b="1" i="0">
                <a:solidFill>
                  <a:srgbClr val="1A3055"/>
                </a:solidFill>
                <a:latin typeface="Calibri"/>
              </a:rPr>
              <a:t>BIM fallback = 0 rows</a:t>
            </a:r>
          </a:p>
        </p:txBody>
      </p:sp>
      <p:sp>
        <p:nvSpPr>
          <p:cNvPr id="50" name="TextBox 49"/>
          <p:cNvSpPr txBox="1"/>
          <p:nvPr/>
        </p:nvSpPr>
        <p:spPr>
          <a:xfrm>
            <a:off x="960120" y="6062472"/>
            <a:ext cx="4754880" cy="256032"/>
          </a:xfrm>
          <a:prstGeom prst="rect">
            <a:avLst/>
          </a:prstGeom>
          <a:noFill/>
        </p:spPr>
        <p:txBody>
          <a:bodyPr wrap="square">
            <a:spAutoFit/>
          </a:bodyPr>
          <a:lstStyle/>
          <a:p>
            <a:pPr algn="l"/>
            <a:r>
              <a:rPr sz="900" b="0" i="0">
                <a:solidFill>
                  <a:srgbClr val="3C3C3C"/>
                </a:solidFill>
                <a:latin typeface="Calibri"/>
              </a:rPr>
              <a:t>Incorrect format strip on POL_KEY join — removed strip and 464 fallback emails recovered.</a:t>
            </a:r>
          </a:p>
        </p:txBody>
      </p:sp>
      <p:sp>
        <p:nvSpPr>
          <p:cNvPr id="51" name="Rectangle 50"/>
          <p:cNvSpPr/>
          <p:nvPr/>
        </p:nvSpPr>
        <p:spPr>
          <a:xfrm>
            <a:off x="6080760" y="2468880"/>
            <a:ext cx="576072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080760" y="2468880"/>
            <a:ext cx="5760720" cy="274320"/>
          </a:xfrm>
          <a:prstGeom prst="rect">
            <a:avLst/>
          </a:prstGeom>
          <a:solidFill>
            <a:srgbClr val="26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0" y="2487168"/>
            <a:ext cx="5577840" cy="237744"/>
          </a:xfrm>
          <a:prstGeom prst="rect">
            <a:avLst/>
          </a:prstGeom>
          <a:noFill/>
        </p:spPr>
        <p:txBody>
          <a:bodyPr wrap="square">
            <a:spAutoFit/>
          </a:bodyPr>
          <a:lstStyle/>
          <a:p>
            <a:pPr algn="l"/>
            <a:r>
              <a:rPr sz="900" b="1" i="0">
                <a:solidFill>
                  <a:srgbClr val="FFFFFF"/>
                </a:solidFill>
                <a:latin typeface="Calibri"/>
              </a:rPr>
              <a:t>EMAIL RESOLUTION CHAIN — FINAL BREAKDOWN (294,275 Policies)</a:t>
            </a:r>
          </a:p>
        </p:txBody>
      </p:sp>
      <p:sp>
        <p:nvSpPr>
          <p:cNvPr id="54" name="TextBox 53"/>
          <p:cNvSpPr txBox="1"/>
          <p:nvPr/>
        </p:nvSpPr>
        <p:spPr>
          <a:xfrm>
            <a:off x="6217920" y="2834640"/>
            <a:ext cx="3017520" cy="256032"/>
          </a:xfrm>
          <a:prstGeom prst="rect">
            <a:avLst/>
          </a:prstGeom>
          <a:noFill/>
        </p:spPr>
        <p:txBody>
          <a:bodyPr wrap="square">
            <a:spAutoFit/>
          </a:bodyPr>
          <a:lstStyle/>
          <a:p>
            <a:pPr algn="l"/>
            <a:r>
              <a:rPr sz="900" b="1" i="0">
                <a:solidFill>
                  <a:srgbClr val="3C3C3C"/>
                </a:solidFill>
                <a:latin typeface="Calibri"/>
              </a:rPr>
              <a:t>EMAIL RESOLVED</a:t>
            </a:r>
          </a:p>
        </p:txBody>
      </p:sp>
      <p:sp>
        <p:nvSpPr>
          <p:cNvPr id="55" name="TextBox 54"/>
          <p:cNvSpPr txBox="1"/>
          <p:nvPr/>
        </p:nvSpPr>
        <p:spPr>
          <a:xfrm>
            <a:off x="9281160" y="2834640"/>
            <a:ext cx="1005840" cy="256032"/>
          </a:xfrm>
          <a:prstGeom prst="rect">
            <a:avLst/>
          </a:prstGeom>
          <a:noFill/>
        </p:spPr>
        <p:txBody>
          <a:bodyPr wrap="square">
            <a:spAutoFit/>
          </a:bodyPr>
          <a:lstStyle/>
          <a:p>
            <a:pPr algn="r"/>
            <a:r>
              <a:rPr sz="900" b="1" i="0">
                <a:solidFill>
                  <a:srgbClr val="1E8A44"/>
                </a:solidFill>
                <a:latin typeface="Calibri"/>
              </a:rPr>
              <a:t>250,280</a:t>
            </a:r>
          </a:p>
        </p:txBody>
      </p:sp>
      <p:sp>
        <p:nvSpPr>
          <p:cNvPr id="56" name="TextBox 55"/>
          <p:cNvSpPr txBox="1"/>
          <p:nvPr/>
        </p:nvSpPr>
        <p:spPr>
          <a:xfrm>
            <a:off x="10378440" y="2834640"/>
            <a:ext cx="777240" cy="256032"/>
          </a:xfrm>
          <a:prstGeom prst="rect">
            <a:avLst/>
          </a:prstGeom>
          <a:noFill/>
        </p:spPr>
        <p:txBody>
          <a:bodyPr wrap="square">
            <a:spAutoFit/>
          </a:bodyPr>
          <a:lstStyle/>
          <a:p>
            <a:pPr algn="r"/>
            <a:r>
              <a:rPr sz="900" b="0" i="0">
                <a:solidFill>
                  <a:srgbClr val="1E8A44"/>
                </a:solidFill>
                <a:latin typeface="Calibri"/>
              </a:rPr>
              <a:t>85.0%</a:t>
            </a:r>
          </a:p>
        </p:txBody>
      </p:sp>
      <p:sp>
        <p:nvSpPr>
          <p:cNvPr id="57" name="TextBox 56"/>
          <p:cNvSpPr txBox="1"/>
          <p:nvPr/>
        </p:nvSpPr>
        <p:spPr>
          <a:xfrm>
            <a:off x="6217920" y="3108960"/>
            <a:ext cx="3017520" cy="256032"/>
          </a:xfrm>
          <a:prstGeom prst="rect">
            <a:avLst/>
          </a:prstGeom>
          <a:noFill/>
        </p:spPr>
        <p:txBody>
          <a:bodyPr wrap="square">
            <a:spAutoFit/>
          </a:bodyPr>
          <a:lstStyle/>
          <a:p>
            <a:pPr algn="l"/>
            <a:r>
              <a:rPr sz="900" b="0" i="0">
                <a:solidFill>
                  <a:srgbClr val="3C3C3C"/>
                </a:solidFill>
                <a:latin typeface="Calibri"/>
              </a:rPr>
              <a:t>  — via NIN (Named Insured)</a:t>
            </a:r>
          </a:p>
        </p:txBody>
      </p:sp>
      <p:sp>
        <p:nvSpPr>
          <p:cNvPr id="58" name="TextBox 57"/>
          <p:cNvSpPr txBox="1"/>
          <p:nvPr/>
        </p:nvSpPr>
        <p:spPr>
          <a:xfrm>
            <a:off x="9281160" y="3108960"/>
            <a:ext cx="1005840" cy="256032"/>
          </a:xfrm>
          <a:prstGeom prst="rect">
            <a:avLst/>
          </a:prstGeom>
          <a:noFill/>
        </p:spPr>
        <p:txBody>
          <a:bodyPr wrap="square">
            <a:spAutoFit/>
          </a:bodyPr>
          <a:lstStyle/>
          <a:p>
            <a:pPr algn="r"/>
            <a:r>
              <a:rPr sz="900" b="1" i="0">
                <a:solidFill>
                  <a:srgbClr val="227744"/>
                </a:solidFill>
                <a:latin typeface="Calibri"/>
              </a:rPr>
              <a:t>202,622</a:t>
            </a:r>
          </a:p>
        </p:txBody>
      </p:sp>
      <p:sp>
        <p:nvSpPr>
          <p:cNvPr id="59" name="TextBox 58"/>
          <p:cNvSpPr txBox="1"/>
          <p:nvPr/>
        </p:nvSpPr>
        <p:spPr>
          <a:xfrm>
            <a:off x="10378440" y="3108960"/>
            <a:ext cx="777240" cy="256032"/>
          </a:xfrm>
          <a:prstGeom prst="rect">
            <a:avLst/>
          </a:prstGeom>
          <a:noFill/>
        </p:spPr>
        <p:txBody>
          <a:bodyPr wrap="square">
            <a:spAutoFit/>
          </a:bodyPr>
          <a:lstStyle/>
          <a:p>
            <a:pPr algn="r"/>
            <a:r>
              <a:rPr sz="900" b="0" i="0">
                <a:solidFill>
                  <a:srgbClr val="227744"/>
                </a:solidFill>
                <a:latin typeface="Calibri"/>
              </a:rPr>
              <a:t>68.9%</a:t>
            </a:r>
          </a:p>
        </p:txBody>
      </p:sp>
      <p:sp>
        <p:nvSpPr>
          <p:cNvPr id="60" name="TextBox 59"/>
          <p:cNvSpPr txBox="1"/>
          <p:nvPr/>
        </p:nvSpPr>
        <p:spPr>
          <a:xfrm>
            <a:off x="6217920" y="3383280"/>
            <a:ext cx="3017520" cy="256032"/>
          </a:xfrm>
          <a:prstGeom prst="rect">
            <a:avLst/>
          </a:prstGeom>
          <a:noFill/>
        </p:spPr>
        <p:txBody>
          <a:bodyPr wrap="square">
            <a:spAutoFit/>
          </a:bodyPr>
          <a:lstStyle/>
          <a:p>
            <a:pPr algn="l"/>
            <a:r>
              <a:rPr sz="900" b="0" i="0">
                <a:solidFill>
                  <a:srgbClr val="3C3C3C"/>
                </a:solidFill>
                <a:latin typeface="Calibri"/>
              </a:rPr>
              <a:t>  — via ANI (Additional Named)</a:t>
            </a:r>
          </a:p>
        </p:txBody>
      </p:sp>
      <p:sp>
        <p:nvSpPr>
          <p:cNvPr id="61" name="TextBox 60"/>
          <p:cNvSpPr txBox="1"/>
          <p:nvPr/>
        </p:nvSpPr>
        <p:spPr>
          <a:xfrm>
            <a:off x="9281160" y="3383280"/>
            <a:ext cx="1005840" cy="256032"/>
          </a:xfrm>
          <a:prstGeom prst="rect">
            <a:avLst/>
          </a:prstGeom>
          <a:noFill/>
        </p:spPr>
        <p:txBody>
          <a:bodyPr wrap="square">
            <a:spAutoFit/>
          </a:bodyPr>
          <a:lstStyle/>
          <a:p>
            <a:pPr algn="r"/>
            <a:r>
              <a:rPr sz="900" b="1" i="0">
                <a:solidFill>
                  <a:srgbClr val="227744"/>
                </a:solidFill>
                <a:latin typeface="Calibri"/>
              </a:rPr>
              <a:t>47,658</a:t>
            </a:r>
          </a:p>
        </p:txBody>
      </p:sp>
      <p:sp>
        <p:nvSpPr>
          <p:cNvPr id="62" name="TextBox 61"/>
          <p:cNvSpPr txBox="1"/>
          <p:nvPr/>
        </p:nvSpPr>
        <p:spPr>
          <a:xfrm>
            <a:off x="10378440" y="3383280"/>
            <a:ext cx="777240" cy="256032"/>
          </a:xfrm>
          <a:prstGeom prst="rect">
            <a:avLst/>
          </a:prstGeom>
          <a:noFill/>
        </p:spPr>
        <p:txBody>
          <a:bodyPr wrap="square">
            <a:spAutoFit/>
          </a:bodyPr>
          <a:lstStyle/>
          <a:p>
            <a:pPr algn="r"/>
            <a:r>
              <a:rPr sz="900" b="0" i="0">
                <a:solidFill>
                  <a:srgbClr val="227744"/>
                </a:solidFill>
                <a:latin typeface="Calibri"/>
              </a:rPr>
              <a:t>16.2%</a:t>
            </a:r>
          </a:p>
        </p:txBody>
      </p:sp>
      <p:sp>
        <p:nvSpPr>
          <p:cNvPr id="63" name="TextBox 62"/>
          <p:cNvSpPr txBox="1"/>
          <p:nvPr/>
        </p:nvSpPr>
        <p:spPr>
          <a:xfrm>
            <a:off x="6217920" y="3657600"/>
            <a:ext cx="3017520" cy="256032"/>
          </a:xfrm>
          <a:prstGeom prst="rect">
            <a:avLst/>
          </a:prstGeom>
          <a:noFill/>
        </p:spPr>
        <p:txBody>
          <a:bodyPr wrap="square">
            <a:spAutoFit/>
          </a:bodyPr>
          <a:lstStyle/>
          <a:p>
            <a:pPr algn="l"/>
            <a:r>
              <a:rPr sz="900" b="1" i="0">
                <a:solidFill>
                  <a:srgbClr val="3C3C3C"/>
                </a:solidFill>
                <a:latin typeface="Calibri"/>
              </a:rPr>
              <a:t>NO ACCOUNT LINK</a:t>
            </a:r>
          </a:p>
        </p:txBody>
      </p:sp>
      <p:sp>
        <p:nvSpPr>
          <p:cNvPr id="64" name="TextBox 63"/>
          <p:cNvSpPr txBox="1"/>
          <p:nvPr/>
        </p:nvSpPr>
        <p:spPr>
          <a:xfrm>
            <a:off x="9281160" y="3657600"/>
            <a:ext cx="1005840" cy="256032"/>
          </a:xfrm>
          <a:prstGeom prst="rect">
            <a:avLst/>
          </a:prstGeom>
          <a:noFill/>
        </p:spPr>
        <p:txBody>
          <a:bodyPr wrap="square">
            <a:spAutoFit/>
          </a:bodyPr>
          <a:lstStyle/>
          <a:p>
            <a:pPr algn="r"/>
            <a:r>
              <a:rPr sz="900" b="1" i="0">
                <a:solidFill>
                  <a:srgbClr val="E67300"/>
                </a:solidFill>
                <a:latin typeface="Calibri"/>
              </a:rPr>
              <a:t>36,376</a:t>
            </a:r>
          </a:p>
        </p:txBody>
      </p:sp>
      <p:sp>
        <p:nvSpPr>
          <p:cNvPr id="65" name="TextBox 64"/>
          <p:cNvSpPr txBox="1"/>
          <p:nvPr/>
        </p:nvSpPr>
        <p:spPr>
          <a:xfrm>
            <a:off x="10378440" y="3657600"/>
            <a:ext cx="777240" cy="256032"/>
          </a:xfrm>
          <a:prstGeom prst="rect">
            <a:avLst/>
          </a:prstGeom>
          <a:noFill/>
        </p:spPr>
        <p:txBody>
          <a:bodyPr wrap="square">
            <a:spAutoFit/>
          </a:bodyPr>
          <a:lstStyle/>
          <a:p>
            <a:pPr algn="r"/>
            <a:r>
              <a:rPr sz="900" b="0" i="0">
                <a:solidFill>
                  <a:srgbClr val="E67300"/>
                </a:solidFill>
                <a:latin typeface="Calibri"/>
              </a:rPr>
              <a:t>12.4%</a:t>
            </a:r>
          </a:p>
        </p:txBody>
      </p:sp>
      <p:sp>
        <p:nvSpPr>
          <p:cNvPr id="66" name="TextBox 65"/>
          <p:cNvSpPr txBox="1"/>
          <p:nvPr/>
        </p:nvSpPr>
        <p:spPr>
          <a:xfrm>
            <a:off x="6217920" y="3931920"/>
            <a:ext cx="3017520" cy="256032"/>
          </a:xfrm>
          <a:prstGeom prst="rect">
            <a:avLst/>
          </a:prstGeom>
          <a:noFill/>
        </p:spPr>
        <p:txBody>
          <a:bodyPr wrap="square">
            <a:spAutoFit/>
          </a:bodyPr>
          <a:lstStyle/>
          <a:p>
            <a:pPr algn="l"/>
            <a:r>
              <a:rPr sz="900" b="0" i="0">
                <a:solidFill>
                  <a:srgbClr val="3C3C3C"/>
                </a:solidFill>
                <a:latin typeface="Calibri"/>
              </a:rPr>
              <a:t>HAS LINK / NO DETAIL</a:t>
            </a:r>
          </a:p>
        </p:txBody>
      </p:sp>
      <p:sp>
        <p:nvSpPr>
          <p:cNvPr id="67" name="TextBox 66"/>
          <p:cNvSpPr txBox="1"/>
          <p:nvPr/>
        </p:nvSpPr>
        <p:spPr>
          <a:xfrm>
            <a:off x="9281160" y="3931920"/>
            <a:ext cx="1005840" cy="256032"/>
          </a:xfrm>
          <a:prstGeom prst="rect">
            <a:avLst/>
          </a:prstGeom>
          <a:noFill/>
        </p:spPr>
        <p:txBody>
          <a:bodyPr wrap="square">
            <a:spAutoFit/>
          </a:bodyPr>
          <a:lstStyle/>
          <a:p>
            <a:pPr algn="r"/>
            <a:r>
              <a:rPr sz="900" b="1" i="0">
                <a:solidFill>
                  <a:srgbClr val="E09A00"/>
                </a:solidFill>
                <a:latin typeface="Calibri"/>
              </a:rPr>
              <a:t>8,013</a:t>
            </a:r>
          </a:p>
        </p:txBody>
      </p:sp>
      <p:sp>
        <p:nvSpPr>
          <p:cNvPr id="68" name="TextBox 67"/>
          <p:cNvSpPr txBox="1"/>
          <p:nvPr/>
        </p:nvSpPr>
        <p:spPr>
          <a:xfrm>
            <a:off x="10378440" y="3931920"/>
            <a:ext cx="777240" cy="256032"/>
          </a:xfrm>
          <a:prstGeom prst="rect">
            <a:avLst/>
          </a:prstGeom>
          <a:noFill/>
        </p:spPr>
        <p:txBody>
          <a:bodyPr wrap="square">
            <a:spAutoFit/>
          </a:bodyPr>
          <a:lstStyle/>
          <a:p>
            <a:pPr algn="r"/>
            <a:r>
              <a:rPr sz="900" b="0" i="0">
                <a:solidFill>
                  <a:srgbClr val="E09A00"/>
                </a:solidFill>
                <a:latin typeface="Calibri"/>
              </a:rPr>
              <a:t> 2.7%</a:t>
            </a:r>
          </a:p>
        </p:txBody>
      </p:sp>
      <p:sp>
        <p:nvSpPr>
          <p:cNvPr id="69" name="TextBox 68"/>
          <p:cNvSpPr txBox="1"/>
          <p:nvPr/>
        </p:nvSpPr>
        <p:spPr>
          <a:xfrm>
            <a:off x="6217920" y="4206240"/>
            <a:ext cx="3017520" cy="256032"/>
          </a:xfrm>
          <a:prstGeom prst="rect">
            <a:avLst/>
          </a:prstGeom>
          <a:noFill/>
        </p:spPr>
        <p:txBody>
          <a:bodyPr wrap="square">
            <a:spAutoFit/>
          </a:bodyPr>
          <a:lstStyle/>
          <a:p>
            <a:pPr algn="l"/>
            <a:r>
              <a:rPr sz="900" b="1" i="0">
                <a:solidFill>
                  <a:srgbClr val="3C3C3C"/>
                </a:solidFill>
                <a:latin typeface="Calibri"/>
              </a:rPr>
              <a:t>NO SAME-AS-LINK</a:t>
            </a:r>
          </a:p>
        </p:txBody>
      </p:sp>
      <p:sp>
        <p:nvSpPr>
          <p:cNvPr id="70" name="TextBox 69"/>
          <p:cNvSpPr txBox="1"/>
          <p:nvPr/>
        </p:nvSpPr>
        <p:spPr>
          <a:xfrm>
            <a:off x="9281160" y="4206240"/>
            <a:ext cx="1005840" cy="256032"/>
          </a:xfrm>
          <a:prstGeom prst="rect">
            <a:avLst/>
          </a:prstGeom>
          <a:noFill/>
        </p:spPr>
        <p:txBody>
          <a:bodyPr wrap="square">
            <a:spAutoFit/>
          </a:bodyPr>
          <a:lstStyle/>
          <a:p>
            <a:pPr algn="r"/>
            <a:r>
              <a:rPr sz="900" b="1" i="0">
                <a:solidFill>
                  <a:srgbClr val="B0B8C8"/>
                </a:solidFill>
                <a:latin typeface="Calibri"/>
              </a:rPr>
              <a:t>1</a:t>
            </a:r>
          </a:p>
        </p:txBody>
      </p:sp>
      <p:sp>
        <p:nvSpPr>
          <p:cNvPr id="71" name="TextBox 70"/>
          <p:cNvSpPr txBox="1"/>
          <p:nvPr/>
        </p:nvSpPr>
        <p:spPr>
          <a:xfrm>
            <a:off x="10378440" y="4206240"/>
            <a:ext cx="777240" cy="256032"/>
          </a:xfrm>
          <a:prstGeom prst="rect">
            <a:avLst/>
          </a:prstGeom>
          <a:noFill/>
        </p:spPr>
        <p:txBody>
          <a:bodyPr wrap="square">
            <a:spAutoFit/>
          </a:bodyPr>
          <a:lstStyle/>
          <a:p>
            <a:pPr algn="r"/>
            <a:r>
              <a:rPr sz="900" b="0" i="0">
                <a:solidFill>
                  <a:srgbClr val="B0B8C8"/>
                </a:solidFill>
                <a:latin typeface="Calibri"/>
              </a:rPr>
              <a:t>~0%</a:t>
            </a:r>
          </a:p>
        </p:txBody>
      </p:sp>
      <p:sp>
        <p:nvSpPr>
          <p:cNvPr id="72" name="Rectangle 71"/>
          <p:cNvSpPr/>
          <p:nvPr/>
        </p:nvSpPr>
        <p:spPr>
          <a:xfrm>
            <a:off x="6080760" y="4389120"/>
            <a:ext cx="57607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080760" y="4389120"/>
            <a:ext cx="5760720" cy="27432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17920" y="4407408"/>
            <a:ext cx="5577840" cy="237744"/>
          </a:xfrm>
          <a:prstGeom prst="rect">
            <a:avLst/>
          </a:prstGeom>
          <a:noFill/>
        </p:spPr>
        <p:txBody>
          <a:bodyPr wrap="square">
            <a:spAutoFit/>
          </a:bodyPr>
          <a:lstStyle/>
          <a:p>
            <a:pPr algn="l"/>
            <a:r>
              <a:rPr sz="900" b="1" i="0">
                <a:solidFill>
                  <a:srgbClr val="FFFFFF"/>
                </a:solidFill>
                <a:latin typeface="Calibri"/>
              </a:rPr>
              <a:t>COVERAGE IMPROVEMENT — BEFORE VS AFTER</a:t>
            </a:r>
          </a:p>
        </p:txBody>
      </p:sp>
      <p:sp>
        <p:nvSpPr>
          <p:cNvPr id="75" name="TextBox 74"/>
          <p:cNvSpPr txBox="1"/>
          <p:nvPr/>
        </p:nvSpPr>
        <p:spPr>
          <a:xfrm>
            <a:off x="6217920" y="4754880"/>
            <a:ext cx="3017520" cy="256032"/>
          </a:xfrm>
          <a:prstGeom prst="rect">
            <a:avLst/>
          </a:prstGeom>
          <a:noFill/>
        </p:spPr>
        <p:txBody>
          <a:bodyPr wrap="square">
            <a:spAutoFit/>
          </a:bodyPr>
          <a:lstStyle/>
          <a:p>
            <a:pPr algn="l"/>
            <a:r>
              <a:rPr sz="900" b="0" i="0">
                <a:solidFill>
                  <a:srgbClr val="3C3C3C"/>
                </a:solidFill>
                <a:latin typeface="Calibri"/>
              </a:rPr>
              <a:t>AWM Email (Before)</a:t>
            </a:r>
          </a:p>
        </p:txBody>
      </p:sp>
      <p:sp>
        <p:nvSpPr>
          <p:cNvPr id="76" name="TextBox 75"/>
          <p:cNvSpPr txBox="1"/>
          <p:nvPr/>
        </p:nvSpPr>
        <p:spPr>
          <a:xfrm>
            <a:off x="9281160" y="4754880"/>
            <a:ext cx="1005840" cy="256032"/>
          </a:xfrm>
          <a:prstGeom prst="rect">
            <a:avLst/>
          </a:prstGeom>
          <a:noFill/>
        </p:spPr>
        <p:txBody>
          <a:bodyPr wrap="square">
            <a:spAutoFit/>
          </a:bodyPr>
          <a:lstStyle/>
          <a:p>
            <a:pPr algn="r"/>
            <a:r>
              <a:rPr sz="900" b="1" i="0">
                <a:solidFill>
                  <a:srgbClr val="C41E3A"/>
                </a:solidFill>
                <a:latin typeface="Calibri"/>
              </a:rPr>
              <a:t>225,188</a:t>
            </a:r>
          </a:p>
        </p:txBody>
      </p:sp>
      <p:sp>
        <p:nvSpPr>
          <p:cNvPr id="77" name="TextBox 76"/>
          <p:cNvSpPr txBox="1"/>
          <p:nvPr/>
        </p:nvSpPr>
        <p:spPr>
          <a:xfrm>
            <a:off x="10378440" y="4754880"/>
            <a:ext cx="777240" cy="256032"/>
          </a:xfrm>
          <a:prstGeom prst="rect">
            <a:avLst/>
          </a:prstGeom>
          <a:noFill/>
        </p:spPr>
        <p:txBody>
          <a:bodyPr wrap="square">
            <a:spAutoFit/>
          </a:bodyPr>
          <a:lstStyle/>
          <a:p>
            <a:pPr algn="r"/>
            <a:r>
              <a:rPr sz="900" b="0" i="0">
                <a:solidFill>
                  <a:srgbClr val="C41E3A"/>
                </a:solidFill>
                <a:latin typeface="Calibri"/>
              </a:rPr>
              <a:t>75.8%</a:t>
            </a:r>
          </a:p>
        </p:txBody>
      </p:sp>
      <p:sp>
        <p:nvSpPr>
          <p:cNvPr id="78" name="TextBox 77"/>
          <p:cNvSpPr txBox="1"/>
          <p:nvPr/>
        </p:nvSpPr>
        <p:spPr>
          <a:xfrm>
            <a:off x="6217920" y="5029200"/>
            <a:ext cx="3017520" cy="256032"/>
          </a:xfrm>
          <a:prstGeom prst="rect">
            <a:avLst/>
          </a:prstGeom>
          <a:noFill/>
        </p:spPr>
        <p:txBody>
          <a:bodyPr wrap="square">
            <a:spAutoFit/>
          </a:bodyPr>
          <a:lstStyle/>
          <a:p>
            <a:pPr algn="l"/>
            <a:r>
              <a:rPr sz="900" b="0" i="0">
                <a:solidFill>
                  <a:srgbClr val="3C3C3C"/>
                </a:solidFill>
                <a:latin typeface="Calibri"/>
              </a:rPr>
              <a:t>AWM Email (After fixes)</a:t>
            </a:r>
          </a:p>
        </p:txBody>
      </p:sp>
      <p:sp>
        <p:nvSpPr>
          <p:cNvPr id="79" name="TextBox 78"/>
          <p:cNvSpPr txBox="1"/>
          <p:nvPr/>
        </p:nvSpPr>
        <p:spPr>
          <a:xfrm>
            <a:off x="9281160" y="5029200"/>
            <a:ext cx="1005840" cy="256032"/>
          </a:xfrm>
          <a:prstGeom prst="rect">
            <a:avLst/>
          </a:prstGeom>
          <a:noFill/>
        </p:spPr>
        <p:txBody>
          <a:bodyPr wrap="square">
            <a:spAutoFit/>
          </a:bodyPr>
          <a:lstStyle/>
          <a:p>
            <a:pPr algn="r"/>
            <a:r>
              <a:rPr sz="900" b="1" i="0">
                <a:solidFill>
                  <a:srgbClr val="1E8A44"/>
                </a:solidFill>
                <a:latin typeface="Calibri"/>
              </a:rPr>
              <a:t>251,664</a:t>
            </a:r>
          </a:p>
        </p:txBody>
      </p:sp>
      <p:sp>
        <p:nvSpPr>
          <p:cNvPr id="80" name="TextBox 79"/>
          <p:cNvSpPr txBox="1"/>
          <p:nvPr/>
        </p:nvSpPr>
        <p:spPr>
          <a:xfrm>
            <a:off x="10378440" y="5029200"/>
            <a:ext cx="777240" cy="256032"/>
          </a:xfrm>
          <a:prstGeom prst="rect">
            <a:avLst/>
          </a:prstGeom>
          <a:noFill/>
        </p:spPr>
        <p:txBody>
          <a:bodyPr wrap="square">
            <a:spAutoFit/>
          </a:bodyPr>
          <a:lstStyle/>
          <a:p>
            <a:pPr algn="r"/>
            <a:r>
              <a:rPr sz="900" b="0" i="0">
                <a:solidFill>
                  <a:srgbClr val="1E8A44"/>
                </a:solidFill>
                <a:latin typeface="Calibri"/>
              </a:rPr>
              <a:t>84.9%</a:t>
            </a:r>
          </a:p>
        </p:txBody>
      </p:sp>
      <p:sp>
        <p:nvSpPr>
          <p:cNvPr id="81" name="TextBox 80"/>
          <p:cNvSpPr txBox="1"/>
          <p:nvPr/>
        </p:nvSpPr>
        <p:spPr>
          <a:xfrm>
            <a:off x="6217920" y="5303520"/>
            <a:ext cx="3017520" cy="256032"/>
          </a:xfrm>
          <a:prstGeom prst="rect">
            <a:avLst/>
          </a:prstGeom>
          <a:noFill/>
        </p:spPr>
        <p:txBody>
          <a:bodyPr wrap="square">
            <a:spAutoFit/>
          </a:bodyPr>
          <a:lstStyle/>
          <a:p>
            <a:pPr algn="l"/>
            <a:r>
              <a:rPr sz="900" b="0" i="0">
                <a:solidFill>
                  <a:srgbClr val="3C3C3C"/>
                </a:solidFill>
                <a:latin typeface="Calibri"/>
              </a:rPr>
              <a:t>BIM Fallback Recovered</a:t>
            </a:r>
          </a:p>
        </p:txBody>
      </p:sp>
      <p:sp>
        <p:nvSpPr>
          <p:cNvPr id="82" name="TextBox 81"/>
          <p:cNvSpPr txBox="1"/>
          <p:nvPr/>
        </p:nvSpPr>
        <p:spPr>
          <a:xfrm>
            <a:off x="9281160" y="5303520"/>
            <a:ext cx="1005840" cy="256032"/>
          </a:xfrm>
          <a:prstGeom prst="rect">
            <a:avLst/>
          </a:prstGeom>
          <a:noFill/>
        </p:spPr>
        <p:txBody>
          <a:bodyPr wrap="square">
            <a:spAutoFit/>
          </a:bodyPr>
          <a:lstStyle/>
          <a:p>
            <a:pPr algn="r"/>
            <a:r>
              <a:rPr sz="900" b="1" i="0">
                <a:solidFill>
                  <a:srgbClr val="266EB4"/>
                </a:solidFill>
                <a:latin typeface="Calibri"/>
              </a:rPr>
              <a:t>464</a:t>
            </a:r>
          </a:p>
        </p:txBody>
      </p:sp>
      <p:sp>
        <p:nvSpPr>
          <p:cNvPr id="83" name="TextBox 82"/>
          <p:cNvSpPr txBox="1"/>
          <p:nvPr/>
        </p:nvSpPr>
        <p:spPr>
          <a:xfrm>
            <a:off x="10378440" y="5303520"/>
            <a:ext cx="777240" cy="256032"/>
          </a:xfrm>
          <a:prstGeom prst="rect">
            <a:avLst/>
          </a:prstGeom>
          <a:noFill/>
        </p:spPr>
        <p:txBody>
          <a:bodyPr wrap="square">
            <a:spAutoFit/>
          </a:bodyPr>
          <a:lstStyle/>
          <a:p>
            <a:pPr algn="r"/>
            <a:r>
              <a:rPr sz="900" b="0" i="0">
                <a:solidFill>
                  <a:srgbClr val="266EB4"/>
                </a:solidFill>
                <a:latin typeface="Calibri"/>
              </a:rPr>
              <a:t> 0.2%</a:t>
            </a:r>
          </a:p>
        </p:txBody>
      </p:sp>
      <p:sp>
        <p:nvSpPr>
          <p:cNvPr id="84" name="TextBox 83"/>
          <p:cNvSpPr txBox="1"/>
          <p:nvPr/>
        </p:nvSpPr>
        <p:spPr>
          <a:xfrm>
            <a:off x="6217920" y="5577840"/>
            <a:ext cx="3017520" cy="256032"/>
          </a:xfrm>
          <a:prstGeom prst="rect">
            <a:avLst/>
          </a:prstGeom>
          <a:noFill/>
        </p:spPr>
        <p:txBody>
          <a:bodyPr wrap="square">
            <a:spAutoFit/>
          </a:bodyPr>
          <a:lstStyle/>
          <a:p>
            <a:pPr algn="l"/>
            <a:r>
              <a:rPr sz="900" b="0" i="0">
                <a:solidFill>
                  <a:srgbClr val="3C3C3C"/>
                </a:solidFill>
                <a:latin typeface="Calibri"/>
              </a:rPr>
              <a:t>Total Email (Final)</a:t>
            </a:r>
          </a:p>
        </p:txBody>
      </p:sp>
      <p:sp>
        <p:nvSpPr>
          <p:cNvPr id="85" name="TextBox 84"/>
          <p:cNvSpPr txBox="1"/>
          <p:nvPr/>
        </p:nvSpPr>
        <p:spPr>
          <a:xfrm>
            <a:off x="9281160" y="5577840"/>
            <a:ext cx="1005840" cy="256032"/>
          </a:xfrm>
          <a:prstGeom prst="rect">
            <a:avLst/>
          </a:prstGeom>
          <a:noFill/>
        </p:spPr>
        <p:txBody>
          <a:bodyPr wrap="square">
            <a:spAutoFit/>
          </a:bodyPr>
          <a:lstStyle/>
          <a:p>
            <a:pPr algn="r"/>
            <a:r>
              <a:rPr sz="900" b="1" i="0">
                <a:solidFill>
                  <a:srgbClr val="1E8A44"/>
                </a:solidFill>
                <a:latin typeface="Calibri"/>
              </a:rPr>
              <a:t>252,128</a:t>
            </a:r>
          </a:p>
        </p:txBody>
      </p:sp>
      <p:sp>
        <p:nvSpPr>
          <p:cNvPr id="86" name="TextBox 85"/>
          <p:cNvSpPr txBox="1"/>
          <p:nvPr/>
        </p:nvSpPr>
        <p:spPr>
          <a:xfrm>
            <a:off x="10378440" y="5577840"/>
            <a:ext cx="777240" cy="256032"/>
          </a:xfrm>
          <a:prstGeom prst="rect">
            <a:avLst/>
          </a:prstGeom>
          <a:noFill/>
        </p:spPr>
        <p:txBody>
          <a:bodyPr wrap="square">
            <a:spAutoFit/>
          </a:bodyPr>
          <a:lstStyle/>
          <a:p>
            <a:pPr algn="r"/>
            <a:r>
              <a:rPr sz="900" b="0" i="0">
                <a:solidFill>
                  <a:srgbClr val="1E8A44"/>
                </a:solidFill>
                <a:latin typeface="Calibri"/>
              </a:rPr>
              <a:t>85.1%</a:t>
            </a:r>
          </a:p>
        </p:txBody>
      </p:sp>
      <p:sp>
        <p:nvSpPr>
          <p:cNvPr id="87" name="TextBox 86"/>
          <p:cNvSpPr txBox="1"/>
          <p:nvPr/>
        </p:nvSpPr>
        <p:spPr>
          <a:xfrm>
            <a:off x="6217920" y="5852160"/>
            <a:ext cx="3017520" cy="256032"/>
          </a:xfrm>
          <a:prstGeom prst="rect">
            <a:avLst/>
          </a:prstGeom>
          <a:noFill/>
        </p:spPr>
        <p:txBody>
          <a:bodyPr wrap="square">
            <a:spAutoFit/>
          </a:bodyPr>
          <a:lstStyle/>
          <a:p>
            <a:pPr algn="l"/>
            <a:r>
              <a:rPr sz="900" b="0" i="0">
                <a:solidFill>
                  <a:srgbClr val="3C3C3C"/>
                </a:solidFill>
                <a:latin typeface="Calibri"/>
              </a:rPr>
              <a:t>No Email (Final)</a:t>
            </a:r>
          </a:p>
        </p:txBody>
      </p:sp>
      <p:sp>
        <p:nvSpPr>
          <p:cNvPr id="88" name="TextBox 87"/>
          <p:cNvSpPr txBox="1"/>
          <p:nvPr/>
        </p:nvSpPr>
        <p:spPr>
          <a:xfrm>
            <a:off x="9281160" y="5852160"/>
            <a:ext cx="1005840" cy="256032"/>
          </a:xfrm>
          <a:prstGeom prst="rect">
            <a:avLst/>
          </a:prstGeom>
          <a:noFill/>
        </p:spPr>
        <p:txBody>
          <a:bodyPr wrap="square">
            <a:spAutoFit/>
          </a:bodyPr>
          <a:lstStyle/>
          <a:p>
            <a:pPr algn="r"/>
            <a:r>
              <a:rPr sz="900" b="1" i="0">
                <a:solidFill>
                  <a:srgbClr val="E67300"/>
                </a:solidFill>
                <a:latin typeface="Calibri"/>
              </a:rPr>
              <a:t>44,271</a:t>
            </a:r>
          </a:p>
        </p:txBody>
      </p:sp>
      <p:sp>
        <p:nvSpPr>
          <p:cNvPr id="89" name="TextBox 88"/>
          <p:cNvSpPr txBox="1"/>
          <p:nvPr/>
        </p:nvSpPr>
        <p:spPr>
          <a:xfrm>
            <a:off x="10378440" y="5852160"/>
            <a:ext cx="777240" cy="256032"/>
          </a:xfrm>
          <a:prstGeom prst="rect">
            <a:avLst/>
          </a:prstGeom>
          <a:noFill/>
        </p:spPr>
        <p:txBody>
          <a:bodyPr wrap="square">
            <a:spAutoFit/>
          </a:bodyPr>
          <a:lstStyle/>
          <a:p>
            <a:pPr algn="r"/>
            <a:r>
              <a:rPr sz="900" b="0" i="0">
                <a:solidFill>
                  <a:srgbClr val="E67300"/>
                </a:solidFill>
                <a:latin typeface="Calibri"/>
              </a:rPr>
              <a:t>14.9%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9144000" cy="502920"/>
          </a:xfrm>
          <a:prstGeom prst="rect">
            <a:avLst/>
          </a:prstGeom>
          <a:noFill/>
        </p:spPr>
        <p:txBody>
          <a:bodyPr wrap="square">
            <a:spAutoFit/>
          </a:bodyPr>
          <a:lstStyle/>
          <a:p>
            <a:pPr algn="l"/>
            <a:r>
              <a:rPr sz="2200" b="1" i="0">
                <a:solidFill>
                  <a:srgbClr val="FFFFFF"/>
                </a:solidFill>
                <a:latin typeface="Calibri"/>
              </a:rPr>
              <a:t>Our Validation Methodology</a:t>
            </a:r>
          </a:p>
        </p:txBody>
      </p:sp>
      <p:sp>
        <p:nvSpPr>
          <p:cNvPr id="5" name="TextBox 4"/>
          <p:cNvSpPr txBox="1"/>
          <p:nvPr/>
        </p:nvSpPr>
        <p:spPr>
          <a:xfrm>
            <a:off x="320040" y="548640"/>
            <a:ext cx="9144000" cy="320040"/>
          </a:xfrm>
          <a:prstGeom prst="rect">
            <a:avLst/>
          </a:prstGeom>
          <a:noFill/>
        </p:spPr>
        <p:txBody>
          <a:bodyPr wrap="square">
            <a:spAutoFit/>
          </a:bodyPr>
          <a:lstStyle/>
          <a:p>
            <a:pPr algn="l"/>
            <a:r>
              <a:rPr sz="1100" b="0" i="0">
                <a:solidFill>
                  <a:srgbClr val="B0B8C8"/>
                </a:solidFill>
                <a:latin typeface="Calibri"/>
              </a:rPr>
              <a:t>How we ensure every migrated report is correct — a rigorous, documented approach</a:t>
            </a:r>
          </a:p>
        </p:txBody>
      </p:sp>
      <p:sp>
        <p:nvSpPr>
          <p:cNvPr id="6" name="Rectangle 5"/>
          <p:cNvSpPr/>
          <p:nvPr/>
        </p:nvSpPr>
        <p:spPr>
          <a:xfrm>
            <a:off x="0" y="868680"/>
            <a:ext cx="12188952" cy="36576"/>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88952" cy="27432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8229600" cy="274320"/>
          </a:xfrm>
          <a:prstGeom prst="rect">
            <a:avLst/>
          </a:prstGeom>
          <a:noFill/>
        </p:spPr>
        <p:txBody>
          <a:bodyPr wrap="square">
            <a:spAutoFit/>
          </a:bodyPr>
          <a:lstStyle/>
          <a:p>
            <a:pPr algn="l"/>
            <a:r>
              <a:rPr sz="800" b="0" i="0">
                <a:solidFill>
                  <a:srgbClr val="B0B8C8"/>
                </a:solidFill>
                <a:latin typeface="Calibri"/>
              </a:rPr>
              <a:t>Bourntec Solutions  |  PEMCO Mutual Insurance  |  Confidential — May 2026</a:t>
            </a:r>
          </a:p>
        </p:txBody>
      </p:sp>
      <p:sp>
        <p:nvSpPr>
          <p:cNvPr id="9" name="Rectangle 8"/>
          <p:cNvSpPr/>
          <p:nvPr/>
        </p:nvSpPr>
        <p:spPr>
          <a:xfrm>
            <a:off x="320040" y="1005840"/>
            <a:ext cx="361188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005840"/>
            <a:ext cx="3611880" cy="384048"/>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 y="1051560"/>
            <a:ext cx="457200" cy="310896"/>
          </a:xfrm>
          <a:prstGeom prst="rect">
            <a:avLst/>
          </a:prstGeom>
          <a:noFill/>
        </p:spPr>
        <p:txBody>
          <a:bodyPr wrap="square">
            <a:spAutoFit/>
          </a:bodyPr>
          <a:lstStyle/>
          <a:p>
            <a:pPr algn="l"/>
            <a:r>
              <a:rPr sz="1800" b="1" i="0">
                <a:solidFill>
                  <a:srgbClr val="E09A00"/>
                </a:solidFill>
                <a:latin typeface="Calibri"/>
              </a:rPr>
              <a:t>01</a:t>
            </a:r>
          </a:p>
        </p:txBody>
      </p:sp>
      <p:sp>
        <p:nvSpPr>
          <p:cNvPr id="12" name="TextBox 11"/>
          <p:cNvSpPr txBox="1"/>
          <p:nvPr/>
        </p:nvSpPr>
        <p:spPr>
          <a:xfrm>
            <a:off x="914400" y="1069848"/>
            <a:ext cx="2926080" cy="310896"/>
          </a:xfrm>
          <a:prstGeom prst="rect">
            <a:avLst/>
          </a:prstGeom>
          <a:noFill/>
        </p:spPr>
        <p:txBody>
          <a:bodyPr wrap="square">
            <a:spAutoFit/>
          </a:bodyPr>
          <a:lstStyle/>
          <a:p>
            <a:pPr algn="l"/>
            <a:r>
              <a:rPr sz="1100" b="1" i="0">
                <a:solidFill>
                  <a:srgbClr val="FFFFFF"/>
                </a:solidFill>
                <a:latin typeface="Calibri"/>
              </a:rPr>
              <a:t>Establish BIM Baseline</a:t>
            </a:r>
          </a:p>
        </p:txBody>
      </p:sp>
      <p:sp>
        <p:nvSpPr>
          <p:cNvPr id="13" name="TextBox 12"/>
          <p:cNvSpPr txBox="1"/>
          <p:nvPr/>
        </p:nvSpPr>
        <p:spPr>
          <a:xfrm>
            <a:off x="457200" y="1508760"/>
            <a:ext cx="3383280" cy="1965960"/>
          </a:xfrm>
          <a:prstGeom prst="rect">
            <a:avLst/>
          </a:prstGeom>
          <a:noFill/>
        </p:spPr>
        <p:txBody>
          <a:bodyPr wrap="square">
            <a:spAutoFit/>
          </a:bodyPr>
          <a:lstStyle/>
          <a:p>
            <a:pPr algn="l"/>
            <a:r>
              <a:rPr sz="1000" b="0" i="0">
                <a:solidFill>
                  <a:srgbClr val="3C3C3C"/>
                </a:solidFill>
                <a:latin typeface="Calibri"/>
              </a:rPr>
              <a:t>Run legacy BIM query to capture the exact count, grain, and filter logic. Document every WHERE clause, JOIN, and aggregation as the baseline we must match.</a:t>
            </a:r>
          </a:p>
        </p:txBody>
      </p:sp>
      <p:sp>
        <p:nvSpPr>
          <p:cNvPr id="14" name="Rectangle 13"/>
          <p:cNvSpPr/>
          <p:nvPr/>
        </p:nvSpPr>
        <p:spPr>
          <a:xfrm>
            <a:off x="4114800" y="1005840"/>
            <a:ext cx="361188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0" y="1005840"/>
            <a:ext cx="3611880" cy="384048"/>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24528" y="1051560"/>
            <a:ext cx="457200" cy="310896"/>
          </a:xfrm>
          <a:prstGeom prst="rect">
            <a:avLst/>
          </a:prstGeom>
          <a:noFill/>
        </p:spPr>
        <p:txBody>
          <a:bodyPr wrap="square">
            <a:spAutoFit/>
          </a:bodyPr>
          <a:lstStyle/>
          <a:p>
            <a:pPr algn="l"/>
            <a:r>
              <a:rPr sz="1800" b="1" i="0">
                <a:solidFill>
                  <a:srgbClr val="E09A00"/>
                </a:solidFill>
                <a:latin typeface="Calibri"/>
              </a:rPr>
              <a:t>02</a:t>
            </a:r>
          </a:p>
        </p:txBody>
      </p:sp>
      <p:sp>
        <p:nvSpPr>
          <p:cNvPr id="17" name="TextBox 16"/>
          <p:cNvSpPr txBox="1"/>
          <p:nvPr/>
        </p:nvSpPr>
        <p:spPr>
          <a:xfrm>
            <a:off x="4709160" y="1069848"/>
            <a:ext cx="2926080" cy="310896"/>
          </a:xfrm>
          <a:prstGeom prst="rect">
            <a:avLst/>
          </a:prstGeom>
          <a:noFill/>
        </p:spPr>
        <p:txBody>
          <a:bodyPr wrap="square">
            <a:spAutoFit/>
          </a:bodyPr>
          <a:lstStyle/>
          <a:p>
            <a:pPr algn="l"/>
            <a:r>
              <a:rPr sz="1100" b="1" i="0">
                <a:solidFill>
                  <a:srgbClr val="FFFFFF"/>
                </a:solidFill>
                <a:latin typeface="Calibri"/>
              </a:rPr>
              <a:t>Rewrite for AWM / EDW</a:t>
            </a:r>
          </a:p>
        </p:txBody>
      </p:sp>
      <p:sp>
        <p:nvSpPr>
          <p:cNvPr id="18" name="TextBox 17"/>
          <p:cNvSpPr txBox="1"/>
          <p:nvPr/>
        </p:nvSpPr>
        <p:spPr>
          <a:xfrm>
            <a:off x="4251960" y="1508760"/>
            <a:ext cx="3383280" cy="1965960"/>
          </a:xfrm>
          <a:prstGeom prst="rect">
            <a:avLst/>
          </a:prstGeom>
          <a:noFill/>
        </p:spPr>
        <p:txBody>
          <a:bodyPr wrap="square">
            <a:spAutoFit/>
          </a:bodyPr>
          <a:lstStyle/>
          <a:p>
            <a:pPr algn="l"/>
            <a:r>
              <a:rPr sz="1000" b="0" i="0">
                <a:solidFill>
                  <a:srgbClr val="3C3C3C"/>
                </a:solidFill>
                <a:latin typeface="Calibri"/>
              </a:rPr>
              <a:t>Re-implement business logic in AWM/EDW using the correct table equivalents. Apply architecture patterns: party bridge, inforce filter, is_up_and_running = 255.</a:t>
            </a:r>
          </a:p>
        </p:txBody>
      </p:sp>
      <p:sp>
        <p:nvSpPr>
          <p:cNvPr id="19" name="Rectangle 18"/>
          <p:cNvSpPr/>
          <p:nvPr/>
        </p:nvSpPr>
        <p:spPr>
          <a:xfrm>
            <a:off x="7909560" y="1005840"/>
            <a:ext cx="361188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09560" y="1005840"/>
            <a:ext cx="3611880" cy="384048"/>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19288" y="1051560"/>
            <a:ext cx="457200" cy="310896"/>
          </a:xfrm>
          <a:prstGeom prst="rect">
            <a:avLst/>
          </a:prstGeom>
          <a:noFill/>
        </p:spPr>
        <p:txBody>
          <a:bodyPr wrap="square">
            <a:spAutoFit/>
          </a:bodyPr>
          <a:lstStyle/>
          <a:p>
            <a:pPr algn="l"/>
            <a:r>
              <a:rPr sz="1800" b="1" i="0">
                <a:solidFill>
                  <a:srgbClr val="E09A00"/>
                </a:solidFill>
                <a:latin typeface="Calibri"/>
              </a:rPr>
              <a:t>03</a:t>
            </a:r>
          </a:p>
        </p:txBody>
      </p:sp>
      <p:sp>
        <p:nvSpPr>
          <p:cNvPr id="22" name="TextBox 21"/>
          <p:cNvSpPr txBox="1"/>
          <p:nvPr/>
        </p:nvSpPr>
        <p:spPr>
          <a:xfrm>
            <a:off x="8503920" y="1069848"/>
            <a:ext cx="2926080" cy="310896"/>
          </a:xfrm>
          <a:prstGeom prst="rect">
            <a:avLst/>
          </a:prstGeom>
          <a:noFill/>
        </p:spPr>
        <p:txBody>
          <a:bodyPr wrap="square">
            <a:spAutoFit/>
          </a:bodyPr>
          <a:lstStyle/>
          <a:p>
            <a:pPr algn="l"/>
            <a:r>
              <a:rPr sz="1100" b="1" i="0">
                <a:solidFill>
                  <a:srgbClr val="FFFFFF"/>
                </a:solidFill>
                <a:latin typeface="Calibri"/>
              </a:rPr>
              <a:t>Side-by-Side Comparison</a:t>
            </a:r>
          </a:p>
        </p:txBody>
      </p:sp>
      <p:sp>
        <p:nvSpPr>
          <p:cNvPr id="23" name="TextBox 22"/>
          <p:cNvSpPr txBox="1"/>
          <p:nvPr/>
        </p:nvSpPr>
        <p:spPr>
          <a:xfrm>
            <a:off x="8046720" y="1508760"/>
            <a:ext cx="3383280" cy="1965960"/>
          </a:xfrm>
          <a:prstGeom prst="rect">
            <a:avLst/>
          </a:prstGeom>
          <a:noFill/>
        </p:spPr>
        <p:txBody>
          <a:bodyPr wrap="square">
            <a:spAutoFit/>
          </a:bodyPr>
          <a:lstStyle/>
          <a:p>
            <a:pPr algn="l"/>
            <a:r>
              <a:rPr sz="1000" b="0" i="0">
                <a:solidFill>
                  <a:srgbClr val="3C3C3C"/>
                </a:solidFill>
                <a:latin typeface="Calibri"/>
              </a:rPr>
              <a:t>Execute both queries against production data. Compare row counts, subtotals, and percentage distributions at every grain level (state, product, DateType, bucket).</a:t>
            </a:r>
          </a:p>
        </p:txBody>
      </p:sp>
      <p:sp>
        <p:nvSpPr>
          <p:cNvPr id="24" name="Rectangle 23"/>
          <p:cNvSpPr/>
          <p:nvPr/>
        </p:nvSpPr>
        <p:spPr>
          <a:xfrm>
            <a:off x="320040" y="3703320"/>
            <a:ext cx="361188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0040" y="3703320"/>
            <a:ext cx="3611880" cy="384048"/>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9768" y="3749040"/>
            <a:ext cx="457200" cy="310896"/>
          </a:xfrm>
          <a:prstGeom prst="rect">
            <a:avLst/>
          </a:prstGeom>
          <a:noFill/>
        </p:spPr>
        <p:txBody>
          <a:bodyPr wrap="square">
            <a:spAutoFit/>
          </a:bodyPr>
          <a:lstStyle/>
          <a:p>
            <a:pPr algn="l"/>
            <a:r>
              <a:rPr sz="1800" b="1" i="0">
                <a:solidFill>
                  <a:srgbClr val="E09A00"/>
                </a:solidFill>
                <a:latin typeface="Calibri"/>
              </a:rPr>
              <a:t>04</a:t>
            </a:r>
          </a:p>
        </p:txBody>
      </p:sp>
      <p:sp>
        <p:nvSpPr>
          <p:cNvPr id="27" name="TextBox 26"/>
          <p:cNvSpPr txBox="1"/>
          <p:nvPr/>
        </p:nvSpPr>
        <p:spPr>
          <a:xfrm>
            <a:off x="914400" y="3767328"/>
            <a:ext cx="2926080" cy="310896"/>
          </a:xfrm>
          <a:prstGeom prst="rect">
            <a:avLst/>
          </a:prstGeom>
          <a:noFill/>
        </p:spPr>
        <p:txBody>
          <a:bodyPr wrap="square">
            <a:spAutoFit/>
          </a:bodyPr>
          <a:lstStyle/>
          <a:p>
            <a:pPr algn="l"/>
            <a:r>
              <a:rPr sz="1100" b="1" i="0">
                <a:solidFill>
                  <a:srgbClr val="FFFFFF"/>
                </a:solidFill>
                <a:latin typeface="Calibri"/>
              </a:rPr>
              <a:t>Delta Analysis &amp; Root Cause</a:t>
            </a:r>
          </a:p>
        </p:txBody>
      </p:sp>
      <p:sp>
        <p:nvSpPr>
          <p:cNvPr id="28" name="TextBox 27"/>
          <p:cNvSpPr txBox="1"/>
          <p:nvPr/>
        </p:nvSpPr>
        <p:spPr>
          <a:xfrm>
            <a:off x="457200" y="4206240"/>
            <a:ext cx="3383280" cy="1965960"/>
          </a:xfrm>
          <a:prstGeom prst="rect">
            <a:avLst/>
          </a:prstGeom>
          <a:noFill/>
        </p:spPr>
        <p:txBody>
          <a:bodyPr wrap="square">
            <a:spAutoFit/>
          </a:bodyPr>
          <a:lstStyle/>
          <a:p>
            <a:pPr algn="l"/>
            <a:r>
              <a:rPr sz="1000" b="0" i="0">
                <a:solidFill>
                  <a:srgbClr val="3C3C3C"/>
                </a:solidFill>
                <a:latin typeface="Calibri"/>
              </a:rPr>
              <a:t>Measure the delta percentage. For every gap &gt; 1%, investigate root cause — structural data gap, logic difference, or ETL timing. Document and classify each delta.</a:t>
            </a:r>
          </a:p>
        </p:txBody>
      </p:sp>
      <p:sp>
        <p:nvSpPr>
          <p:cNvPr id="29" name="Rectangle 28"/>
          <p:cNvSpPr/>
          <p:nvPr/>
        </p:nvSpPr>
        <p:spPr>
          <a:xfrm>
            <a:off x="4114800" y="3703320"/>
            <a:ext cx="361188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114800" y="3703320"/>
            <a:ext cx="3611880" cy="384048"/>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24528" y="3749040"/>
            <a:ext cx="457200" cy="310896"/>
          </a:xfrm>
          <a:prstGeom prst="rect">
            <a:avLst/>
          </a:prstGeom>
          <a:noFill/>
        </p:spPr>
        <p:txBody>
          <a:bodyPr wrap="square">
            <a:spAutoFit/>
          </a:bodyPr>
          <a:lstStyle/>
          <a:p>
            <a:pPr algn="l"/>
            <a:r>
              <a:rPr sz="1800" b="1" i="0">
                <a:solidFill>
                  <a:srgbClr val="E09A00"/>
                </a:solidFill>
                <a:latin typeface="Calibri"/>
              </a:rPr>
              <a:t>05</a:t>
            </a:r>
          </a:p>
        </p:txBody>
      </p:sp>
      <p:sp>
        <p:nvSpPr>
          <p:cNvPr id="32" name="TextBox 31"/>
          <p:cNvSpPr txBox="1"/>
          <p:nvPr/>
        </p:nvSpPr>
        <p:spPr>
          <a:xfrm>
            <a:off x="4709160" y="3767328"/>
            <a:ext cx="2926080" cy="310896"/>
          </a:xfrm>
          <a:prstGeom prst="rect">
            <a:avLst/>
          </a:prstGeom>
          <a:noFill/>
        </p:spPr>
        <p:txBody>
          <a:bodyPr wrap="square">
            <a:spAutoFit/>
          </a:bodyPr>
          <a:lstStyle/>
          <a:p>
            <a:pPr algn="l"/>
            <a:r>
              <a:rPr sz="1100" b="1" i="0">
                <a:solidFill>
                  <a:srgbClr val="FFFFFF"/>
                </a:solidFill>
                <a:latin typeface="Calibri"/>
              </a:rPr>
              <a:t>Accept or Fix</a:t>
            </a:r>
          </a:p>
        </p:txBody>
      </p:sp>
      <p:sp>
        <p:nvSpPr>
          <p:cNvPr id="33" name="TextBox 32"/>
          <p:cNvSpPr txBox="1"/>
          <p:nvPr/>
        </p:nvSpPr>
        <p:spPr>
          <a:xfrm>
            <a:off x="4251960" y="4206240"/>
            <a:ext cx="3383280" cy="1965960"/>
          </a:xfrm>
          <a:prstGeom prst="rect">
            <a:avLst/>
          </a:prstGeom>
          <a:noFill/>
        </p:spPr>
        <p:txBody>
          <a:bodyPr wrap="square">
            <a:spAutoFit/>
          </a:bodyPr>
          <a:lstStyle/>
          <a:p>
            <a:pPr algn="l"/>
            <a:r>
              <a:rPr sz="1000" b="0" i="0">
                <a:solidFill>
                  <a:srgbClr val="3C3C3C"/>
                </a:solidFill>
                <a:latin typeface="Calibri"/>
              </a:rPr>
              <a:t>Each gap is classified: (a) Accepted — structural difference understood, stakeholder informed. (b) Fixed — logic corrected, delta reduced. Never leave gaps unexplained.</a:t>
            </a:r>
          </a:p>
        </p:txBody>
      </p:sp>
      <p:sp>
        <p:nvSpPr>
          <p:cNvPr id="34" name="Rectangle 33"/>
          <p:cNvSpPr/>
          <p:nvPr/>
        </p:nvSpPr>
        <p:spPr>
          <a:xfrm>
            <a:off x="7909560" y="3703320"/>
            <a:ext cx="361188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909560" y="3703320"/>
            <a:ext cx="3611880" cy="384048"/>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19288" y="3749040"/>
            <a:ext cx="457200" cy="310896"/>
          </a:xfrm>
          <a:prstGeom prst="rect">
            <a:avLst/>
          </a:prstGeom>
          <a:noFill/>
        </p:spPr>
        <p:txBody>
          <a:bodyPr wrap="square">
            <a:spAutoFit/>
          </a:bodyPr>
          <a:lstStyle/>
          <a:p>
            <a:pPr algn="l"/>
            <a:r>
              <a:rPr sz="1800" b="1" i="0">
                <a:solidFill>
                  <a:srgbClr val="E09A00"/>
                </a:solidFill>
                <a:latin typeface="Calibri"/>
              </a:rPr>
              <a:t>06</a:t>
            </a:r>
          </a:p>
        </p:txBody>
      </p:sp>
      <p:sp>
        <p:nvSpPr>
          <p:cNvPr id="37" name="TextBox 36"/>
          <p:cNvSpPr txBox="1"/>
          <p:nvPr/>
        </p:nvSpPr>
        <p:spPr>
          <a:xfrm>
            <a:off x="8503920" y="3767328"/>
            <a:ext cx="2926080" cy="310896"/>
          </a:xfrm>
          <a:prstGeom prst="rect">
            <a:avLst/>
          </a:prstGeom>
          <a:noFill/>
        </p:spPr>
        <p:txBody>
          <a:bodyPr wrap="square">
            <a:spAutoFit/>
          </a:bodyPr>
          <a:lstStyle/>
          <a:p>
            <a:pPr algn="l"/>
            <a:r>
              <a:rPr sz="1100" b="1" i="0">
                <a:solidFill>
                  <a:srgbClr val="FFFFFF"/>
                </a:solidFill>
                <a:latin typeface="Calibri"/>
              </a:rPr>
              <a:t>Document &amp; Hand Off</a:t>
            </a:r>
          </a:p>
        </p:txBody>
      </p:sp>
      <p:sp>
        <p:nvSpPr>
          <p:cNvPr id="38" name="TextBox 37"/>
          <p:cNvSpPr txBox="1"/>
          <p:nvPr/>
        </p:nvSpPr>
        <p:spPr>
          <a:xfrm>
            <a:off x="8046720" y="4206240"/>
            <a:ext cx="3383280" cy="1965960"/>
          </a:xfrm>
          <a:prstGeom prst="rect">
            <a:avLst/>
          </a:prstGeom>
          <a:noFill/>
        </p:spPr>
        <p:txBody>
          <a:bodyPr wrap="square">
            <a:spAutoFit/>
          </a:bodyPr>
          <a:lstStyle/>
          <a:p>
            <a:pPr algn="l"/>
            <a:r>
              <a:rPr sz="1000" b="0" i="0">
                <a:solidFill>
                  <a:srgbClr val="3C3C3C"/>
                </a:solidFill>
                <a:latin typeface="Calibri"/>
              </a:rPr>
              <a:t>Write a full issue resolution document per report. Validation queries archived. All findings persisted in project CLAUDE.md for institutional knowledge.</a:t>
            </a:r>
          </a:p>
        </p:txBody>
      </p:sp>
      <p:sp>
        <p:nvSpPr>
          <p:cNvPr id="39" name="Rectangle 38"/>
          <p:cNvSpPr/>
          <p:nvPr/>
        </p:nvSpPr>
        <p:spPr>
          <a:xfrm>
            <a:off x="320040" y="6355080"/>
            <a:ext cx="11548872" cy="347472"/>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6382512"/>
            <a:ext cx="11274552" cy="292608"/>
          </a:xfrm>
          <a:prstGeom prst="rect">
            <a:avLst/>
          </a:prstGeom>
          <a:noFill/>
        </p:spPr>
        <p:txBody>
          <a:bodyPr wrap="square">
            <a:spAutoFit/>
          </a:bodyPr>
          <a:lstStyle/>
          <a:p>
            <a:pPr algn="ctr"/>
            <a:r>
              <a:rPr sz="900" b="0" i="0">
                <a:solidFill>
                  <a:srgbClr val="FFFFFF"/>
                </a:solidFill>
                <a:latin typeface="Calibri"/>
              </a:rPr>
              <a:t>✓  Every delta explained   |   ✓  No gaps left undocumented   |   ✓  Structural vs logic gap always distinguished   |   ✓  BIM is comparison baseline — not the gold standard   |   ✓  EDW is the new source of truth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9144000" cy="502920"/>
          </a:xfrm>
          <a:prstGeom prst="rect">
            <a:avLst/>
          </a:prstGeom>
          <a:noFill/>
        </p:spPr>
        <p:txBody>
          <a:bodyPr wrap="square">
            <a:spAutoFit/>
          </a:bodyPr>
          <a:lstStyle/>
          <a:p>
            <a:pPr algn="l"/>
            <a:r>
              <a:rPr sz="2200" b="1" i="0">
                <a:solidFill>
                  <a:srgbClr val="FFFFFF"/>
                </a:solidFill>
                <a:latin typeface="Calibri"/>
              </a:rPr>
              <a:t>New Architecture: End-to-End Data Flow</a:t>
            </a:r>
          </a:p>
        </p:txBody>
      </p:sp>
      <p:sp>
        <p:nvSpPr>
          <p:cNvPr id="5" name="TextBox 4"/>
          <p:cNvSpPr txBox="1"/>
          <p:nvPr/>
        </p:nvSpPr>
        <p:spPr>
          <a:xfrm>
            <a:off x="320040" y="548640"/>
            <a:ext cx="9144000" cy="320040"/>
          </a:xfrm>
          <a:prstGeom prst="rect">
            <a:avLst/>
          </a:prstGeom>
          <a:noFill/>
        </p:spPr>
        <p:txBody>
          <a:bodyPr wrap="square">
            <a:spAutoFit/>
          </a:bodyPr>
          <a:lstStyle/>
          <a:p>
            <a:pPr algn="l"/>
            <a:r>
              <a:rPr sz="1100" b="0" i="0">
                <a:solidFill>
                  <a:srgbClr val="B0B8C8"/>
                </a:solidFill>
                <a:latin typeface="Calibri"/>
              </a:rPr>
              <a:t>From source systems to enterprise reporting — no BIM dependency</a:t>
            </a:r>
          </a:p>
        </p:txBody>
      </p:sp>
      <p:sp>
        <p:nvSpPr>
          <p:cNvPr id="6" name="Rectangle 5"/>
          <p:cNvSpPr/>
          <p:nvPr/>
        </p:nvSpPr>
        <p:spPr>
          <a:xfrm>
            <a:off x="0" y="868680"/>
            <a:ext cx="12188952" cy="36576"/>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88952" cy="27432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8229600" cy="274320"/>
          </a:xfrm>
          <a:prstGeom prst="rect">
            <a:avLst/>
          </a:prstGeom>
          <a:noFill/>
        </p:spPr>
        <p:txBody>
          <a:bodyPr wrap="square">
            <a:spAutoFit/>
          </a:bodyPr>
          <a:lstStyle/>
          <a:p>
            <a:pPr algn="l"/>
            <a:r>
              <a:rPr sz="800" b="0" i="0">
                <a:solidFill>
                  <a:srgbClr val="B0B8C8"/>
                </a:solidFill>
                <a:latin typeface="Calibri"/>
              </a:rPr>
              <a:t>Bourntec Solutions  |  PEMCO Mutual Insurance  |  Confidential — May 2026</a:t>
            </a:r>
          </a:p>
        </p:txBody>
      </p:sp>
      <p:sp>
        <p:nvSpPr>
          <p:cNvPr id="9" name="Rectangle 8"/>
          <p:cNvSpPr/>
          <p:nvPr/>
        </p:nvSpPr>
        <p:spPr>
          <a:xfrm>
            <a:off x="182880" y="777240"/>
            <a:ext cx="2331720" cy="292608"/>
          </a:xfrm>
          <a:prstGeom prst="rect">
            <a:avLst/>
          </a:prstGeom>
          <a:solidFill>
            <a:srgbClr val="55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 y="795528"/>
            <a:ext cx="2240280" cy="256032"/>
          </a:xfrm>
          <a:prstGeom prst="rect">
            <a:avLst/>
          </a:prstGeom>
          <a:noFill/>
        </p:spPr>
        <p:txBody>
          <a:bodyPr wrap="square">
            <a:spAutoFit/>
          </a:bodyPr>
          <a:lstStyle/>
          <a:p>
            <a:pPr algn="l"/>
            <a:r>
              <a:rPr sz="800" b="1" i="0">
                <a:solidFill>
                  <a:srgbClr val="FFFFFF"/>
                </a:solidFill>
                <a:latin typeface="Calibri"/>
              </a:rPr>
              <a:t>SOURCE SYSTEMS</a:t>
            </a:r>
          </a:p>
        </p:txBody>
      </p:sp>
      <p:sp>
        <p:nvSpPr>
          <p:cNvPr id="11" name="Rectangle 10"/>
          <p:cNvSpPr/>
          <p:nvPr/>
        </p:nvSpPr>
        <p:spPr>
          <a:xfrm>
            <a:off x="182880" y="1097280"/>
            <a:ext cx="2331720" cy="566928"/>
          </a:xfrm>
          <a:prstGeom prst="rect">
            <a:avLst/>
          </a:prstGeom>
          <a:solidFill>
            <a:srgbClr val="3A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 y="1188720"/>
            <a:ext cx="2148840" cy="429768"/>
          </a:xfrm>
          <a:prstGeom prst="rect">
            <a:avLst/>
          </a:prstGeom>
          <a:noFill/>
        </p:spPr>
        <p:txBody>
          <a:bodyPr wrap="square">
            <a:spAutoFit/>
          </a:bodyPr>
          <a:lstStyle/>
          <a:p>
            <a:pPr algn="l"/>
            <a:r>
              <a:rPr sz="900" b="0" i="0">
                <a:solidFill>
                  <a:srgbClr val="FFFFFF"/>
                </a:solidFill>
                <a:latin typeface="Calibri"/>
              </a:rPr>
              <a:t>HDS (Policy Data)</a:t>
            </a:r>
          </a:p>
        </p:txBody>
      </p:sp>
      <p:sp>
        <p:nvSpPr>
          <p:cNvPr id="13" name="Rectangle 12"/>
          <p:cNvSpPr/>
          <p:nvPr/>
        </p:nvSpPr>
        <p:spPr>
          <a:xfrm>
            <a:off x="182880" y="1737360"/>
            <a:ext cx="2331720" cy="566928"/>
          </a:xfrm>
          <a:prstGeom prst="rect">
            <a:avLst/>
          </a:prstGeom>
          <a:solidFill>
            <a:srgbClr val="3A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 y="1828800"/>
            <a:ext cx="2148840" cy="429768"/>
          </a:xfrm>
          <a:prstGeom prst="rect">
            <a:avLst/>
          </a:prstGeom>
          <a:noFill/>
        </p:spPr>
        <p:txBody>
          <a:bodyPr wrap="square">
            <a:spAutoFit/>
          </a:bodyPr>
          <a:lstStyle/>
          <a:p>
            <a:pPr algn="l"/>
            <a:r>
              <a:rPr sz="900" b="0" i="0">
                <a:solidFill>
                  <a:srgbClr val="FFFFFF"/>
                </a:solidFill>
                <a:latin typeface="Calibri"/>
              </a:rPr>
              <a:t>Exceed (Financials)</a:t>
            </a:r>
          </a:p>
        </p:txBody>
      </p:sp>
      <p:sp>
        <p:nvSpPr>
          <p:cNvPr id="15" name="Rectangle 14"/>
          <p:cNvSpPr/>
          <p:nvPr/>
        </p:nvSpPr>
        <p:spPr>
          <a:xfrm>
            <a:off x="182880" y="2377440"/>
            <a:ext cx="2331720" cy="566928"/>
          </a:xfrm>
          <a:prstGeom prst="rect">
            <a:avLst/>
          </a:prstGeom>
          <a:solidFill>
            <a:srgbClr val="3A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2608" y="2468880"/>
            <a:ext cx="2148840" cy="429768"/>
          </a:xfrm>
          <a:prstGeom prst="rect">
            <a:avLst/>
          </a:prstGeom>
          <a:noFill/>
        </p:spPr>
        <p:txBody>
          <a:bodyPr wrap="square">
            <a:spAutoFit/>
          </a:bodyPr>
          <a:lstStyle/>
          <a:p>
            <a:pPr algn="l"/>
            <a:r>
              <a:rPr sz="900" b="0" i="0">
                <a:solidFill>
                  <a:srgbClr val="FFFFFF"/>
                </a:solidFill>
                <a:latin typeface="Calibri"/>
              </a:rPr>
              <a:t>CIFDM (Contact / Paperless)</a:t>
            </a:r>
          </a:p>
        </p:txBody>
      </p:sp>
      <p:sp>
        <p:nvSpPr>
          <p:cNvPr id="17" name="Rectangle 16"/>
          <p:cNvSpPr/>
          <p:nvPr/>
        </p:nvSpPr>
        <p:spPr>
          <a:xfrm>
            <a:off x="182880" y="3017520"/>
            <a:ext cx="2331720" cy="566928"/>
          </a:xfrm>
          <a:prstGeom prst="rect">
            <a:avLst/>
          </a:prstGeom>
          <a:solidFill>
            <a:srgbClr val="3A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 y="3108960"/>
            <a:ext cx="2148840" cy="429768"/>
          </a:xfrm>
          <a:prstGeom prst="rect">
            <a:avLst/>
          </a:prstGeom>
          <a:noFill/>
        </p:spPr>
        <p:txBody>
          <a:bodyPr wrap="square">
            <a:spAutoFit/>
          </a:bodyPr>
          <a:lstStyle/>
          <a:p>
            <a:pPr algn="l"/>
            <a:r>
              <a:rPr sz="900" b="0" i="0">
                <a:solidFill>
                  <a:srgbClr val="FFFFFF"/>
                </a:solidFill>
                <a:latin typeface="Calibri"/>
              </a:rPr>
              <a:t>Eloqua (Email / BIM fallback)</a:t>
            </a:r>
          </a:p>
        </p:txBody>
      </p:sp>
      <p:sp>
        <p:nvSpPr>
          <p:cNvPr id="19" name="Rectangle 18"/>
          <p:cNvSpPr/>
          <p:nvPr/>
        </p:nvSpPr>
        <p:spPr>
          <a:xfrm>
            <a:off x="182880" y="3657600"/>
            <a:ext cx="2331720" cy="566928"/>
          </a:xfrm>
          <a:prstGeom prst="rect">
            <a:avLst/>
          </a:prstGeom>
          <a:solidFill>
            <a:srgbClr val="3A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2608" y="3749040"/>
            <a:ext cx="2148840" cy="429768"/>
          </a:xfrm>
          <a:prstGeom prst="rect">
            <a:avLst/>
          </a:prstGeom>
          <a:noFill/>
        </p:spPr>
        <p:txBody>
          <a:bodyPr wrap="square">
            <a:spAutoFit/>
          </a:bodyPr>
          <a:lstStyle/>
          <a:p>
            <a:pPr algn="l"/>
            <a:r>
              <a:rPr sz="900" b="0" i="0">
                <a:solidFill>
                  <a:srgbClr val="FFFFFF"/>
                </a:solidFill>
                <a:latin typeface="Calibri"/>
              </a:rPr>
              <a:t>Salesforce (Digital) — pending</a:t>
            </a:r>
          </a:p>
        </p:txBody>
      </p:sp>
      <p:sp>
        <p:nvSpPr>
          <p:cNvPr id="21" name="TextBox 20"/>
          <p:cNvSpPr txBox="1"/>
          <p:nvPr/>
        </p:nvSpPr>
        <p:spPr>
          <a:xfrm>
            <a:off x="2578608" y="3200400"/>
            <a:ext cx="457200" cy="457200"/>
          </a:xfrm>
          <a:prstGeom prst="rect">
            <a:avLst/>
          </a:prstGeom>
          <a:noFill/>
        </p:spPr>
        <p:txBody>
          <a:bodyPr wrap="square">
            <a:spAutoFit/>
          </a:bodyPr>
          <a:lstStyle/>
          <a:p>
            <a:pPr algn="l"/>
            <a:r>
              <a:rPr sz="2400" b="1" i="0">
                <a:solidFill>
                  <a:srgbClr val="1A3055"/>
                </a:solidFill>
                <a:latin typeface="Calibri"/>
              </a:rPr>
              <a:t>→</a:t>
            </a:r>
          </a:p>
        </p:txBody>
      </p:sp>
      <p:sp>
        <p:nvSpPr>
          <p:cNvPr id="22" name="Rectangle 21"/>
          <p:cNvSpPr/>
          <p:nvPr/>
        </p:nvSpPr>
        <p:spPr>
          <a:xfrm>
            <a:off x="3108960" y="777240"/>
            <a:ext cx="2926080" cy="292608"/>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54680" y="795528"/>
            <a:ext cx="2834640" cy="256032"/>
          </a:xfrm>
          <a:prstGeom prst="rect">
            <a:avLst/>
          </a:prstGeom>
          <a:noFill/>
        </p:spPr>
        <p:txBody>
          <a:bodyPr wrap="square">
            <a:spAutoFit/>
          </a:bodyPr>
          <a:lstStyle/>
          <a:p>
            <a:pPr algn="l"/>
            <a:r>
              <a:rPr sz="800" b="1" i="0">
                <a:solidFill>
                  <a:srgbClr val="FFFFFF"/>
                </a:solidFill>
                <a:latin typeface="Calibri"/>
              </a:rPr>
              <a:t>AWM / EDW (ENTERPRISE DATA WAREHOUSE)</a:t>
            </a:r>
          </a:p>
        </p:txBody>
      </p:sp>
      <p:sp>
        <p:nvSpPr>
          <p:cNvPr id="24" name="Rectangle 23"/>
          <p:cNvSpPr/>
          <p:nvPr/>
        </p:nvSpPr>
        <p:spPr>
          <a:xfrm>
            <a:off x="3108960" y="1097280"/>
            <a:ext cx="2926080" cy="566928"/>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18688" y="1133856"/>
            <a:ext cx="2743200" cy="256032"/>
          </a:xfrm>
          <a:prstGeom prst="rect">
            <a:avLst/>
          </a:prstGeom>
          <a:noFill/>
        </p:spPr>
        <p:txBody>
          <a:bodyPr wrap="square">
            <a:spAutoFit/>
          </a:bodyPr>
          <a:lstStyle/>
          <a:p>
            <a:pPr algn="l"/>
            <a:r>
              <a:rPr sz="900" b="1" i="0">
                <a:solidFill>
                  <a:srgbClr val="E09A00"/>
                </a:solidFill>
                <a:latin typeface="Calibri"/>
              </a:rPr>
              <a:t>vw_policy</a:t>
            </a:r>
          </a:p>
        </p:txBody>
      </p:sp>
      <p:sp>
        <p:nvSpPr>
          <p:cNvPr id="26" name="TextBox 25"/>
          <p:cNvSpPr txBox="1"/>
          <p:nvPr/>
        </p:nvSpPr>
        <p:spPr>
          <a:xfrm>
            <a:off x="3218688" y="1371600"/>
            <a:ext cx="2743200" cy="256032"/>
          </a:xfrm>
          <a:prstGeom prst="rect">
            <a:avLst/>
          </a:prstGeom>
          <a:noFill/>
        </p:spPr>
        <p:txBody>
          <a:bodyPr wrap="square">
            <a:spAutoFit/>
          </a:bodyPr>
          <a:lstStyle/>
          <a:p>
            <a:pPr algn="l"/>
            <a:r>
              <a:rPr sz="800" b="0" i="0">
                <a:solidFill>
                  <a:srgbClr val="B0B8C8"/>
                </a:solidFill>
                <a:latin typeface="Calibri"/>
              </a:rPr>
              <a:t>Policy terms, inforce indicators</a:t>
            </a:r>
          </a:p>
        </p:txBody>
      </p:sp>
      <p:sp>
        <p:nvSpPr>
          <p:cNvPr id="27" name="Rectangle 26"/>
          <p:cNvSpPr/>
          <p:nvPr/>
        </p:nvSpPr>
        <p:spPr>
          <a:xfrm>
            <a:off x="3108960" y="1737360"/>
            <a:ext cx="2926080" cy="566928"/>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18688" y="1773936"/>
            <a:ext cx="2743200" cy="256032"/>
          </a:xfrm>
          <a:prstGeom prst="rect">
            <a:avLst/>
          </a:prstGeom>
          <a:noFill/>
        </p:spPr>
        <p:txBody>
          <a:bodyPr wrap="square">
            <a:spAutoFit/>
          </a:bodyPr>
          <a:lstStyle/>
          <a:p>
            <a:pPr algn="l"/>
            <a:r>
              <a:rPr sz="900" b="1" i="0">
                <a:solidFill>
                  <a:srgbClr val="E09A00"/>
                </a:solidFill>
                <a:latin typeface="Calibri"/>
              </a:rPr>
              <a:t>vw_policyholder</a:t>
            </a:r>
          </a:p>
        </p:txBody>
      </p:sp>
      <p:sp>
        <p:nvSpPr>
          <p:cNvPr id="29" name="TextBox 28"/>
          <p:cNvSpPr txBox="1"/>
          <p:nvPr/>
        </p:nvSpPr>
        <p:spPr>
          <a:xfrm>
            <a:off x="3218688" y="2011680"/>
            <a:ext cx="2743200" cy="256032"/>
          </a:xfrm>
          <a:prstGeom prst="rect">
            <a:avLst/>
          </a:prstGeom>
          <a:noFill/>
        </p:spPr>
        <p:txBody>
          <a:bodyPr wrap="square">
            <a:spAutoFit/>
          </a:bodyPr>
          <a:lstStyle/>
          <a:p>
            <a:pPr algn="l"/>
            <a:r>
              <a:rPr sz="800" b="0" i="0">
                <a:solidFill>
                  <a:srgbClr val="B0B8C8"/>
                </a:solidFill>
                <a:latin typeface="Calibri"/>
              </a:rPr>
              <a:t>Party-policy relationships (NIN/ANI)</a:t>
            </a:r>
          </a:p>
        </p:txBody>
      </p:sp>
      <p:sp>
        <p:nvSpPr>
          <p:cNvPr id="30" name="Rectangle 29"/>
          <p:cNvSpPr/>
          <p:nvPr/>
        </p:nvSpPr>
        <p:spPr>
          <a:xfrm>
            <a:off x="3108960" y="2377440"/>
            <a:ext cx="2926080" cy="566928"/>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18688" y="2414016"/>
            <a:ext cx="2743200" cy="256032"/>
          </a:xfrm>
          <a:prstGeom prst="rect">
            <a:avLst/>
          </a:prstGeom>
          <a:noFill/>
        </p:spPr>
        <p:txBody>
          <a:bodyPr wrap="square">
            <a:spAutoFit/>
          </a:bodyPr>
          <a:lstStyle/>
          <a:p>
            <a:pPr algn="l"/>
            <a:r>
              <a:rPr sz="900" b="1" i="0">
                <a:solidFill>
                  <a:srgbClr val="E09A00"/>
                </a:solidFill>
                <a:latin typeface="Calibri"/>
              </a:rPr>
              <a:t>vw_policy_driver</a:t>
            </a:r>
          </a:p>
        </p:txBody>
      </p:sp>
      <p:sp>
        <p:nvSpPr>
          <p:cNvPr id="32" name="TextBox 31"/>
          <p:cNvSpPr txBox="1"/>
          <p:nvPr/>
        </p:nvSpPr>
        <p:spPr>
          <a:xfrm>
            <a:off x="3218688" y="2651760"/>
            <a:ext cx="2743200" cy="256032"/>
          </a:xfrm>
          <a:prstGeom prst="rect">
            <a:avLst/>
          </a:prstGeom>
          <a:noFill/>
        </p:spPr>
        <p:txBody>
          <a:bodyPr wrap="square">
            <a:spAutoFit/>
          </a:bodyPr>
          <a:lstStyle/>
          <a:p>
            <a:pPr algn="l"/>
            <a:r>
              <a:rPr sz="800" b="0" i="0">
                <a:solidFill>
                  <a:srgbClr val="B0B8C8"/>
                </a:solidFill>
                <a:latin typeface="Calibri"/>
              </a:rPr>
              <a:t>Driver-only roles</a:t>
            </a:r>
          </a:p>
        </p:txBody>
      </p:sp>
      <p:sp>
        <p:nvSpPr>
          <p:cNvPr id="33" name="Rectangle 32"/>
          <p:cNvSpPr/>
          <p:nvPr/>
        </p:nvSpPr>
        <p:spPr>
          <a:xfrm>
            <a:off x="3108960" y="3017520"/>
            <a:ext cx="2926080" cy="566928"/>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18688" y="3054096"/>
            <a:ext cx="2743200" cy="256032"/>
          </a:xfrm>
          <a:prstGeom prst="rect">
            <a:avLst/>
          </a:prstGeom>
          <a:noFill/>
        </p:spPr>
        <p:txBody>
          <a:bodyPr wrap="square">
            <a:spAutoFit/>
          </a:bodyPr>
          <a:lstStyle/>
          <a:p>
            <a:pPr algn="l"/>
            <a:r>
              <a:rPr sz="900" b="1" i="0">
                <a:solidFill>
                  <a:srgbClr val="E09A00"/>
                </a:solidFill>
                <a:latin typeface="Calibri"/>
              </a:rPr>
              <a:t>party_id_same_as_link</a:t>
            </a:r>
          </a:p>
        </p:txBody>
      </p:sp>
      <p:sp>
        <p:nvSpPr>
          <p:cNvPr id="35" name="TextBox 34"/>
          <p:cNvSpPr txBox="1"/>
          <p:nvPr/>
        </p:nvSpPr>
        <p:spPr>
          <a:xfrm>
            <a:off x="3218688" y="3291840"/>
            <a:ext cx="2743200" cy="256032"/>
          </a:xfrm>
          <a:prstGeom prst="rect">
            <a:avLst/>
          </a:prstGeom>
          <a:noFill/>
        </p:spPr>
        <p:txBody>
          <a:bodyPr wrap="square">
            <a:spAutoFit/>
          </a:bodyPr>
          <a:lstStyle/>
          <a:p>
            <a:pPr algn="l"/>
            <a:r>
              <a:rPr sz="800" b="0" i="0">
                <a:solidFill>
                  <a:srgbClr val="B0B8C8"/>
                </a:solidFill>
                <a:latin typeface="Calibri"/>
              </a:rPr>
              <a:t>AWM→EDW party bridge</a:t>
            </a:r>
          </a:p>
        </p:txBody>
      </p:sp>
      <p:sp>
        <p:nvSpPr>
          <p:cNvPr id="36" name="Rectangle 35"/>
          <p:cNvSpPr/>
          <p:nvPr/>
        </p:nvSpPr>
        <p:spPr>
          <a:xfrm>
            <a:off x="3108960" y="3657600"/>
            <a:ext cx="2926080" cy="566928"/>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18688" y="3694176"/>
            <a:ext cx="2743200" cy="256032"/>
          </a:xfrm>
          <a:prstGeom prst="rect">
            <a:avLst/>
          </a:prstGeom>
          <a:noFill/>
        </p:spPr>
        <p:txBody>
          <a:bodyPr wrap="square">
            <a:spAutoFit/>
          </a:bodyPr>
          <a:lstStyle/>
          <a:p>
            <a:pPr algn="l"/>
            <a:r>
              <a:rPr sz="900" b="1" i="0">
                <a:solidFill>
                  <a:srgbClr val="E09A00"/>
                </a:solidFill>
                <a:latin typeface="Calibri"/>
              </a:rPr>
              <a:t>party_user_account_link</a:t>
            </a:r>
          </a:p>
        </p:txBody>
      </p:sp>
      <p:sp>
        <p:nvSpPr>
          <p:cNvPr id="38" name="TextBox 37"/>
          <p:cNvSpPr txBox="1"/>
          <p:nvPr/>
        </p:nvSpPr>
        <p:spPr>
          <a:xfrm>
            <a:off x="3218688" y="3931920"/>
            <a:ext cx="2743200" cy="256032"/>
          </a:xfrm>
          <a:prstGeom prst="rect">
            <a:avLst/>
          </a:prstGeom>
          <a:noFill/>
        </p:spPr>
        <p:txBody>
          <a:bodyPr wrap="square">
            <a:spAutoFit/>
          </a:bodyPr>
          <a:lstStyle/>
          <a:p>
            <a:pPr algn="l"/>
            <a:r>
              <a:rPr sz="800" b="0" i="0">
                <a:solidFill>
                  <a:srgbClr val="B0B8C8"/>
                </a:solidFill>
                <a:latin typeface="Calibri"/>
              </a:rPr>
              <a:t>Online account registration</a:t>
            </a:r>
          </a:p>
        </p:txBody>
      </p:sp>
      <p:sp>
        <p:nvSpPr>
          <p:cNvPr id="39" name="Rectangle 38"/>
          <p:cNvSpPr/>
          <p:nvPr/>
        </p:nvSpPr>
        <p:spPr>
          <a:xfrm>
            <a:off x="3108960" y="4297680"/>
            <a:ext cx="2926080" cy="566928"/>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18688" y="4334256"/>
            <a:ext cx="2743200" cy="256032"/>
          </a:xfrm>
          <a:prstGeom prst="rect">
            <a:avLst/>
          </a:prstGeom>
          <a:noFill/>
        </p:spPr>
        <p:txBody>
          <a:bodyPr wrap="square">
            <a:spAutoFit/>
          </a:bodyPr>
          <a:lstStyle/>
          <a:p>
            <a:pPr algn="l"/>
            <a:r>
              <a:rPr sz="900" b="1" i="0">
                <a:solidFill>
                  <a:srgbClr val="E09A00"/>
                </a:solidFill>
                <a:latin typeface="Calibri"/>
              </a:rPr>
              <a:t>asp_user_account_detail</a:t>
            </a:r>
          </a:p>
        </p:txBody>
      </p:sp>
      <p:sp>
        <p:nvSpPr>
          <p:cNvPr id="41" name="TextBox 40"/>
          <p:cNvSpPr txBox="1"/>
          <p:nvPr/>
        </p:nvSpPr>
        <p:spPr>
          <a:xfrm>
            <a:off x="3218688" y="4572000"/>
            <a:ext cx="2743200" cy="256032"/>
          </a:xfrm>
          <a:prstGeom prst="rect">
            <a:avLst/>
          </a:prstGeom>
          <a:noFill/>
        </p:spPr>
        <p:txBody>
          <a:bodyPr wrap="square">
            <a:spAutoFit/>
          </a:bodyPr>
          <a:lstStyle/>
          <a:p>
            <a:pPr algn="l"/>
            <a:r>
              <a:rPr sz="800" b="0" i="0">
                <a:solidFill>
                  <a:srgbClr val="B0B8C8"/>
                </a:solidFill>
                <a:latin typeface="Calibri"/>
              </a:rPr>
              <a:t>Account email (user_name)</a:t>
            </a:r>
          </a:p>
        </p:txBody>
      </p:sp>
      <p:sp>
        <p:nvSpPr>
          <p:cNvPr id="42" name="Rectangle 41"/>
          <p:cNvSpPr/>
          <p:nvPr/>
        </p:nvSpPr>
        <p:spPr>
          <a:xfrm>
            <a:off x="3108960" y="4937760"/>
            <a:ext cx="2926080" cy="566928"/>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18688" y="4974336"/>
            <a:ext cx="2743200" cy="256032"/>
          </a:xfrm>
          <a:prstGeom prst="rect">
            <a:avLst/>
          </a:prstGeom>
          <a:noFill/>
        </p:spPr>
        <p:txBody>
          <a:bodyPr wrap="square">
            <a:spAutoFit/>
          </a:bodyPr>
          <a:lstStyle/>
          <a:p>
            <a:pPr algn="l"/>
            <a:r>
              <a:rPr sz="900" b="1" i="0">
                <a:solidFill>
                  <a:srgbClr val="E09A00"/>
                </a:solidFill>
                <a:latin typeface="Calibri"/>
              </a:rPr>
              <a:t>cif_policy_party_detail</a:t>
            </a:r>
          </a:p>
        </p:txBody>
      </p:sp>
      <p:sp>
        <p:nvSpPr>
          <p:cNvPr id="44" name="TextBox 43"/>
          <p:cNvSpPr txBox="1"/>
          <p:nvPr/>
        </p:nvSpPr>
        <p:spPr>
          <a:xfrm>
            <a:off x="3218688" y="5212080"/>
            <a:ext cx="2743200" cy="256032"/>
          </a:xfrm>
          <a:prstGeom prst="rect">
            <a:avLst/>
          </a:prstGeom>
          <a:noFill/>
        </p:spPr>
        <p:txBody>
          <a:bodyPr wrap="square">
            <a:spAutoFit/>
          </a:bodyPr>
          <a:lstStyle/>
          <a:p>
            <a:pPr algn="l"/>
            <a:r>
              <a:rPr sz="800" b="0" i="0">
                <a:solidFill>
                  <a:srgbClr val="B0B8C8"/>
                </a:solidFill>
                <a:latin typeface="Calibri"/>
              </a:rPr>
              <a:t>Paperless BIL/POL indicators (CIF)</a:t>
            </a:r>
          </a:p>
        </p:txBody>
      </p:sp>
      <p:sp>
        <p:nvSpPr>
          <p:cNvPr id="45" name="TextBox 44"/>
          <p:cNvSpPr txBox="1"/>
          <p:nvPr/>
        </p:nvSpPr>
        <p:spPr>
          <a:xfrm>
            <a:off x="6108192" y="3200400"/>
            <a:ext cx="457200" cy="457200"/>
          </a:xfrm>
          <a:prstGeom prst="rect">
            <a:avLst/>
          </a:prstGeom>
          <a:noFill/>
        </p:spPr>
        <p:txBody>
          <a:bodyPr wrap="square">
            <a:spAutoFit/>
          </a:bodyPr>
          <a:lstStyle/>
          <a:p>
            <a:pPr algn="l"/>
            <a:r>
              <a:rPr sz="2400" b="1" i="0">
                <a:solidFill>
                  <a:srgbClr val="1A3055"/>
                </a:solidFill>
                <a:latin typeface="Calibri"/>
              </a:rPr>
              <a:t>→</a:t>
            </a:r>
          </a:p>
        </p:txBody>
      </p:sp>
      <p:sp>
        <p:nvSpPr>
          <p:cNvPr id="46" name="Rectangle 45"/>
          <p:cNvSpPr/>
          <p:nvPr/>
        </p:nvSpPr>
        <p:spPr>
          <a:xfrm>
            <a:off x="6629400" y="777240"/>
            <a:ext cx="2331720" cy="292608"/>
          </a:xfrm>
          <a:prstGeom prst="rect">
            <a:avLst/>
          </a:prstGeom>
          <a:solidFill>
            <a:srgbClr val="26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75120" y="795528"/>
            <a:ext cx="2240280" cy="256032"/>
          </a:xfrm>
          <a:prstGeom prst="rect">
            <a:avLst/>
          </a:prstGeom>
          <a:noFill/>
        </p:spPr>
        <p:txBody>
          <a:bodyPr wrap="square">
            <a:spAutoFit/>
          </a:bodyPr>
          <a:lstStyle/>
          <a:p>
            <a:pPr algn="l"/>
            <a:r>
              <a:rPr sz="800" b="1" i="0">
                <a:solidFill>
                  <a:srgbClr val="FFFFFF"/>
                </a:solidFill>
                <a:latin typeface="Calibri"/>
              </a:rPr>
              <a:t>SQL LAYER (Bourntec)</a:t>
            </a:r>
          </a:p>
        </p:txBody>
      </p:sp>
      <p:sp>
        <p:nvSpPr>
          <p:cNvPr id="48" name="Rectangle 47"/>
          <p:cNvSpPr/>
          <p:nvPr/>
        </p:nvSpPr>
        <p:spPr>
          <a:xfrm>
            <a:off x="6629400" y="1097280"/>
            <a:ext cx="2331720" cy="566928"/>
          </a:xfrm>
          <a:prstGeom prst="rect">
            <a:avLst/>
          </a:prstGeom>
          <a:solidFill>
            <a:srgbClr val="1A5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39128" y="1216152"/>
            <a:ext cx="2103120" cy="384048"/>
          </a:xfrm>
          <a:prstGeom prst="rect">
            <a:avLst/>
          </a:prstGeom>
          <a:noFill/>
        </p:spPr>
        <p:txBody>
          <a:bodyPr wrap="square">
            <a:spAutoFit/>
          </a:bodyPr>
          <a:lstStyle/>
          <a:p>
            <a:pPr algn="l"/>
            <a:r>
              <a:rPr sz="900" b="0" i="0">
                <a:solidFill>
                  <a:srgbClr val="FFFFFF"/>
                </a:solidFill>
                <a:latin typeface="Calibri"/>
              </a:rPr>
              <a:t>Online Accounts Self-Service (4 DateTypes)</a:t>
            </a:r>
          </a:p>
        </p:txBody>
      </p:sp>
      <p:sp>
        <p:nvSpPr>
          <p:cNvPr id="50" name="Rectangle 49"/>
          <p:cNvSpPr/>
          <p:nvPr/>
        </p:nvSpPr>
        <p:spPr>
          <a:xfrm>
            <a:off x="6629400" y="1737360"/>
            <a:ext cx="2331720" cy="566928"/>
          </a:xfrm>
          <a:prstGeom prst="rect">
            <a:avLst/>
          </a:prstGeom>
          <a:solidFill>
            <a:srgbClr val="1A5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739128" y="1856232"/>
            <a:ext cx="2103120" cy="384048"/>
          </a:xfrm>
          <a:prstGeom prst="rect">
            <a:avLst/>
          </a:prstGeom>
          <a:noFill/>
        </p:spPr>
        <p:txBody>
          <a:bodyPr wrap="square">
            <a:spAutoFit/>
          </a:bodyPr>
          <a:lstStyle/>
          <a:p>
            <a:pPr algn="l"/>
            <a:r>
              <a:rPr sz="900" b="0" i="0">
                <a:solidFill>
                  <a:srgbClr val="FFFFFF"/>
                </a:solidFill>
                <a:latin typeface="Calibri"/>
              </a:rPr>
              <a:t>Online Accounts Active by State</a:t>
            </a:r>
          </a:p>
        </p:txBody>
      </p:sp>
      <p:sp>
        <p:nvSpPr>
          <p:cNvPr id="52" name="Rectangle 51"/>
          <p:cNvSpPr/>
          <p:nvPr/>
        </p:nvSpPr>
        <p:spPr>
          <a:xfrm>
            <a:off x="6629400" y="2377440"/>
            <a:ext cx="2331720" cy="566928"/>
          </a:xfrm>
          <a:prstGeom prst="rect">
            <a:avLst/>
          </a:prstGeom>
          <a:solidFill>
            <a:srgbClr val="1A5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739128" y="2496312"/>
            <a:ext cx="2103120" cy="384048"/>
          </a:xfrm>
          <a:prstGeom prst="rect">
            <a:avLst/>
          </a:prstGeom>
          <a:noFill/>
        </p:spPr>
        <p:txBody>
          <a:bodyPr wrap="square">
            <a:spAutoFit/>
          </a:bodyPr>
          <a:lstStyle/>
          <a:p>
            <a:pPr algn="l"/>
            <a:r>
              <a:rPr sz="900" b="0" i="0">
                <a:solidFill>
                  <a:srgbClr val="FFFFFF"/>
                </a:solidFill>
                <a:latin typeface="Calibri"/>
              </a:rPr>
              <a:t>Paperless Report (10-step pipeline)</a:t>
            </a:r>
          </a:p>
        </p:txBody>
      </p:sp>
      <p:sp>
        <p:nvSpPr>
          <p:cNvPr id="54" name="Rectangle 53"/>
          <p:cNvSpPr/>
          <p:nvPr/>
        </p:nvSpPr>
        <p:spPr>
          <a:xfrm>
            <a:off x="6629400" y="3017520"/>
            <a:ext cx="2331720" cy="566928"/>
          </a:xfrm>
          <a:prstGeom prst="rect">
            <a:avLst/>
          </a:prstGeom>
          <a:solidFill>
            <a:srgbClr val="1A5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739128" y="3136392"/>
            <a:ext cx="2103120" cy="384048"/>
          </a:xfrm>
          <a:prstGeom prst="rect">
            <a:avLst/>
          </a:prstGeom>
          <a:noFill/>
        </p:spPr>
        <p:txBody>
          <a:bodyPr wrap="square">
            <a:spAutoFit/>
          </a:bodyPr>
          <a:lstStyle/>
          <a:p>
            <a:pPr algn="l"/>
            <a:r>
              <a:rPr sz="900" b="0" i="0">
                <a:solidFill>
                  <a:srgbClr val="FFFFFF"/>
                </a:solidFill>
                <a:latin typeface="Calibri"/>
              </a:rPr>
              <a:t>Validation queries (BIM vs EDW)</a:t>
            </a:r>
          </a:p>
        </p:txBody>
      </p:sp>
      <p:sp>
        <p:nvSpPr>
          <p:cNvPr id="56" name="Rectangle 55"/>
          <p:cNvSpPr/>
          <p:nvPr/>
        </p:nvSpPr>
        <p:spPr>
          <a:xfrm>
            <a:off x="6629400" y="3657600"/>
            <a:ext cx="2331720" cy="566928"/>
          </a:xfrm>
          <a:prstGeom prst="rect">
            <a:avLst/>
          </a:prstGeom>
          <a:solidFill>
            <a:srgbClr val="1A5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739128" y="3776472"/>
            <a:ext cx="2103120" cy="384048"/>
          </a:xfrm>
          <a:prstGeom prst="rect">
            <a:avLst/>
          </a:prstGeom>
          <a:noFill/>
        </p:spPr>
        <p:txBody>
          <a:bodyPr wrap="square">
            <a:spAutoFit/>
          </a:bodyPr>
          <a:lstStyle/>
          <a:p>
            <a:pPr algn="l"/>
            <a:r>
              <a:rPr sz="900" b="0" i="0">
                <a:solidFill>
                  <a:srgbClr val="FFFFFF"/>
                </a:solidFill>
                <a:latin typeface="Calibri"/>
              </a:rPr>
              <a:t>Agent Dashboard reconciliation</a:t>
            </a:r>
          </a:p>
        </p:txBody>
      </p:sp>
      <p:sp>
        <p:nvSpPr>
          <p:cNvPr id="58" name="TextBox 57"/>
          <p:cNvSpPr txBox="1"/>
          <p:nvPr/>
        </p:nvSpPr>
        <p:spPr>
          <a:xfrm>
            <a:off x="9025128" y="3200400"/>
            <a:ext cx="457200" cy="457200"/>
          </a:xfrm>
          <a:prstGeom prst="rect">
            <a:avLst/>
          </a:prstGeom>
          <a:noFill/>
        </p:spPr>
        <p:txBody>
          <a:bodyPr wrap="square">
            <a:spAutoFit/>
          </a:bodyPr>
          <a:lstStyle/>
          <a:p>
            <a:pPr algn="l"/>
            <a:r>
              <a:rPr sz="2400" b="1" i="0">
                <a:solidFill>
                  <a:srgbClr val="1A3055"/>
                </a:solidFill>
                <a:latin typeface="Calibri"/>
              </a:rPr>
              <a:t>→</a:t>
            </a:r>
          </a:p>
        </p:txBody>
      </p:sp>
      <p:sp>
        <p:nvSpPr>
          <p:cNvPr id="59" name="Rectangle 58"/>
          <p:cNvSpPr/>
          <p:nvPr/>
        </p:nvSpPr>
        <p:spPr>
          <a:xfrm>
            <a:off x="9528048" y="777240"/>
            <a:ext cx="2423160" cy="292608"/>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573768" y="795528"/>
            <a:ext cx="2331720" cy="256032"/>
          </a:xfrm>
          <a:prstGeom prst="rect">
            <a:avLst/>
          </a:prstGeom>
          <a:noFill/>
        </p:spPr>
        <p:txBody>
          <a:bodyPr wrap="square">
            <a:spAutoFit/>
          </a:bodyPr>
          <a:lstStyle/>
          <a:p>
            <a:pPr algn="l"/>
            <a:r>
              <a:rPr sz="800" b="1" i="0">
                <a:solidFill>
                  <a:srgbClr val="FFFFFF"/>
                </a:solidFill>
                <a:latin typeface="Calibri"/>
              </a:rPr>
              <a:t>REPORTING LAYER</a:t>
            </a:r>
          </a:p>
        </p:txBody>
      </p:sp>
      <p:sp>
        <p:nvSpPr>
          <p:cNvPr id="61" name="Rectangle 60"/>
          <p:cNvSpPr/>
          <p:nvPr/>
        </p:nvSpPr>
        <p:spPr>
          <a:xfrm>
            <a:off x="9528048" y="1097280"/>
            <a:ext cx="2423160" cy="566928"/>
          </a:xfrm>
          <a:prstGeom prst="rect">
            <a:avLst/>
          </a:prstGeom>
          <a:solidFill>
            <a:srgbClr val="22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637776" y="1133856"/>
            <a:ext cx="777240" cy="256032"/>
          </a:xfrm>
          <a:prstGeom prst="rect">
            <a:avLst/>
          </a:prstGeom>
          <a:noFill/>
        </p:spPr>
        <p:txBody>
          <a:bodyPr wrap="square">
            <a:spAutoFit/>
          </a:bodyPr>
          <a:lstStyle/>
          <a:p>
            <a:pPr algn="l"/>
            <a:r>
              <a:rPr sz="900" b="1" i="0">
                <a:solidFill>
                  <a:srgbClr val="E09A00"/>
                </a:solidFill>
                <a:latin typeface="Calibri"/>
              </a:rPr>
              <a:t>Tableau</a:t>
            </a:r>
          </a:p>
        </p:txBody>
      </p:sp>
      <p:sp>
        <p:nvSpPr>
          <p:cNvPr id="63" name="TextBox 62"/>
          <p:cNvSpPr txBox="1"/>
          <p:nvPr/>
        </p:nvSpPr>
        <p:spPr>
          <a:xfrm>
            <a:off x="9637776" y="1371600"/>
            <a:ext cx="2194560" cy="256032"/>
          </a:xfrm>
          <a:prstGeom prst="rect">
            <a:avLst/>
          </a:prstGeom>
          <a:noFill/>
        </p:spPr>
        <p:txBody>
          <a:bodyPr wrap="square">
            <a:spAutoFit/>
          </a:bodyPr>
          <a:lstStyle/>
          <a:p>
            <a:pPr algn="l"/>
            <a:r>
              <a:rPr sz="800" b="0" i="0">
                <a:solidFill>
                  <a:srgbClr val="B0B8C8"/>
                </a:solidFill>
                <a:latin typeface="Calibri"/>
              </a:rPr>
              <a:t>Single-source consolidated dashboard</a:t>
            </a:r>
          </a:p>
        </p:txBody>
      </p:sp>
      <p:sp>
        <p:nvSpPr>
          <p:cNvPr id="64" name="Rectangle 63"/>
          <p:cNvSpPr/>
          <p:nvPr/>
        </p:nvSpPr>
        <p:spPr>
          <a:xfrm>
            <a:off x="9528048" y="1737360"/>
            <a:ext cx="2423160" cy="566928"/>
          </a:xfrm>
          <a:prstGeom prst="rect">
            <a:avLst/>
          </a:prstGeom>
          <a:solidFill>
            <a:srgbClr val="22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637776" y="1773936"/>
            <a:ext cx="777240" cy="256032"/>
          </a:xfrm>
          <a:prstGeom prst="rect">
            <a:avLst/>
          </a:prstGeom>
          <a:noFill/>
        </p:spPr>
        <p:txBody>
          <a:bodyPr wrap="square">
            <a:spAutoFit/>
          </a:bodyPr>
          <a:lstStyle/>
          <a:p>
            <a:pPr algn="l"/>
            <a:r>
              <a:rPr sz="900" b="1" i="0">
                <a:solidFill>
                  <a:srgbClr val="E09A00"/>
                </a:solidFill>
                <a:latin typeface="Calibri"/>
              </a:rPr>
              <a:t>Power BI</a:t>
            </a:r>
          </a:p>
        </p:txBody>
      </p:sp>
      <p:sp>
        <p:nvSpPr>
          <p:cNvPr id="66" name="TextBox 65"/>
          <p:cNvSpPr txBox="1"/>
          <p:nvPr/>
        </p:nvSpPr>
        <p:spPr>
          <a:xfrm>
            <a:off x="9637776" y="2011680"/>
            <a:ext cx="2194560" cy="256032"/>
          </a:xfrm>
          <a:prstGeom prst="rect">
            <a:avLst/>
          </a:prstGeom>
          <a:noFill/>
        </p:spPr>
        <p:txBody>
          <a:bodyPr wrap="square">
            <a:spAutoFit/>
          </a:bodyPr>
          <a:lstStyle/>
          <a:p>
            <a:pPr algn="l"/>
            <a:r>
              <a:rPr sz="800" b="0" i="0">
                <a:solidFill>
                  <a:srgbClr val="B0B8C8"/>
                </a:solidFill>
                <a:latin typeface="Calibri"/>
              </a:rPr>
              <a:t>4 BOXI-migrated reports</a:t>
            </a:r>
          </a:p>
        </p:txBody>
      </p:sp>
      <p:sp>
        <p:nvSpPr>
          <p:cNvPr id="67" name="Rectangle 66"/>
          <p:cNvSpPr/>
          <p:nvPr/>
        </p:nvSpPr>
        <p:spPr>
          <a:xfrm>
            <a:off x="9528048" y="2377440"/>
            <a:ext cx="2423160" cy="566928"/>
          </a:xfrm>
          <a:prstGeom prst="rect">
            <a:avLst/>
          </a:prstGeom>
          <a:solidFill>
            <a:srgbClr val="22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637776" y="2414016"/>
            <a:ext cx="777240" cy="256032"/>
          </a:xfrm>
          <a:prstGeom prst="rect">
            <a:avLst/>
          </a:prstGeom>
          <a:noFill/>
        </p:spPr>
        <p:txBody>
          <a:bodyPr wrap="square">
            <a:spAutoFit/>
          </a:bodyPr>
          <a:lstStyle/>
          <a:p>
            <a:pPr algn="l"/>
            <a:r>
              <a:rPr sz="900" b="1" i="0">
                <a:solidFill>
                  <a:srgbClr val="E09A00"/>
                </a:solidFill>
                <a:latin typeface="Calibri"/>
              </a:rPr>
              <a:t>Tableau</a:t>
            </a:r>
          </a:p>
        </p:txBody>
      </p:sp>
      <p:sp>
        <p:nvSpPr>
          <p:cNvPr id="69" name="TextBox 68"/>
          <p:cNvSpPr txBox="1"/>
          <p:nvPr/>
        </p:nvSpPr>
        <p:spPr>
          <a:xfrm>
            <a:off x="9637776" y="2651760"/>
            <a:ext cx="2194560" cy="256032"/>
          </a:xfrm>
          <a:prstGeom prst="rect">
            <a:avLst/>
          </a:prstGeom>
          <a:noFill/>
        </p:spPr>
        <p:txBody>
          <a:bodyPr wrap="square">
            <a:spAutoFit/>
          </a:bodyPr>
          <a:lstStyle/>
          <a:p>
            <a:pPr algn="l"/>
            <a:r>
              <a:rPr sz="800" b="0" i="0">
                <a:solidFill>
                  <a:srgbClr val="B0B8C8"/>
                </a:solidFill>
                <a:latin typeface="Calibri"/>
              </a:rPr>
              <a:t>Engagement Dashboard</a:t>
            </a:r>
          </a:p>
        </p:txBody>
      </p:sp>
      <p:sp>
        <p:nvSpPr>
          <p:cNvPr id="70" name="Rectangle 69"/>
          <p:cNvSpPr/>
          <p:nvPr/>
        </p:nvSpPr>
        <p:spPr>
          <a:xfrm>
            <a:off x="9528048" y="3017520"/>
            <a:ext cx="2423160" cy="566928"/>
          </a:xfrm>
          <a:prstGeom prst="rect">
            <a:avLst/>
          </a:prstGeom>
          <a:solidFill>
            <a:srgbClr val="22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637776" y="3054096"/>
            <a:ext cx="777240" cy="256032"/>
          </a:xfrm>
          <a:prstGeom prst="rect">
            <a:avLst/>
          </a:prstGeom>
          <a:noFill/>
        </p:spPr>
        <p:txBody>
          <a:bodyPr wrap="square">
            <a:spAutoFit/>
          </a:bodyPr>
          <a:lstStyle/>
          <a:p>
            <a:pPr algn="l"/>
            <a:r>
              <a:rPr sz="900" b="1" i="0">
                <a:solidFill>
                  <a:srgbClr val="E09A00"/>
                </a:solidFill>
                <a:latin typeface="Calibri"/>
              </a:rPr>
              <a:t>SSRS</a:t>
            </a:r>
          </a:p>
        </p:txBody>
      </p:sp>
      <p:sp>
        <p:nvSpPr>
          <p:cNvPr id="72" name="TextBox 71"/>
          <p:cNvSpPr txBox="1"/>
          <p:nvPr/>
        </p:nvSpPr>
        <p:spPr>
          <a:xfrm>
            <a:off x="9637776" y="3291840"/>
            <a:ext cx="2194560" cy="256032"/>
          </a:xfrm>
          <a:prstGeom prst="rect">
            <a:avLst/>
          </a:prstGeom>
          <a:noFill/>
        </p:spPr>
        <p:txBody>
          <a:bodyPr wrap="square">
            <a:spAutoFit/>
          </a:bodyPr>
          <a:lstStyle/>
          <a:p>
            <a:pPr algn="l"/>
            <a:r>
              <a:rPr sz="800" b="0" i="0">
                <a:solidFill>
                  <a:srgbClr val="B0B8C8"/>
                </a:solidFill>
                <a:latin typeface="Calibri"/>
              </a:rPr>
              <a:t>Agent Dashboard (reconciliation)</a:t>
            </a:r>
          </a:p>
        </p:txBody>
      </p:sp>
      <p:sp>
        <p:nvSpPr>
          <p:cNvPr id="73" name="Rectangle 72"/>
          <p:cNvSpPr/>
          <p:nvPr/>
        </p:nvSpPr>
        <p:spPr>
          <a:xfrm>
            <a:off x="9528048" y="3657600"/>
            <a:ext cx="2423160" cy="566928"/>
          </a:xfrm>
          <a:prstGeom prst="rect">
            <a:avLst/>
          </a:prstGeom>
          <a:solidFill>
            <a:srgbClr val="22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637776" y="3694176"/>
            <a:ext cx="777240" cy="256032"/>
          </a:xfrm>
          <a:prstGeom prst="rect">
            <a:avLst/>
          </a:prstGeom>
          <a:noFill/>
        </p:spPr>
        <p:txBody>
          <a:bodyPr wrap="square">
            <a:spAutoFit/>
          </a:bodyPr>
          <a:lstStyle/>
          <a:p>
            <a:pPr algn="l"/>
            <a:r>
              <a:rPr sz="900" b="1" i="0">
                <a:solidFill>
                  <a:srgbClr val="E09A00"/>
                </a:solidFill>
                <a:latin typeface="Calibri"/>
              </a:rPr>
              <a:t>Tableau</a:t>
            </a:r>
          </a:p>
        </p:txBody>
      </p:sp>
      <p:sp>
        <p:nvSpPr>
          <p:cNvPr id="75" name="TextBox 74"/>
          <p:cNvSpPr txBox="1"/>
          <p:nvPr/>
        </p:nvSpPr>
        <p:spPr>
          <a:xfrm>
            <a:off x="9637776" y="3931920"/>
            <a:ext cx="2194560" cy="256032"/>
          </a:xfrm>
          <a:prstGeom prst="rect">
            <a:avLst/>
          </a:prstGeom>
          <a:noFill/>
        </p:spPr>
        <p:txBody>
          <a:bodyPr wrap="square">
            <a:spAutoFit/>
          </a:bodyPr>
          <a:lstStyle/>
          <a:p>
            <a:pPr algn="l"/>
            <a:r>
              <a:rPr sz="800" b="0" i="0">
                <a:solidFill>
                  <a:srgbClr val="B0B8C8"/>
                </a:solidFill>
                <a:latin typeface="Calibri"/>
              </a:rPr>
              <a:t>Proxy reports (3)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9144000" cy="502920"/>
          </a:xfrm>
          <a:prstGeom prst="rect">
            <a:avLst/>
          </a:prstGeom>
          <a:noFill/>
        </p:spPr>
        <p:txBody>
          <a:bodyPr wrap="square">
            <a:spAutoFit/>
          </a:bodyPr>
          <a:lstStyle/>
          <a:p>
            <a:pPr algn="l"/>
            <a:r>
              <a:rPr sz="2200" b="1" i="0">
                <a:solidFill>
                  <a:srgbClr val="FFFFFF"/>
                </a:solidFill>
                <a:latin typeface="Calibri"/>
              </a:rPr>
              <a:t>Known Gaps &amp; Transparency</a:t>
            </a:r>
          </a:p>
        </p:txBody>
      </p:sp>
      <p:sp>
        <p:nvSpPr>
          <p:cNvPr id="5" name="TextBox 4"/>
          <p:cNvSpPr txBox="1"/>
          <p:nvPr/>
        </p:nvSpPr>
        <p:spPr>
          <a:xfrm>
            <a:off x="320040" y="548640"/>
            <a:ext cx="9144000" cy="320040"/>
          </a:xfrm>
          <a:prstGeom prst="rect">
            <a:avLst/>
          </a:prstGeom>
          <a:noFill/>
        </p:spPr>
        <p:txBody>
          <a:bodyPr wrap="square">
            <a:spAutoFit/>
          </a:bodyPr>
          <a:lstStyle/>
          <a:p>
            <a:pPr algn="l"/>
            <a:r>
              <a:rPr sz="1100" b="0" i="0">
                <a:solidFill>
                  <a:srgbClr val="B0B8C8"/>
                </a:solidFill>
                <a:latin typeface="Calibri"/>
              </a:rPr>
              <a:t>Every open item is documented — no surprises, clear resolution paths</a:t>
            </a:r>
          </a:p>
        </p:txBody>
      </p:sp>
      <p:sp>
        <p:nvSpPr>
          <p:cNvPr id="6" name="Rectangle 5"/>
          <p:cNvSpPr/>
          <p:nvPr/>
        </p:nvSpPr>
        <p:spPr>
          <a:xfrm>
            <a:off x="0" y="868680"/>
            <a:ext cx="12188952" cy="36576"/>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88952" cy="27432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8229600" cy="274320"/>
          </a:xfrm>
          <a:prstGeom prst="rect">
            <a:avLst/>
          </a:prstGeom>
          <a:noFill/>
        </p:spPr>
        <p:txBody>
          <a:bodyPr wrap="square">
            <a:spAutoFit/>
          </a:bodyPr>
          <a:lstStyle/>
          <a:p>
            <a:pPr algn="l"/>
            <a:r>
              <a:rPr sz="800" b="0" i="0">
                <a:solidFill>
                  <a:srgbClr val="B0B8C8"/>
                </a:solidFill>
                <a:latin typeface="Calibri"/>
              </a:rPr>
              <a:t>Bourntec Solutions  |  PEMCO Mutual Insurance  |  Confidential — May 2026</a:t>
            </a:r>
          </a:p>
        </p:txBody>
      </p:sp>
      <p:sp>
        <p:nvSpPr>
          <p:cNvPr id="9" name="TextBox 8"/>
          <p:cNvSpPr txBox="1"/>
          <p:nvPr/>
        </p:nvSpPr>
        <p:spPr>
          <a:xfrm>
            <a:off x="320040" y="1005840"/>
            <a:ext cx="11521440" cy="457200"/>
          </a:xfrm>
          <a:prstGeom prst="rect">
            <a:avLst/>
          </a:prstGeom>
          <a:noFill/>
        </p:spPr>
        <p:txBody>
          <a:bodyPr wrap="square">
            <a:spAutoFit/>
          </a:bodyPr>
          <a:lstStyle/>
          <a:p>
            <a:pPr algn="l"/>
            <a:r>
              <a:rPr sz="1000" b="0" i="0">
                <a:solidFill>
                  <a:srgbClr val="3C3C3C"/>
                </a:solidFill>
                <a:latin typeface="Calibri"/>
              </a:rPr>
              <a:t>Transparency is a core part of our delivery. Every gap between BIM and EDW/AWM counts is documented, root-caused, and classified as either under active investigation or accepted with stakeholder alignment.</a:t>
            </a:r>
          </a:p>
        </p:txBody>
      </p:sp>
      <p:sp>
        <p:nvSpPr>
          <p:cNvPr id="10" name="Rectangle 9"/>
          <p:cNvSpPr/>
          <p:nvPr/>
        </p:nvSpPr>
        <p:spPr>
          <a:xfrm>
            <a:off x="320040" y="1600200"/>
            <a:ext cx="11521440"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1600200"/>
            <a:ext cx="73152" cy="1097280"/>
          </a:xfrm>
          <a:prstGeom prst="rect">
            <a:avLst/>
          </a:prstGeom>
          <a:solidFill>
            <a:srgbClr val="E6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673352"/>
            <a:ext cx="1417320" cy="274320"/>
          </a:xfrm>
          <a:prstGeom prst="rect">
            <a:avLst/>
          </a:prstGeom>
          <a:solidFill>
            <a:srgbClr val="E6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 y="1691640"/>
            <a:ext cx="1371600" cy="237744"/>
          </a:xfrm>
          <a:prstGeom prst="rect">
            <a:avLst/>
          </a:prstGeom>
          <a:noFill/>
        </p:spPr>
        <p:txBody>
          <a:bodyPr wrap="square">
            <a:spAutoFit/>
          </a:bodyPr>
          <a:lstStyle/>
          <a:p>
            <a:pPr algn="ctr"/>
            <a:r>
              <a:rPr sz="800" b="1" i="0">
                <a:solidFill>
                  <a:srgbClr val="FFFFFF"/>
                </a:solidFill>
                <a:latin typeface="Calibri"/>
              </a:rPr>
              <a:t>Under Investigation</a:t>
            </a:r>
          </a:p>
        </p:txBody>
      </p:sp>
      <p:sp>
        <p:nvSpPr>
          <p:cNvPr id="14" name="TextBox 13"/>
          <p:cNvSpPr txBox="1"/>
          <p:nvPr/>
        </p:nvSpPr>
        <p:spPr>
          <a:xfrm>
            <a:off x="2011680" y="1664208"/>
            <a:ext cx="5029200" cy="274320"/>
          </a:xfrm>
          <a:prstGeom prst="rect">
            <a:avLst/>
          </a:prstGeom>
          <a:noFill/>
        </p:spPr>
        <p:txBody>
          <a:bodyPr wrap="square">
            <a:spAutoFit/>
          </a:bodyPr>
          <a:lstStyle/>
          <a:p>
            <a:pPr algn="l"/>
            <a:r>
              <a:rPr sz="1100" b="1" i="0">
                <a:solidFill>
                  <a:srgbClr val="1A3055"/>
                </a:solidFill>
                <a:latin typeface="Calibri"/>
              </a:rPr>
              <a:t>DriverOnly ~43% Count Gap</a:t>
            </a:r>
          </a:p>
        </p:txBody>
      </p:sp>
      <p:sp>
        <p:nvSpPr>
          <p:cNvPr id="15" name="TextBox 14"/>
          <p:cNvSpPr txBox="1"/>
          <p:nvPr/>
        </p:nvSpPr>
        <p:spPr>
          <a:xfrm>
            <a:off x="2011680" y="1938528"/>
            <a:ext cx="5029200" cy="201168"/>
          </a:xfrm>
          <a:prstGeom prst="rect">
            <a:avLst/>
          </a:prstGeom>
          <a:noFill/>
        </p:spPr>
        <p:txBody>
          <a:bodyPr wrap="square">
            <a:spAutoFit/>
          </a:bodyPr>
          <a:lstStyle/>
          <a:p>
            <a:pPr algn="l"/>
            <a:r>
              <a:rPr sz="800" b="0" i="1">
                <a:solidFill>
                  <a:srgbClr val="B0B8C8"/>
                </a:solidFill>
                <a:latin typeface="Calibri"/>
              </a:rPr>
              <a:t>Report: Online Accounts — DriverOnly DateType</a:t>
            </a:r>
          </a:p>
        </p:txBody>
      </p:sp>
      <p:sp>
        <p:nvSpPr>
          <p:cNvPr id="16" name="TextBox 15"/>
          <p:cNvSpPr txBox="1"/>
          <p:nvPr/>
        </p:nvSpPr>
        <p:spPr>
          <a:xfrm>
            <a:off x="2011680" y="2148840"/>
            <a:ext cx="5303520" cy="502920"/>
          </a:xfrm>
          <a:prstGeom prst="rect">
            <a:avLst/>
          </a:prstGeom>
          <a:noFill/>
        </p:spPr>
        <p:txBody>
          <a:bodyPr wrap="square">
            <a:spAutoFit/>
          </a:bodyPr>
          <a:lstStyle/>
          <a:p>
            <a:pPr algn="l"/>
            <a:r>
              <a:rPr sz="900" b="0" i="0">
                <a:solidFill>
                  <a:srgbClr val="3C3C3C"/>
                </a:solidFill>
                <a:latin typeface="Calibri"/>
              </a:rPr>
              <a:t>EDW's vw_policy_driver has ~13% coverage gap vs BIM's CIFDM.dim_policy_role. 3,971 BIM DR (driver) parties have no corresponding row in vw_policy_driver. No EDW view is a full equivalent of dim_policy_role. This is a data completeness gap in the source table, not a logic error.</a:t>
            </a:r>
          </a:p>
        </p:txBody>
      </p:sp>
      <p:sp>
        <p:nvSpPr>
          <p:cNvPr id="17" name="Rectangle 16"/>
          <p:cNvSpPr/>
          <p:nvPr/>
        </p:nvSpPr>
        <p:spPr>
          <a:xfrm>
            <a:off x="7452360" y="1673352"/>
            <a:ext cx="4251960" cy="950976"/>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0" y="1691640"/>
            <a:ext cx="4069080" cy="219456"/>
          </a:xfrm>
          <a:prstGeom prst="rect">
            <a:avLst/>
          </a:prstGeom>
          <a:noFill/>
        </p:spPr>
        <p:txBody>
          <a:bodyPr wrap="square">
            <a:spAutoFit/>
          </a:bodyPr>
          <a:lstStyle/>
          <a:p>
            <a:pPr algn="l"/>
            <a:r>
              <a:rPr sz="800" b="1" i="0">
                <a:solidFill>
                  <a:srgbClr val="1A3055"/>
                </a:solidFill>
                <a:latin typeface="Calibri"/>
              </a:rPr>
              <a:t>RESOLUTION PATH</a:t>
            </a:r>
          </a:p>
        </p:txBody>
      </p:sp>
      <p:sp>
        <p:nvSpPr>
          <p:cNvPr id="19" name="TextBox 18"/>
          <p:cNvSpPr txBox="1"/>
          <p:nvPr/>
        </p:nvSpPr>
        <p:spPr>
          <a:xfrm>
            <a:off x="7589520" y="1911096"/>
            <a:ext cx="4069080" cy="685800"/>
          </a:xfrm>
          <a:prstGeom prst="rect">
            <a:avLst/>
          </a:prstGeom>
          <a:noFill/>
        </p:spPr>
        <p:txBody>
          <a:bodyPr wrap="square">
            <a:spAutoFit/>
          </a:bodyPr>
          <a:lstStyle/>
          <a:p>
            <a:pPr algn="l"/>
            <a:r>
              <a:rPr sz="900" b="0" i="0">
                <a:solidFill>
                  <a:srgbClr val="3C3C3C"/>
                </a:solidFill>
                <a:latin typeface="Calibri"/>
              </a:rPr>
              <a:t>INNER JOIN on vw_policy_driver required a positive driver signal (NOT EXISTS inflated count 17×). Gap accepted as interim state. Root cause investigation ongoing with EDW team.</a:t>
            </a:r>
          </a:p>
        </p:txBody>
      </p:sp>
      <p:sp>
        <p:nvSpPr>
          <p:cNvPr id="20" name="Rectangle 19"/>
          <p:cNvSpPr/>
          <p:nvPr/>
        </p:nvSpPr>
        <p:spPr>
          <a:xfrm>
            <a:off x="320040" y="2807208"/>
            <a:ext cx="11521440"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0040" y="2807208"/>
            <a:ext cx="73152" cy="1097280"/>
          </a:xfrm>
          <a:prstGeom prst="rect">
            <a:avLst/>
          </a:prstGeom>
          <a:solidFill>
            <a:srgbClr val="E09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2880360"/>
            <a:ext cx="1417320" cy="274320"/>
          </a:xfrm>
          <a:prstGeom prst="rect">
            <a:avLst/>
          </a:prstGeom>
          <a:solidFill>
            <a:srgbClr val="E09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2898648"/>
            <a:ext cx="1371600" cy="237744"/>
          </a:xfrm>
          <a:prstGeom prst="rect">
            <a:avLst/>
          </a:prstGeom>
          <a:noFill/>
        </p:spPr>
        <p:txBody>
          <a:bodyPr wrap="square">
            <a:spAutoFit/>
          </a:bodyPr>
          <a:lstStyle/>
          <a:p>
            <a:pPr algn="ctr"/>
            <a:r>
              <a:rPr sz="800" b="1" i="0">
                <a:solidFill>
                  <a:srgbClr val="FFFFFF"/>
                </a:solidFill>
                <a:latin typeface="Calibri"/>
              </a:rPr>
              <a:t>Pending Decision</a:t>
            </a:r>
          </a:p>
        </p:txBody>
      </p:sp>
      <p:sp>
        <p:nvSpPr>
          <p:cNvPr id="24" name="TextBox 23"/>
          <p:cNvSpPr txBox="1"/>
          <p:nvPr/>
        </p:nvSpPr>
        <p:spPr>
          <a:xfrm>
            <a:off x="2011680" y="2871216"/>
            <a:ext cx="5029200" cy="274320"/>
          </a:xfrm>
          <a:prstGeom prst="rect">
            <a:avLst/>
          </a:prstGeom>
          <a:noFill/>
        </p:spPr>
        <p:txBody>
          <a:bodyPr wrap="square">
            <a:spAutoFit/>
          </a:bodyPr>
          <a:lstStyle/>
          <a:p>
            <a:pPr algn="l"/>
            <a:r>
              <a:rPr sz="1100" b="1" i="0">
                <a:solidFill>
                  <a:srgbClr val="1A3055"/>
                </a:solidFill>
                <a:latin typeface="Calibri"/>
              </a:rPr>
              <a:t>Supervisor Staleness in Online Accounts</a:t>
            </a:r>
          </a:p>
        </p:txBody>
      </p:sp>
      <p:sp>
        <p:nvSpPr>
          <p:cNvPr id="25" name="TextBox 24"/>
          <p:cNvSpPr txBox="1"/>
          <p:nvPr/>
        </p:nvSpPr>
        <p:spPr>
          <a:xfrm>
            <a:off x="2011680" y="3145536"/>
            <a:ext cx="5029200" cy="201168"/>
          </a:xfrm>
          <a:prstGeom prst="rect">
            <a:avLst/>
          </a:prstGeom>
          <a:noFill/>
        </p:spPr>
        <p:txBody>
          <a:bodyPr wrap="square">
            <a:spAutoFit/>
          </a:bodyPr>
          <a:lstStyle/>
          <a:p>
            <a:pPr algn="l"/>
            <a:r>
              <a:rPr sz="800" b="0" i="1">
                <a:solidFill>
                  <a:srgbClr val="B0B8C8"/>
                </a:solidFill>
                <a:latin typeface="Calibri"/>
              </a:rPr>
              <a:t>Report: Online Accounts — Employee/Supervisor Bucket</a:t>
            </a:r>
          </a:p>
        </p:txBody>
      </p:sp>
      <p:sp>
        <p:nvSpPr>
          <p:cNvPr id="26" name="TextBox 25"/>
          <p:cNvSpPr txBox="1"/>
          <p:nvPr/>
        </p:nvSpPr>
        <p:spPr>
          <a:xfrm>
            <a:off x="2011680" y="3355848"/>
            <a:ext cx="5303520" cy="502920"/>
          </a:xfrm>
          <a:prstGeom prst="rect">
            <a:avLst/>
          </a:prstGeom>
          <a:noFill/>
        </p:spPr>
        <p:txBody>
          <a:bodyPr wrap="square">
            <a:spAutoFit/>
          </a:bodyPr>
          <a:lstStyle/>
          <a:p>
            <a:pPr algn="l"/>
            <a:r>
              <a:rPr sz="900" b="0" i="0">
                <a:solidFill>
                  <a:srgbClr val="3C3C3C"/>
                </a:solidFill>
                <a:latin typeface="Calibri"/>
              </a:rPr>
              <a:t>AWM captures the supervisor at the time of account creation (USER_EVENT_DETAIL). BIM reads the current supervisor from an employee master table. Employees reassigned to a new supervisor show zero accounts under the new supervisor in AWM — not a bug, a structural design difference between the two systems.</a:t>
            </a:r>
          </a:p>
        </p:txBody>
      </p:sp>
      <p:sp>
        <p:nvSpPr>
          <p:cNvPr id="27" name="Rectangle 26"/>
          <p:cNvSpPr/>
          <p:nvPr/>
        </p:nvSpPr>
        <p:spPr>
          <a:xfrm>
            <a:off x="7452360" y="2880360"/>
            <a:ext cx="4251960" cy="950976"/>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0" y="2898648"/>
            <a:ext cx="4069080" cy="219456"/>
          </a:xfrm>
          <a:prstGeom prst="rect">
            <a:avLst/>
          </a:prstGeom>
          <a:noFill/>
        </p:spPr>
        <p:txBody>
          <a:bodyPr wrap="square">
            <a:spAutoFit/>
          </a:bodyPr>
          <a:lstStyle/>
          <a:p>
            <a:pPr algn="l"/>
            <a:r>
              <a:rPr sz="800" b="1" i="0">
                <a:solidFill>
                  <a:srgbClr val="1A3055"/>
                </a:solidFill>
                <a:latin typeface="Calibri"/>
              </a:rPr>
              <a:t>RESOLUTION PATH</a:t>
            </a:r>
          </a:p>
        </p:txBody>
      </p:sp>
      <p:sp>
        <p:nvSpPr>
          <p:cNvPr id="29" name="TextBox 28"/>
          <p:cNvSpPr txBox="1"/>
          <p:nvPr/>
        </p:nvSpPr>
        <p:spPr>
          <a:xfrm>
            <a:off x="7589520" y="3118104"/>
            <a:ext cx="4069080" cy="685800"/>
          </a:xfrm>
          <a:prstGeom prst="rect">
            <a:avLst/>
          </a:prstGeom>
          <a:noFill/>
        </p:spPr>
        <p:txBody>
          <a:bodyPr wrap="square">
            <a:spAutoFit/>
          </a:bodyPr>
          <a:lstStyle/>
          <a:p>
            <a:pPr algn="l"/>
            <a:r>
              <a:rPr sz="900" b="0" i="0">
                <a:solidFill>
                  <a:srgbClr val="3C3C3C"/>
                </a:solidFill>
                <a:latin typeface="Calibri"/>
              </a:rPr>
              <a:t>Pending stakeholder decision: retain creation-time supervisor (current AWM behavior) or join to current employee table for real-time supervisor mapping.</a:t>
            </a:r>
          </a:p>
        </p:txBody>
      </p:sp>
      <p:sp>
        <p:nvSpPr>
          <p:cNvPr id="30" name="Rectangle 29"/>
          <p:cNvSpPr/>
          <p:nvPr/>
        </p:nvSpPr>
        <p:spPr>
          <a:xfrm>
            <a:off x="320040" y="4014216"/>
            <a:ext cx="11521440"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0040" y="4014216"/>
            <a:ext cx="73152" cy="1097280"/>
          </a:xfrm>
          <a:prstGeom prst="rect">
            <a:avLst/>
          </a:prstGeom>
          <a:solidFill>
            <a:srgbClr val="26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4087368"/>
            <a:ext cx="1417320" cy="274320"/>
          </a:xfrm>
          <a:prstGeom prst="rect">
            <a:avLst/>
          </a:prstGeom>
          <a:solidFill>
            <a:srgbClr val="26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4105656"/>
            <a:ext cx="1371600" cy="237744"/>
          </a:xfrm>
          <a:prstGeom prst="rect">
            <a:avLst/>
          </a:prstGeom>
          <a:noFill/>
        </p:spPr>
        <p:txBody>
          <a:bodyPr wrap="square">
            <a:spAutoFit/>
          </a:bodyPr>
          <a:lstStyle/>
          <a:p>
            <a:pPr algn="ctr"/>
            <a:r>
              <a:rPr sz="800" b="1" i="0">
                <a:solidFill>
                  <a:srgbClr val="FFFFFF"/>
                </a:solidFill>
                <a:latin typeface="Calibri"/>
              </a:rPr>
              <a:t>Structural — Accepted</a:t>
            </a:r>
          </a:p>
        </p:txBody>
      </p:sp>
      <p:sp>
        <p:nvSpPr>
          <p:cNvPr id="34" name="TextBox 33"/>
          <p:cNvSpPr txBox="1"/>
          <p:nvPr/>
        </p:nvSpPr>
        <p:spPr>
          <a:xfrm>
            <a:off x="2011680" y="4078224"/>
            <a:ext cx="5029200" cy="274320"/>
          </a:xfrm>
          <a:prstGeom prst="rect">
            <a:avLst/>
          </a:prstGeom>
          <a:noFill/>
        </p:spPr>
        <p:txBody>
          <a:bodyPr wrap="square">
            <a:spAutoFit/>
          </a:bodyPr>
          <a:lstStyle/>
          <a:p>
            <a:pPr algn="l"/>
            <a:r>
              <a:rPr sz="1100" b="1" i="0">
                <a:solidFill>
                  <a:srgbClr val="1A3055"/>
                </a:solidFill>
                <a:latin typeface="Calibri"/>
              </a:rPr>
              <a:t>CIF vs BIM Paperless Divergence (500+ Days Average)</a:t>
            </a:r>
          </a:p>
        </p:txBody>
      </p:sp>
      <p:sp>
        <p:nvSpPr>
          <p:cNvPr id="35" name="TextBox 34"/>
          <p:cNvSpPr txBox="1"/>
          <p:nvPr/>
        </p:nvSpPr>
        <p:spPr>
          <a:xfrm>
            <a:off x="2011680" y="4352544"/>
            <a:ext cx="5029200" cy="201168"/>
          </a:xfrm>
          <a:prstGeom prst="rect">
            <a:avLst/>
          </a:prstGeom>
          <a:noFill/>
        </p:spPr>
        <p:txBody>
          <a:bodyPr wrap="square">
            <a:spAutoFit/>
          </a:bodyPr>
          <a:lstStyle/>
          <a:p>
            <a:pPr algn="l"/>
            <a:r>
              <a:rPr sz="800" b="0" i="1">
                <a:solidFill>
                  <a:srgbClr val="B0B8C8"/>
                </a:solidFill>
                <a:latin typeface="Calibri"/>
              </a:rPr>
              <a:t>Report: Paperless Report — CIF vs BIM mismatch analysis</a:t>
            </a:r>
          </a:p>
        </p:txBody>
      </p:sp>
      <p:sp>
        <p:nvSpPr>
          <p:cNvPr id="36" name="TextBox 35"/>
          <p:cNvSpPr txBox="1"/>
          <p:nvPr/>
        </p:nvSpPr>
        <p:spPr>
          <a:xfrm>
            <a:off x="2011680" y="4562856"/>
            <a:ext cx="5303520" cy="502920"/>
          </a:xfrm>
          <a:prstGeom prst="rect">
            <a:avLst/>
          </a:prstGeom>
          <a:noFill/>
        </p:spPr>
        <p:txBody>
          <a:bodyPr wrap="square">
            <a:spAutoFit/>
          </a:bodyPr>
          <a:lstStyle/>
          <a:p>
            <a:pPr algn="l"/>
            <a:r>
              <a:rPr sz="900" b="0" i="0">
                <a:solidFill>
                  <a:srgbClr val="3C3C3C"/>
                </a:solidFill>
                <a:latin typeface="Calibri"/>
              </a:rPr>
              <a:t>CIF (AWM) and BIM/Eloqua are separately maintained systems with no live sync. BIL mismatches: avg 508 days divergence. POL mismatches: avg 771 days. Divergence is bidirectional — not a processing lag or batch timing issue. Customers who enrolled via agent portal (2015 Eloqua rollout) never created an AWM account.</a:t>
            </a:r>
          </a:p>
        </p:txBody>
      </p:sp>
      <p:sp>
        <p:nvSpPr>
          <p:cNvPr id="37" name="Rectangle 36"/>
          <p:cNvSpPr/>
          <p:nvPr/>
        </p:nvSpPr>
        <p:spPr>
          <a:xfrm>
            <a:off x="7452360" y="4087368"/>
            <a:ext cx="4251960" cy="950976"/>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89520" y="4105656"/>
            <a:ext cx="4069080" cy="219456"/>
          </a:xfrm>
          <a:prstGeom prst="rect">
            <a:avLst/>
          </a:prstGeom>
          <a:noFill/>
        </p:spPr>
        <p:txBody>
          <a:bodyPr wrap="square">
            <a:spAutoFit/>
          </a:bodyPr>
          <a:lstStyle/>
          <a:p>
            <a:pPr algn="l"/>
            <a:r>
              <a:rPr sz="800" b="1" i="0">
                <a:solidFill>
                  <a:srgbClr val="1A3055"/>
                </a:solidFill>
                <a:latin typeface="Calibri"/>
              </a:rPr>
              <a:t>RESOLUTION PATH</a:t>
            </a:r>
          </a:p>
        </p:txBody>
      </p:sp>
      <p:sp>
        <p:nvSpPr>
          <p:cNvPr id="39" name="TextBox 38"/>
          <p:cNvSpPr txBox="1"/>
          <p:nvPr/>
        </p:nvSpPr>
        <p:spPr>
          <a:xfrm>
            <a:off x="7589520" y="4325112"/>
            <a:ext cx="4069080" cy="685800"/>
          </a:xfrm>
          <a:prstGeom prst="rect">
            <a:avLst/>
          </a:prstGeom>
          <a:noFill/>
        </p:spPr>
        <p:txBody>
          <a:bodyPr wrap="square">
            <a:spAutoFit/>
          </a:bodyPr>
          <a:lstStyle/>
          <a:p>
            <a:pPr algn="l"/>
            <a:r>
              <a:rPr sz="900" b="0" i="0">
                <a:solidFill>
                  <a:srgbClr val="3C3C3C"/>
                </a:solidFill>
                <a:latin typeface="Calibri"/>
              </a:rPr>
              <a:t>Classified as chronic structural gap. Not a pipeline error. Validation query email_val.sql documents all mismatch categories and directions.</a:t>
            </a:r>
          </a:p>
        </p:txBody>
      </p:sp>
      <p:sp>
        <p:nvSpPr>
          <p:cNvPr id="40" name="Rectangle 39"/>
          <p:cNvSpPr/>
          <p:nvPr/>
        </p:nvSpPr>
        <p:spPr>
          <a:xfrm>
            <a:off x="320040" y="5221224"/>
            <a:ext cx="11521440"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20040" y="5221224"/>
            <a:ext cx="73152" cy="109728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 y="5294376"/>
            <a:ext cx="1417320" cy="27432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1208" y="5312664"/>
            <a:ext cx="1371600" cy="237744"/>
          </a:xfrm>
          <a:prstGeom prst="rect">
            <a:avLst/>
          </a:prstGeom>
          <a:noFill/>
        </p:spPr>
        <p:txBody>
          <a:bodyPr wrap="square">
            <a:spAutoFit/>
          </a:bodyPr>
          <a:lstStyle/>
          <a:p>
            <a:pPr algn="ctr"/>
            <a:r>
              <a:rPr sz="800" b="1" i="0">
                <a:solidFill>
                  <a:srgbClr val="FFFFFF"/>
                </a:solidFill>
                <a:latin typeface="Calibri"/>
              </a:rPr>
              <a:t>External Dependency</a:t>
            </a:r>
          </a:p>
        </p:txBody>
      </p:sp>
      <p:sp>
        <p:nvSpPr>
          <p:cNvPr id="44" name="TextBox 43"/>
          <p:cNvSpPr txBox="1"/>
          <p:nvPr/>
        </p:nvSpPr>
        <p:spPr>
          <a:xfrm>
            <a:off x="2011680" y="5285232"/>
            <a:ext cx="5029200" cy="274320"/>
          </a:xfrm>
          <a:prstGeom prst="rect">
            <a:avLst/>
          </a:prstGeom>
          <a:noFill/>
        </p:spPr>
        <p:txBody>
          <a:bodyPr wrap="square">
            <a:spAutoFit/>
          </a:bodyPr>
          <a:lstStyle/>
          <a:p>
            <a:pPr algn="l"/>
            <a:r>
              <a:rPr sz="1100" b="1" i="0">
                <a:solidFill>
                  <a:srgbClr val="1A3055"/>
                </a:solidFill>
                <a:latin typeface="Calibri"/>
              </a:rPr>
              <a:t>Salesforce Table Pending (Quote to Purchase)</a:t>
            </a:r>
          </a:p>
        </p:txBody>
      </p:sp>
      <p:sp>
        <p:nvSpPr>
          <p:cNvPr id="45" name="TextBox 44"/>
          <p:cNvSpPr txBox="1"/>
          <p:nvPr/>
        </p:nvSpPr>
        <p:spPr>
          <a:xfrm>
            <a:off x="2011680" y="5559552"/>
            <a:ext cx="5029200" cy="201168"/>
          </a:xfrm>
          <a:prstGeom prst="rect">
            <a:avLst/>
          </a:prstGeom>
          <a:noFill/>
        </p:spPr>
        <p:txBody>
          <a:bodyPr wrap="square">
            <a:spAutoFit/>
          </a:bodyPr>
          <a:lstStyle/>
          <a:p>
            <a:pPr algn="l"/>
            <a:r>
              <a:rPr sz="800" b="0" i="1">
                <a:solidFill>
                  <a:srgbClr val="B0B8C8"/>
                </a:solidFill>
                <a:latin typeface="Calibri"/>
              </a:rPr>
              <a:t>Report: Quote to Purchase Online &amp; DIA Dashboard</a:t>
            </a:r>
          </a:p>
        </p:txBody>
      </p:sp>
      <p:sp>
        <p:nvSpPr>
          <p:cNvPr id="46" name="TextBox 45"/>
          <p:cNvSpPr txBox="1"/>
          <p:nvPr/>
        </p:nvSpPr>
        <p:spPr>
          <a:xfrm>
            <a:off x="2011680" y="5769864"/>
            <a:ext cx="5303520" cy="502920"/>
          </a:xfrm>
          <a:prstGeom prst="rect">
            <a:avLst/>
          </a:prstGeom>
          <a:noFill/>
        </p:spPr>
        <p:txBody>
          <a:bodyPr wrap="square">
            <a:spAutoFit/>
          </a:bodyPr>
          <a:lstStyle/>
          <a:p>
            <a:pPr algn="l"/>
            <a:r>
              <a:rPr sz="900" b="0" i="0">
                <a:solidFill>
                  <a:srgbClr val="3C3C3C"/>
                </a:solidFill>
                <a:latin typeface="Calibri"/>
              </a:rPr>
              <a:t>The Salesforce source table required for this dashboard has not yet been made available in the EDW environment. Migration cannot proceed until the table is provisioned and accessible to the reporting layer.</a:t>
            </a:r>
          </a:p>
        </p:txBody>
      </p:sp>
      <p:sp>
        <p:nvSpPr>
          <p:cNvPr id="47" name="Rectangle 46"/>
          <p:cNvSpPr/>
          <p:nvPr/>
        </p:nvSpPr>
        <p:spPr>
          <a:xfrm>
            <a:off x="7452360" y="5294376"/>
            <a:ext cx="4251960" cy="950976"/>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589520" y="5312664"/>
            <a:ext cx="4069080" cy="219456"/>
          </a:xfrm>
          <a:prstGeom prst="rect">
            <a:avLst/>
          </a:prstGeom>
          <a:noFill/>
        </p:spPr>
        <p:txBody>
          <a:bodyPr wrap="square">
            <a:spAutoFit/>
          </a:bodyPr>
          <a:lstStyle/>
          <a:p>
            <a:pPr algn="l"/>
            <a:r>
              <a:rPr sz="800" b="1" i="0">
                <a:solidFill>
                  <a:srgbClr val="1A3055"/>
                </a:solidFill>
                <a:latin typeface="Calibri"/>
              </a:rPr>
              <a:t>RESOLUTION PATH</a:t>
            </a:r>
          </a:p>
        </p:txBody>
      </p:sp>
      <p:sp>
        <p:nvSpPr>
          <p:cNvPr id="49" name="TextBox 48"/>
          <p:cNvSpPr txBox="1"/>
          <p:nvPr/>
        </p:nvSpPr>
        <p:spPr>
          <a:xfrm>
            <a:off x="7589520" y="5532120"/>
            <a:ext cx="4069080" cy="685800"/>
          </a:xfrm>
          <a:prstGeom prst="rect">
            <a:avLst/>
          </a:prstGeom>
          <a:noFill/>
        </p:spPr>
        <p:txBody>
          <a:bodyPr wrap="square">
            <a:spAutoFit/>
          </a:bodyPr>
          <a:lstStyle/>
          <a:p>
            <a:pPr algn="l"/>
            <a:r>
              <a:rPr sz="900" b="0" i="0">
                <a:solidFill>
                  <a:srgbClr val="3C3C3C"/>
                </a:solidFill>
                <a:latin typeface="Calibri"/>
              </a:rPr>
              <a:t>Blocked on Salesforce table availability. Bourntec ready to proceed once table is accessible.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73152"/>
            <a:ext cx="9144000" cy="502920"/>
          </a:xfrm>
          <a:prstGeom prst="rect">
            <a:avLst/>
          </a:prstGeom>
          <a:noFill/>
        </p:spPr>
        <p:txBody>
          <a:bodyPr wrap="square">
            <a:spAutoFit/>
          </a:bodyPr>
          <a:lstStyle/>
          <a:p>
            <a:pPr algn="l"/>
            <a:r>
              <a:rPr sz="2200" b="1" i="0">
                <a:solidFill>
                  <a:srgbClr val="FFFFFF"/>
                </a:solidFill>
                <a:latin typeface="Calibri"/>
              </a:rPr>
              <a:t>What's Next — Remaining Work &amp; Roadmap</a:t>
            </a:r>
          </a:p>
        </p:txBody>
      </p:sp>
      <p:sp>
        <p:nvSpPr>
          <p:cNvPr id="5" name="TextBox 4"/>
          <p:cNvSpPr txBox="1"/>
          <p:nvPr/>
        </p:nvSpPr>
        <p:spPr>
          <a:xfrm>
            <a:off x="320040" y="548640"/>
            <a:ext cx="9144000" cy="320040"/>
          </a:xfrm>
          <a:prstGeom prst="rect">
            <a:avLst/>
          </a:prstGeom>
          <a:noFill/>
        </p:spPr>
        <p:txBody>
          <a:bodyPr wrap="square">
            <a:spAutoFit/>
          </a:bodyPr>
          <a:lstStyle/>
          <a:p>
            <a:pPr algn="l"/>
            <a:r>
              <a:rPr sz="1100" b="0" i="0">
                <a:solidFill>
                  <a:srgbClr val="B0B8C8"/>
                </a:solidFill>
                <a:latin typeface="Calibri"/>
              </a:rPr>
              <a:t>Clear priorities and dependencies to complete the BIM retirement program</a:t>
            </a:r>
          </a:p>
        </p:txBody>
      </p:sp>
      <p:sp>
        <p:nvSpPr>
          <p:cNvPr id="6" name="Rectangle 5"/>
          <p:cNvSpPr/>
          <p:nvPr/>
        </p:nvSpPr>
        <p:spPr>
          <a:xfrm>
            <a:off x="0" y="868680"/>
            <a:ext cx="12188952" cy="36576"/>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88952" cy="27432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8229600" cy="274320"/>
          </a:xfrm>
          <a:prstGeom prst="rect">
            <a:avLst/>
          </a:prstGeom>
          <a:noFill/>
        </p:spPr>
        <p:txBody>
          <a:bodyPr wrap="square">
            <a:spAutoFit/>
          </a:bodyPr>
          <a:lstStyle/>
          <a:p>
            <a:pPr algn="l"/>
            <a:r>
              <a:rPr sz="800" b="0" i="0">
                <a:solidFill>
                  <a:srgbClr val="B0B8C8"/>
                </a:solidFill>
                <a:latin typeface="Calibri"/>
              </a:rPr>
              <a:t>Bourntec Solutions  |  PEMCO Mutual Insurance  |  Confidential — May 2026</a:t>
            </a:r>
          </a:p>
        </p:txBody>
      </p:sp>
      <p:sp>
        <p:nvSpPr>
          <p:cNvPr id="9" name="Rectangle 8"/>
          <p:cNvSpPr/>
          <p:nvPr/>
        </p:nvSpPr>
        <p:spPr>
          <a:xfrm>
            <a:off x="320040" y="1005840"/>
            <a:ext cx="2743200"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005840"/>
            <a:ext cx="2743200" cy="621792"/>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060704"/>
            <a:ext cx="2560320" cy="292608"/>
          </a:xfrm>
          <a:prstGeom prst="rect">
            <a:avLst/>
          </a:prstGeom>
          <a:noFill/>
        </p:spPr>
        <p:txBody>
          <a:bodyPr wrap="square">
            <a:spAutoFit/>
          </a:bodyPr>
          <a:lstStyle/>
          <a:p>
            <a:pPr algn="l"/>
            <a:r>
              <a:rPr sz="1400" b="1" i="0">
                <a:solidFill>
                  <a:srgbClr val="FFFFFF"/>
                </a:solidFill>
                <a:latin typeface="Calibri"/>
              </a:rPr>
              <a:t>IMMEDIATE</a:t>
            </a:r>
          </a:p>
        </p:txBody>
      </p:sp>
      <p:sp>
        <p:nvSpPr>
          <p:cNvPr id="12" name="TextBox 11"/>
          <p:cNvSpPr txBox="1"/>
          <p:nvPr/>
        </p:nvSpPr>
        <p:spPr>
          <a:xfrm>
            <a:off x="457200" y="1353312"/>
            <a:ext cx="2560320" cy="219456"/>
          </a:xfrm>
          <a:prstGeom prst="rect">
            <a:avLst/>
          </a:prstGeom>
          <a:noFill/>
        </p:spPr>
        <p:txBody>
          <a:bodyPr wrap="square">
            <a:spAutoFit/>
          </a:bodyPr>
          <a:lstStyle/>
          <a:p>
            <a:pPr algn="l"/>
            <a:r>
              <a:rPr sz="900" b="0" i="0">
                <a:solidFill>
                  <a:srgbClr val="DDEEFF"/>
                </a:solidFill>
                <a:latin typeface="Calibri"/>
              </a:rPr>
              <a:t>May–June 2026</a:t>
            </a:r>
          </a:p>
        </p:txBody>
      </p:sp>
      <p:sp>
        <p:nvSpPr>
          <p:cNvPr id="13" name="Rectangle 12"/>
          <p:cNvSpPr/>
          <p:nvPr/>
        </p:nvSpPr>
        <p:spPr>
          <a:xfrm>
            <a:off x="457200" y="1783080"/>
            <a:ext cx="2468880" cy="13258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1783080"/>
            <a:ext cx="64008" cy="132588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1920240"/>
            <a:ext cx="2286000" cy="1097280"/>
          </a:xfrm>
          <a:prstGeom prst="rect">
            <a:avLst/>
          </a:prstGeom>
          <a:noFill/>
        </p:spPr>
        <p:txBody>
          <a:bodyPr wrap="square">
            <a:spAutoFit/>
          </a:bodyPr>
          <a:lstStyle/>
          <a:p>
            <a:pPr algn="l"/>
            <a:r>
              <a:rPr sz="1000" b="0" i="0">
                <a:solidFill>
                  <a:srgbClr val="3C3C3C"/>
                </a:solidFill>
                <a:latin typeface="Calibri"/>
              </a:rPr>
              <a:t>Complete Agent Dashboard reconciliation
(EP, WP, Inforce, New Business vs BIM)</a:t>
            </a:r>
          </a:p>
        </p:txBody>
      </p:sp>
      <p:sp>
        <p:nvSpPr>
          <p:cNvPr id="16" name="Rectangle 15"/>
          <p:cNvSpPr/>
          <p:nvPr/>
        </p:nvSpPr>
        <p:spPr>
          <a:xfrm>
            <a:off x="457200" y="3246120"/>
            <a:ext cx="2468880" cy="13258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246120"/>
            <a:ext cx="64008" cy="132588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383280"/>
            <a:ext cx="2286000" cy="1097280"/>
          </a:xfrm>
          <a:prstGeom prst="rect">
            <a:avLst/>
          </a:prstGeom>
          <a:noFill/>
        </p:spPr>
        <p:txBody>
          <a:bodyPr wrap="square">
            <a:spAutoFit/>
          </a:bodyPr>
          <a:lstStyle/>
          <a:p>
            <a:pPr algn="l"/>
            <a:r>
              <a:rPr sz="1000" b="0" i="0">
                <a:solidFill>
                  <a:srgbClr val="3C3C3C"/>
                </a:solidFill>
                <a:latin typeface="Calibri"/>
              </a:rPr>
              <a:t>Resolve minor data issues in
Consolidated Tableau Report</a:t>
            </a:r>
          </a:p>
        </p:txBody>
      </p:sp>
      <p:sp>
        <p:nvSpPr>
          <p:cNvPr id="19" name="Rectangle 18"/>
          <p:cNvSpPr/>
          <p:nvPr/>
        </p:nvSpPr>
        <p:spPr>
          <a:xfrm>
            <a:off x="457200" y="4709160"/>
            <a:ext cx="2468880" cy="13258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4709160"/>
            <a:ext cx="64008" cy="132588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 y="4846320"/>
            <a:ext cx="2286000" cy="1097280"/>
          </a:xfrm>
          <a:prstGeom prst="rect">
            <a:avLst/>
          </a:prstGeom>
          <a:noFill/>
        </p:spPr>
        <p:txBody>
          <a:bodyPr wrap="square">
            <a:spAutoFit/>
          </a:bodyPr>
          <a:lstStyle/>
          <a:p>
            <a:pPr algn="l"/>
            <a:r>
              <a:rPr sz="1000" b="0" i="0">
                <a:solidFill>
                  <a:srgbClr val="3C3C3C"/>
                </a:solidFill>
                <a:latin typeface="Calibri"/>
              </a:rPr>
              <a:t>Online Accounts final validation pass
once UserEvents table is available</a:t>
            </a:r>
          </a:p>
        </p:txBody>
      </p:sp>
      <p:sp>
        <p:nvSpPr>
          <p:cNvPr id="22" name="Rectangle 21"/>
          <p:cNvSpPr/>
          <p:nvPr/>
        </p:nvSpPr>
        <p:spPr>
          <a:xfrm>
            <a:off x="3200400" y="1005840"/>
            <a:ext cx="2743200"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00400" y="1005840"/>
            <a:ext cx="2743200" cy="621792"/>
          </a:xfrm>
          <a:prstGeom prst="rect">
            <a:avLst/>
          </a:prstGeom>
          <a:solidFill>
            <a:srgbClr val="E6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37560" y="1060704"/>
            <a:ext cx="2560320" cy="292608"/>
          </a:xfrm>
          <a:prstGeom prst="rect">
            <a:avLst/>
          </a:prstGeom>
          <a:noFill/>
        </p:spPr>
        <p:txBody>
          <a:bodyPr wrap="square">
            <a:spAutoFit/>
          </a:bodyPr>
          <a:lstStyle/>
          <a:p>
            <a:pPr algn="l"/>
            <a:r>
              <a:rPr sz="1400" b="1" i="0">
                <a:solidFill>
                  <a:srgbClr val="FFFFFF"/>
                </a:solidFill>
                <a:latin typeface="Calibri"/>
              </a:rPr>
              <a:t>SHORT TERM</a:t>
            </a:r>
          </a:p>
        </p:txBody>
      </p:sp>
      <p:sp>
        <p:nvSpPr>
          <p:cNvPr id="25" name="TextBox 24"/>
          <p:cNvSpPr txBox="1"/>
          <p:nvPr/>
        </p:nvSpPr>
        <p:spPr>
          <a:xfrm>
            <a:off x="3337560" y="1353312"/>
            <a:ext cx="2560320" cy="219456"/>
          </a:xfrm>
          <a:prstGeom prst="rect">
            <a:avLst/>
          </a:prstGeom>
          <a:noFill/>
        </p:spPr>
        <p:txBody>
          <a:bodyPr wrap="square">
            <a:spAutoFit/>
          </a:bodyPr>
          <a:lstStyle/>
          <a:p>
            <a:pPr algn="l"/>
            <a:r>
              <a:rPr sz="900" b="0" i="0">
                <a:solidFill>
                  <a:srgbClr val="DDEEFF"/>
                </a:solidFill>
                <a:latin typeface="Calibri"/>
              </a:rPr>
              <a:t>June–July 2026</a:t>
            </a:r>
          </a:p>
        </p:txBody>
      </p:sp>
      <p:sp>
        <p:nvSpPr>
          <p:cNvPr id="26" name="Rectangle 25"/>
          <p:cNvSpPr/>
          <p:nvPr/>
        </p:nvSpPr>
        <p:spPr>
          <a:xfrm>
            <a:off x="3337560" y="1783080"/>
            <a:ext cx="2468880" cy="13258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337560" y="1783080"/>
            <a:ext cx="64008" cy="1325880"/>
          </a:xfrm>
          <a:prstGeom prst="rect">
            <a:avLst/>
          </a:prstGeom>
          <a:solidFill>
            <a:srgbClr val="E6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93008" y="1920240"/>
            <a:ext cx="2286000" cy="1097280"/>
          </a:xfrm>
          <a:prstGeom prst="rect">
            <a:avLst/>
          </a:prstGeom>
          <a:noFill/>
        </p:spPr>
        <p:txBody>
          <a:bodyPr wrap="square">
            <a:spAutoFit/>
          </a:bodyPr>
          <a:lstStyle/>
          <a:p>
            <a:pPr algn="l"/>
            <a:r>
              <a:rPr sz="1000" b="0" i="0">
                <a:solidFill>
                  <a:srgbClr val="3C3C3C"/>
                </a:solidFill>
                <a:latin typeface="Calibri"/>
              </a:rPr>
              <a:t>DriverOnly gap investigation with EDW team
(vw_policy_driver coverage analysis)</a:t>
            </a:r>
          </a:p>
        </p:txBody>
      </p:sp>
      <p:sp>
        <p:nvSpPr>
          <p:cNvPr id="29" name="Rectangle 28"/>
          <p:cNvSpPr/>
          <p:nvPr/>
        </p:nvSpPr>
        <p:spPr>
          <a:xfrm>
            <a:off x="3337560" y="3246120"/>
            <a:ext cx="2468880" cy="13258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37560" y="3246120"/>
            <a:ext cx="64008" cy="1325880"/>
          </a:xfrm>
          <a:prstGeom prst="rect">
            <a:avLst/>
          </a:prstGeom>
          <a:solidFill>
            <a:srgbClr val="E6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93008" y="3383280"/>
            <a:ext cx="2286000" cy="1097280"/>
          </a:xfrm>
          <a:prstGeom prst="rect">
            <a:avLst/>
          </a:prstGeom>
          <a:noFill/>
        </p:spPr>
        <p:txBody>
          <a:bodyPr wrap="square">
            <a:spAutoFit/>
          </a:bodyPr>
          <a:lstStyle/>
          <a:p>
            <a:pPr algn="l"/>
            <a:r>
              <a:rPr sz="1000" b="0" i="0">
                <a:solidFill>
                  <a:srgbClr val="3C3C3C"/>
                </a:solidFill>
                <a:latin typeface="Calibri"/>
              </a:rPr>
              <a:t>Stakeholder decision: supervisor staleness
(creation-time vs current supervisor)</a:t>
            </a:r>
          </a:p>
        </p:txBody>
      </p:sp>
      <p:sp>
        <p:nvSpPr>
          <p:cNvPr id="32" name="Rectangle 31"/>
          <p:cNvSpPr/>
          <p:nvPr/>
        </p:nvSpPr>
        <p:spPr>
          <a:xfrm>
            <a:off x="3337560" y="4709160"/>
            <a:ext cx="2468880" cy="13258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37560" y="4709160"/>
            <a:ext cx="64008" cy="1325880"/>
          </a:xfrm>
          <a:prstGeom prst="rect">
            <a:avLst/>
          </a:prstGeom>
          <a:solidFill>
            <a:srgbClr val="E6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93008" y="4846320"/>
            <a:ext cx="2286000" cy="1097280"/>
          </a:xfrm>
          <a:prstGeom prst="rect">
            <a:avLst/>
          </a:prstGeom>
          <a:noFill/>
        </p:spPr>
        <p:txBody>
          <a:bodyPr wrap="square">
            <a:spAutoFit/>
          </a:bodyPr>
          <a:lstStyle/>
          <a:p>
            <a:pPr algn="l"/>
            <a:r>
              <a:rPr sz="1000" b="0" i="0">
                <a:solidFill>
                  <a:srgbClr val="3C3C3C"/>
                </a:solidFill>
                <a:latin typeface="Calibri"/>
              </a:rPr>
              <a:t>Quote to Purchase — unblock once
Salesforce table provisioned</a:t>
            </a:r>
          </a:p>
        </p:txBody>
      </p:sp>
      <p:sp>
        <p:nvSpPr>
          <p:cNvPr id="35" name="Rectangle 34"/>
          <p:cNvSpPr/>
          <p:nvPr/>
        </p:nvSpPr>
        <p:spPr>
          <a:xfrm>
            <a:off x="6080760" y="1005840"/>
            <a:ext cx="2743200"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80760" y="1005840"/>
            <a:ext cx="2743200" cy="621792"/>
          </a:xfrm>
          <a:prstGeom prst="rect">
            <a:avLst/>
          </a:prstGeom>
          <a:solidFill>
            <a:srgbClr val="26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7920" y="1060704"/>
            <a:ext cx="2560320" cy="292608"/>
          </a:xfrm>
          <a:prstGeom prst="rect">
            <a:avLst/>
          </a:prstGeom>
          <a:noFill/>
        </p:spPr>
        <p:txBody>
          <a:bodyPr wrap="square">
            <a:spAutoFit/>
          </a:bodyPr>
          <a:lstStyle/>
          <a:p>
            <a:pPr algn="l"/>
            <a:r>
              <a:rPr sz="1400" b="1" i="0">
                <a:solidFill>
                  <a:srgbClr val="FFFFFF"/>
                </a:solidFill>
                <a:latin typeface="Calibri"/>
              </a:rPr>
              <a:t>MEDIUM TERM</a:t>
            </a:r>
          </a:p>
        </p:txBody>
      </p:sp>
      <p:sp>
        <p:nvSpPr>
          <p:cNvPr id="38" name="TextBox 37"/>
          <p:cNvSpPr txBox="1"/>
          <p:nvPr/>
        </p:nvSpPr>
        <p:spPr>
          <a:xfrm>
            <a:off x="6217920" y="1353312"/>
            <a:ext cx="2560320" cy="219456"/>
          </a:xfrm>
          <a:prstGeom prst="rect">
            <a:avLst/>
          </a:prstGeom>
          <a:noFill/>
        </p:spPr>
        <p:txBody>
          <a:bodyPr wrap="square">
            <a:spAutoFit/>
          </a:bodyPr>
          <a:lstStyle/>
          <a:p>
            <a:pPr algn="l"/>
            <a:r>
              <a:rPr sz="900" b="0" i="0">
                <a:solidFill>
                  <a:srgbClr val="DDEEFF"/>
                </a:solidFill>
                <a:latin typeface="Calibri"/>
              </a:rPr>
              <a:t>Q3 2026</a:t>
            </a:r>
          </a:p>
        </p:txBody>
      </p:sp>
      <p:sp>
        <p:nvSpPr>
          <p:cNvPr id="39" name="Rectangle 38"/>
          <p:cNvSpPr/>
          <p:nvPr/>
        </p:nvSpPr>
        <p:spPr>
          <a:xfrm>
            <a:off x="6217920" y="1783080"/>
            <a:ext cx="2468880" cy="13258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17920" y="1783080"/>
            <a:ext cx="64008" cy="1325880"/>
          </a:xfrm>
          <a:prstGeom prst="rect">
            <a:avLst/>
          </a:prstGeom>
          <a:solidFill>
            <a:srgbClr val="26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73368" y="1920240"/>
            <a:ext cx="2286000" cy="1097280"/>
          </a:xfrm>
          <a:prstGeom prst="rect">
            <a:avLst/>
          </a:prstGeom>
          <a:noFill/>
        </p:spPr>
        <p:txBody>
          <a:bodyPr wrap="square">
            <a:spAutoFit/>
          </a:bodyPr>
          <a:lstStyle/>
          <a:p>
            <a:pPr algn="l"/>
            <a:r>
              <a:rPr sz="1000" b="0" i="0">
                <a:solidFill>
                  <a:srgbClr val="3C3C3C"/>
                </a:solidFill>
                <a:latin typeface="Calibri"/>
              </a:rPr>
              <a:t>Full BIM dependency audit — confirm
zero remaining BIM-sourced reports</a:t>
            </a:r>
          </a:p>
        </p:txBody>
      </p:sp>
      <p:sp>
        <p:nvSpPr>
          <p:cNvPr id="42" name="Rectangle 41"/>
          <p:cNvSpPr/>
          <p:nvPr/>
        </p:nvSpPr>
        <p:spPr>
          <a:xfrm>
            <a:off x="6217920" y="3246120"/>
            <a:ext cx="2468880" cy="13258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17920" y="3246120"/>
            <a:ext cx="64008" cy="1325880"/>
          </a:xfrm>
          <a:prstGeom prst="rect">
            <a:avLst/>
          </a:prstGeom>
          <a:solidFill>
            <a:srgbClr val="26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73368" y="3383280"/>
            <a:ext cx="2286000" cy="1097280"/>
          </a:xfrm>
          <a:prstGeom prst="rect">
            <a:avLst/>
          </a:prstGeom>
          <a:noFill/>
        </p:spPr>
        <p:txBody>
          <a:bodyPr wrap="square">
            <a:spAutoFit/>
          </a:bodyPr>
          <a:lstStyle/>
          <a:p>
            <a:pPr algn="l"/>
            <a:r>
              <a:rPr sz="1000" b="0" i="0">
                <a:solidFill>
                  <a:srgbClr val="3C3C3C"/>
                </a:solidFill>
                <a:latin typeface="Calibri"/>
              </a:rPr>
              <a:t>Databricks pipeline readiness review
for AWM/EDW data flows</a:t>
            </a:r>
          </a:p>
        </p:txBody>
      </p:sp>
      <p:sp>
        <p:nvSpPr>
          <p:cNvPr id="45" name="Rectangle 44"/>
          <p:cNvSpPr/>
          <p:nvPr/>
        </p:nvSpPr>
        <p:spPr>
          <a:xfrm>
            <a:off x="6217920" y="4709160"/>
            <a:ext cx="2468880" cy="13258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17920" y="4709160"/>
            <a:ext cx="64008" cy="1325880"/>
          </a:xfrm>
          <a:prstGeom prst="rect">
            <a:avLst/>
          </a:prstGeom>
          <a:solidFill>
            <a:srgbClr val="26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73368" y="4846320"/>
            <a:ext cx="2286000" cy="1097280"/>
          </a:xfrm>
          <a:prstGeom prst="rect">
            <a:avLst/>
          </a:prstGeom>
          <a:noFill/>
        </p:spPr>
        <p:txBody>
          <a:bodyPr wrap="square">
            <a:spAutoFit/>
          </a:bodyPr>
          <a:lstStyle/>
          <a:p>
            <a:pPr algn="l"/>
            <a:r>
              <a:rPr sz="1000" b="0" i="0">
                <a:solidFill>
                  <a:srgbClr val="3C3C3C"/>
                </a:solidFill>
                <a:latin typeface="Calibri"/>
              </a:rPr>
              <a:t>Atlan data catalog documentation
for all migrated reports</a:t>
            </a:r>
          </a:p>
        </p:txBody>
      </p:sp>
      <p:sp>
        <p:nvSpPr>
          <p:cNvPr id="48" name="Rectangle 47"/>
          <p:cNvSpPr/>
          <p:nvPr/>
        </p:nvSpPr>
        <p:spPr>
          <a:xfrm>
            <a:off x="8961120" y="1005840"/>
            <a:ext cx="2743200"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961120" y="1005840"/>
            <a:ext cx="2743200" cy="621792"/>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98280" y="1060704"/>
            <a:ext cx="2560320" cy="292608"/>
          </a:xfrm>
          <a:prstGeom prst="rect">
            <a:avLst/>
          </a:prstGeom>
          <a:noFill/>
        </p:spPr>
        <p:txBody>
          <a:bodyPr wrap="square">
            <a:spAutoFit/>
          </a:bodyPr>
          <a:lstStyle/>
          <a:p>
            <a:pPr algn="l"/>
            <a:r>
              <a:rPr sz="1400" b="1" i="0">
                <a:solidFill>
                  <a:srgbClr val="FFFFFF"/>
                </a:solidFill>
                <a:latin typeface="Calibri"/>
              </a:rPr>
              <a:t>ONGOING</a:t>
            </a:r>
          </a:p>
        </p:txBody>
      </p:sp>
      <p:sp>
        <p:nvSpPr>
          <p:cNvPr id="51" name="TextBox 50"/>
          <p:cNvSpPr txBox="1"/>
          <p:nvPr/>
        </p:nvSpPr>
        <p:spPr>
          <a:xfrm>
            <a:off x="9098280" y="1353312"/>
            <a:ext cx="2560320" cy="219456"/>
          </a:xfrm>
          <a:prstGeom prst="rect">
            <a:avLst/>
          </a:prstGeom>
          <a:noFill/>
        </p:spPr>
        <p:txBody>
          <a:bodyPr wrap="square">
            <a:spAutoFit/>
          </a:bodyPr>
          <a:lstStyle/>
          <a:p>
            <a:pPr algn="l"/>
            <a:r>
              <a:rPr sz="900" b="0" i="0">
                <a:solidFill>
                  <a:srgbClr val="DDEEFF"/>
                </a:solidFill>
                <a:latin typeface="Calibri"/>
              </a:rPr>
              <a:t>Continuous</a:t>
            </a:r>
          </a:p>
        </p:txBody>
      </p:sp>
      <p:sp>
        <p:nvSpPr>
          <p:cNvPr id="52" name="Rectangle 51"/>
          <p:cNvSpPr/>
          <p:nvPr/>
        </p:nvSpPr>
        <p:spPr>
          <a:xfrm>
            <a:off x="9098280" y="1783080"/>
            <a:ext cx="2468880" cy="13258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098280" y="1783080"/>
            <a:ext cx="64008" cy="132588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253728" y="1920240"/>
            <a:ext cx="2286000" cy="1097280"/>
          </a:xfrm>
          <a:prstGeom prst="rect">
            <a:avLst/>
          </a:prstGeom>
          <a:noFill/>
        </p:spPr>
        <p:txBody>
          <a:bodyPr wrap="square">
            <a:spAutoFit/>
          </a:bodyPr>
          <a:lstStyle/>
          <a:p>
            <a:pPr algn="l"/>
            <a:r>
              <a:rPr sz="1000" b="0" i="0">
                <a:solidFill>
                  <a:srgbClr val="3C3C3C"/>
                </a:solidFill>
                <a:latin typeface="Calibri"/>
              </a:rPr>
              <a:t>Monitor EDW data quality and
AWM account coverage trends</a:t>
            </a:r>
          </a:p>
        </p:txBody>
      </p:sp>
      <p:sp>
        <p:nvSpPr>
          <p:cNvPr id="55" name="Rectangle 54"/>
          <p:cNvSpPr/>
          <p:nvPr/>
        </p:nvSpPr>
        <p:spPr>
          <a:xfrm>
            <a:off x="9098280" y="3246120"/>
            <a:ext cx="2468880" cy="13258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098280" y="3246120"/>
            <a:ext cx="64008" cy="132588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253728" y="3383280"/>
            <a:ext cx="2286000" cy="1097280"/>
          </a:xfrm>
          <a:prstGeom prst="rect">
            <a:avLst/>
          </a:prstGeom>
          <a:noFill/>
        </p:spPr>
        <p:txBody>
          <a:bodyPr wrap="square">
            <a:spAutoFit/>
          </a:bodyPr>
          <a:lstStyle/>
          <a:p>
            <a:pPr algn="l"/>
            <a:r>
              <a:rPr sz="1000" b="0" i="0">
                <a:solidFill>
                  <a:srgbClr val="3C3C3C"/>
                </a:solidFill>
                <a:latin typeface="Calibri"/>
              </a:rPr>
              <a:t>Maintain validation query archive
for each production report</a:t>
            </a:r>
          </a:p>
        </p:txBody>
      </p:sp>
      <p:sp>
        <p:nvSpPr>
          <p:cNvPr id="58" name="Rectangle 57"/>
          <p:cNvSpPr/>
          <p:nvPr/>
        </p:nvSpPr>
        <p:spPr>
          <a:xfrm>
            <a:off x="9098280" y="4709160"/>
            <a:ext cx="2468880" cy="13258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098280" y="4709160"/>
            <a:ext cx="64008" cy="1325880"/>
          </a:xfrm>
          <a:prstGeom prst="rect">
            <a:avLst/>
          </a:prstGeom>
          <a:solidFill>
            <a:srgbClr val="1E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253728" y="4846320"/>
            <a:ext cx="2286000" cy="1097280"/>
          </a:xfrm>
          <a:prstGeom prst="rect">
            <a:avLst/>
          </a:prstGeom>
          <a:noFill/>
        </p:spPr>
        <p:txBody>
          <a:bodyPr wrap="square">
            <a:spAutoFit/>
          </a:bodyPr>
          <a:lstStyle/>
          <a:p>
            <a:pPr algn="l"/>
            <a:r>
              <a:rPr sz="1000" b="0" i="0">
                <a:solidFill>
                  <a:srgbClr val="3C3C3C"/>
                </a:solidFill>
                <a:latin typeface="Calibri"/>
              </a:rPr>
              <a:t>Respond to new BIM retirement
requests as identified</a:t>
            </a:r>
          </a:p>
        </p:txBody>
      </p:sp>
      <p:sp>
        <p:nvSpPr>
          <p:cNvPr id="61" name="Rectangle 60"/>
          <p:cNvSpPr/>
          <p:nvPr/>
        </p:nvSpPr>
        <p:spPr>
          <a:xfrm>
            <a:off x="320040" y="6492240"/>
            <a:ext cx="11521440" cy="256032"/>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6510528"/>
            <a:ext cx="11247120" cy="228600"/>
          </a:xfrm>
          <a:prstGeom prst="rect">
            <a:avLst/>
          </a:prstGeom>
          <a:noFill/>
        </p:spPr>
        <p:txBody>
          <a:bodyPr wrap="square">
            <a:spAutoFit/>
          </a:bodyPr>
          <a:lstStyle/>
          <a:p>
            <a:pPr algn="l"/>
            <a:r>
              <a:rPr sz="800" b="0" i="0">
                <a:solidFill>
                  <a:srgbClr val="B0B8C8"/>
                </a:solidFill>
                <a:latin typeface="Calibri"/>
              </a:rPr>
              <a:t>Key Dependencies:  Salesforce table (EDW provisioning)   |   UserEvents table (AWM availability)   |   Stakeholder alignment on supervisor staleness   |   EDW team on DriverOnly gap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023360"/>
            <a:ext cx="12188952" cy="54864"/>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65760"/>
            <a:ext cx="12188952" cy="365760"/>
          </a:xfrm>
          <a:prstGeom prst="rect">
            <a:avLst/>
          </a:prstGeom>
          <a:noFill/>
        </p:spPr>
        <p:txBody>
          <a:bodyPr wrap="square">
            <a:spAutoFit/>
          </a:bodyPr>
          <a:lstStyle/>
          <a:p>
            <a:pPr algn="ctr"/>
            <a:r>
              <a:rPr sz="1200" b="1" i="0">
                <a:solidFill>
                  <a:srgbClr val="B0B8C8"/>
                </a:solidFill>
                <a:latin typeface="Calibri"/>
              </a:rPr>
              <a:t>PEMCO  ×  BOURNTEC SOLUTIONS</a:t>
            </a:r>
          </a:p>
        </p:txBody>
      </p:sp>
      <p:sp>
        <p:nvSpPr>
          <p:cNvPr id="5" name="TextBox 4"/>
          <p:cNvSpPr txBox="1"/>
          <p:nvPr/>
        </p:nvSpPr>
        <p:spPr>
          <a:xfrm>
            <a:off x="0" y="914400"/>
            <a:ext cx="12188952" cy="914400"/>
          </a:xfrm>
          <a:prstGeom prst="rect">
            <a:avLst/>
          </a:prstGeom>
          <a:noFill/>
        </p:spPr>
        <p:txBody>
          <a:bodyPr wrap="square">
            <a:spAutoFit/>
          </a:bodyPr>
          <a:lstStyle/>
          <a:p>
            <a:pPr algn="ctr"/>
            <a:r>
              <a:rPr sz="5800" b="1" i="0">
                <a:solidFill>
                  <a:srgbClr val="FFFFFF"/>
                </a:solidFill>
                <a:latin typeface="Calibri"/>
              </a:rPr>
              <a:t>Thank You</a:t>
            </a:r>
          </a:p>
        </p:txBody>
      </p:sp>
      <p:sp>
        <p:nvSpPr>
          <p:cNvPr id="6" name="TextBox 5"/>
          <p:cNvSpPr txBox="1"/>
          <p:nvPr/>
        </p:nvSpPr>
        <p:spPr>
          <a:xfrm>
            <a:off x="0" y="1920240"/>
            <a:ext cx="12188952" cy="502920"/>
          </a:xfrm>
          <a:prstGeom prst="rect">
            <a:avLst/>
          </a:prstGeom>
          <a:noFill/>
        </p:spPr>
        <p:txBody>
          <a:bodyPr wrap="square">
            <a:spAutoFit/>
          </a:bodyPr>
          <a:lstStyle/>
          <a:p>
            <a:pPr algn="ctr"/>
            <a:r>
              <a:rPr sz="2000" b="0" i="0">
                <a:solidFill>
                  <a:srgbClr val="E09A00"/>
                </a:solidFill>
                <a:latin typeface="Calibri"/>
              </a:rPr>
              <a:t>Questions &amp; Discussion</a:t>
            </a:r>
          </a:p>
        </p:txBody>
      </p:sp>
      <p:sp>
        <p:nvSpPr>
          <p:cNvPr id="7" name="Rectangle 6"/>
          <p:cNvSpPr/>
          <p:nvPr/>
        </p:nvSpPr>
        <p:spPr>
          <a:xfrm>
            <a:off x="4114800" y="2651760"/>
            <a:ext cx="3931920" cy="36576"/>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2880360"/>
            <a:ext cx="1828800" cy="1280160"/>
          </a:xfrm>
          <a:prstGeom prst="rect">
            <a:avLst/>
          </a:prstGeom>
          <a:solidFill>
            <a:srgbClr val="22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2971800"/>
            <a:ext cx="1828800" cy="640080"/>
          </a:xfrm>
          <a:prstGeom prst="rect">
            <a:avLst/>
          </a:prstGeom>
          <a:noFill/>
        </p:spPr>
        <p:txBody>
          <a:bodyPr wrap="square">
            <a:spAutoFit/>
          </a:bodyPr>
          <a:lstStyle/>
          <a:p>
            <a:pPr algn="ctr"/>
            <a:r>
              <a:rPr sz="3000" b="1" i="0">
                <a:solidFill>
                  <a:srgbClr val="E09A00"/>
                </a:solidFill>
                <a:latin typeface="Calibri"/>
              </a:rPr>
              <a:t>10+</a:t>
            </a:r>
          </a:p>
        </p:txBody>
      </p:sp>
      <p:sp>
        <p:nvSpPr>
          <p:cNvPr id="10" name="TextBox 9"/>
          <p:cNvSpPr txBox="1"/>
          <p:nvPr/>
        </p:nvSpPr>
        <p:spPr>
          <a:xfrm>
            <a:off x="365760" y="3611880"/>
            <a:ext cx="1737360" cy="411480"/>
          </a:xfrm>
          <a:prstGeom prst="rect">
            <a:avLst/>
          </a:prstGeom>
          <a:noFill/>
        </p:spPr>
        <p:txBody>
          <a:bodyPr wrap="square">
            <a:spAutoFit/>
          </a:bodyPr>
          <a:lstStyle/>
          <a:p>
            <a:pPr algn="ctr"/>
            <a:r>
              <a:rPr sz="1000" b="0" i="0">
                <a:solidFill>
                  <a:srgbClr val="B0B8C8"/>
                </a:solidFill>
                <a:latin typeface="Calibri"/>
              </a:rPr>
              <a:t>Reports Migrated</a:t>
            </a:r>
          </a:p>
        </p:txBody>
      </p:sp>
      <p:sp>
        <p:nvSpPr>
          <p:cNvPr id="11" name="Rectangle 10"/>
          <p:cNvSpPr/>
          <p:nvPr/>
        </p:nvSpPr>
        <p:spPr>
          <a:xfrm>
            <a:off x="2258568" y="2880360"/>
            <a:ext cx="1828800" cy="1280160"/>
          </a:xfrm>
          <a:prstGeom prst="rect">
            <a:avLst/>
          </a:prstGeom>
          <a:solidFill>
            <a:srgbClr val="22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58568" y="2971800"/>
            <a:ext cx="1828800" cy="640080"/>
          </a:xfrm>
          <a:prstGeom prst="rect">
            <a:avLst/>
          </a:prstGeom>
          <a:noFill/>
        </p:spPr>
        <p:txBody>
          <a:bodyPr wrap="square">
            <a:spAutoFit/>
          </a:bodyPr>
          <a:lstStyle/>
          <a:p>
            <a:pPr algn="ctr"/>
            <a:r>
              <a:rPr sz="3000" b="1" i="0">
                <a:solidFill>
                  <a:srgbClr val="E09A00"/>
                </a:solidFill>
                <a:latin typeface="Calibri"/>
              </a:rPr>
              <a:t>5→1</a:t>
            </a:r>
          </a:p>
        </p:txBody>
      </p:sp>
      <p:sp>
        <p:nvSpPr>
          <p:cNvPr id="13" name="TextBox 12"/>
          <p:cNvSpPr txBox="1"/>
          <p:nvPr/>
        </p:nvSpPr>
        <p:spPr>
          <a:xfrm>
            <a:off x="2304288" y="3611880"/>
            <a:ext cx="1737360" cy="411480"/>
          </a:xfrm>
          <a:prstGeom prst="rect">
            <a:avLst/>
          </a:prstGeom>
          <a:noFill/>
        </p:spPr>
        <p:txBody>
          <a:bodyPr wrap="square">
            <a:spAutoFit/>
          </a:bodyPr>
          <a:lstStyle/>
          <a:p>
            <a:pPr algn="ctr"/>
            <a:r>
              <a:rPr sz="1000" b="0" i="0">
                <a:solidFill>
                  <a:srgbClr val="B0B8C8"/>
                </a:solidFill>
                <a:latin typeface="Calibri"/>
              </a:rPr>
              <a:t>Tableau Consolidated</a:t>
            </a:r>
          </a:p>
        </p:txBody>
      </p:sp>
      <p:sp>
        <p:nvSpPr>
          <p:cNvPr id="14" name="Rectangle 13"/>
          <p:cNvSpPr/>
          <p:nvPr/>
        </p:nvSpPr>
        <p:spPr>
          <a:xfrm>
            <a:off x="4197096" y="2880360"/>
            <a:ext cx="1828800" cy="1280160"/>
          </a:xfrm>
          <a:prstGeom prst="rect">
            <a:avLst/>
          </a:prstGeom>
          <a:solidFill>
            <a:srgbClr val="22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97096" y="2971800"/>
            <a:ext cx="1828800" cy="640080"/>
          </a:xfrm>
          <a:prstGeom prst="rect">
            <a:avLst/>
          </a:prstGeom>
          <a:noFill/>
        </p:spPr>
        <p:txBody>
          <a:bodyPr wrap="square">
            <a:spAutoFit/>
          </a:bodyPr>
          <a:lstStyle/>
          <a:p>
            <a:pPr algn="ctr"/>
            <a:r>
              <a:rPr sz="3000" b="1" i="0">
                <a:solidFill>
                  <a:srgbClr val="E09A00"/>
                </a:solidFill>
                <a:latin typeface="Calibri"/>
              </a:rPr>
              <a:t>+9.3pp</a:t>
            </a:r>
          </a:p>
        </p:txBody>
      </p:sp>
      <p:sp>
        <p:nvSpPr>
          <p:cNvPr id="16" name="TextBox 15"/>
          <p:cNvSpPr txBox="1"/>
          <p:nvPr/>
        </p:nvSpPr>
        <p:spPr>
          <a:xfrm>
            <a:off x="4242816" y="3611880"/>
            <a:ext cx="1737360" cy="411480"/>
          </a:xfrm>
          <a:prstGeom prst="rect">
            <a:avLst/>
          </a:prstGeom>
          <a:noFill/>
        </p:spPr>
        <p:txBody>
          <a:bodyPr wrap="square">
            <a:spAutoFit/>
          </a:bodyPr>
          <a:lstStyle/>
          <a:p>
            <a:pPr algn="ctr"/>
            <a:r>
              <a:rPr sz="1000" b="0" i="0">
                <a:solidFill>
                  <a:srgbClr val="B0B8C8"/>
                </a:solidFill>
                <a:latin typeface="Calibri"/>
              </a:rPr>
              <a:t>Email Coverage</a:t>
            </a:r>
          </a:p>
        </p:txBody>
      </p:sp>
      <p:sp>
        <p:nvSpPr>
          <p:cNvPr id="17" name="Rectangle 16"/>
          <p:cNvSpPr/>
          <p:nvPr/>
        </p:nvSpPr>
        <p:spPr>
          <a:xfrm>
            <a:off x="6135624" y="2880360"/>
            <a:ext cx="1828800" cy="1280160"/>
          </a:xfrm>
          <a:prstGeom prst="rect">
            <a:avLst/>
          </a:prstGeom>
          <a:solidFill>
            <a:srgbClr val="22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35624" y="2971800"/>
            <a:ext cx="1828800" cy="640080"/>
          </a:xfrm>
          <a:prstGeom prst="rect">
            <a:avLst/>
          </a:prstGeom>
          <a:noFill/>
        </p:spPr>
        <p:txBody>
          <a:bodyPr wrap="square">
            <a:spAutoFit/>
          </a:bodyPr>
          <a:lstStyle/>
          <a:p>
            <a:pPr algn="ctr"/>
            <a:r>
              <a:rPr sz="3000" b="1" i="0">
                <a:solidFill>
                  <a:srgbClr val="E09A00"/>
                </a:solidFill>
                <a:latin typeface="Calibri"/>
              </a:rPr>
              <a:t>&lt;2%</a:t>
            </a:r>
          </a:p>
        </p:txBody>
      </p:sp>
      <p:sp>
        <p:nvSpPr>
          <p:cNvPr id="19" name="TextBox 18"/>
          <p:cNvSpPr txBox="1"/>
          <p:nvPr/>
        </p:nvSpPr>
        <p:spPr>
          <a:xfrm>
            <a:off x="6181344" y="3611880"/>
            <a:ext cx="1737360" cy="411480"/>
          </a:xfrm>
          <a:prstGeom prst="rect">
            <a:avLst/>
          </a:prstGeom>
          <a:noFill/>
        </p:spPr>
        <p:txBody>
          <a:bodyPr wrap="square">
            <a:spAutoFit/>
          </a:bodyPr>
          <a:lstStyle/>
          <a:p>
            <a:pPr algn="ctr"/>
            <a:r>
              <a:rPr sz="1000" b="0" i="0">
                <a:solidFill>
                  <a:srgbClr val="B0B8C8"/>
                </a:solidFill>
                <a:latin typeface="Calibri"/>
              </a:rPr>
              <a:t>BIM Delta</a:t>
            </a:r>
          </a:p>
        </p:txBody>
      </p:sp>
      <p:sp>
        <p:nvSpPr>
          <p:cNvPr id="20" name="Rectangle 19"/>
          <p:cNvSpPr/>
          <p:nvPr/>
        </p:nvSpPr>
        <p:spPr>
          <a:xfrm>
            <a:off x="8074152" y="2880360"/>
            <a:ext cx="1828800" cy="1280160"/>
          </a:xfrm>
          <a:prstGeom prst="rect">
            <a:avLst/>
          </a:prstGeom>
          <a:solidFill>
            <a:srgbClr val="22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74152" y="2971800"/>
            <a:ext cx="1828800" cy="640080"/>
          </a:xfrm>
          <a:prstGeom prst="rect">
            <a:avLst/>
          </a:prstGeom>
          <a:noFill/>
        </p:spPr>
        <p:txBody>
          <a:bodyPr wrap="square">
            <a:spAutoFit/>
          </a:bodyPr>
          <a:lstStyle/>
          <a:p>
            <a:pPr algn="ctr"/>
            <a:r>
              <a:rPr sz="3000" b="1" i="0">
                <a:solidFill>
                  <a:srgbClr val="E09A00"/>
                </a:solidFill>
                <a:latin typeface="Calibri"/>
              </a:rPr>
              <a:t>15</a:t>
            </a:r>
          </a:p>
        </p:txBody>
      </p:sp>
      <p:sp>
        <p:nvSpPr>
          <p:cNvPr id="22" name="TextBox 21"/>
          <p:cNvSpPr txBox="1"/>
          <p:nvPr/>
        </p:nvSpPr>
        <p:spPr>
          <a:xfrm>
            <a:off x="8119872" y="3611880"/>
            <a:ext cx="1737360" cy="411480"/>
          </a:xfrm>
          <a:prstGeom prst="rect">
            <a:avLst/>
          </a:prstGeom>
          <a:noFill/>
        </p:spPr>
        <p:txBody>
          <a:bodyPr wrap="square">
            <a:spAutoFit/>
          </a:bodyPr>
          <a:lstStyle/>
          <a:p>
            <a:pPr algn="ctr"/>
            <a:r>
              <a:rPr sz="1000" b="0" i="0">
                <a:solidFill>
                  <a:srgbClr val="B0B8C8"/>
                </a:solidFill>
                <a:latin typeface="Calibri"/>
              </a:rPr>
              <a:t>Bugs Resolved</a:t>
            </a:r>
          </a:p>
        </p:txBody>
      </p:sp>
      <p:sp>
        <p:nvSpPr>
          <p:cNvPr id="23" name="Rectangle 22"/>
          <p:cNvSpPr/>
          <p:nvPr/>
        </p:nvSpPr>
        <p:spPr>
          <a:xfrm>
            <a:off x="10012680" y="2880360"/>
            <a:ext cx="1828800" cy="1280160"/>
          </a:xfrm>
          <a:prstGeom prst="rect">
            <a:avLst/>
          </a:prstGeom>
          <a:solidFill>
            <a:srgbClr val="22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12680" y="2971800"/>
            <a:ext cx="1828800" cy="640080"/>
          </a:xfrm>
          <a:prstGeom prst="rect">
            <a:avLst/>
          </a:prstGeom>
          <a:noFill/>
        </p:spPr>
        <p:txBody>
          <a:bodyPr wrap="square">
            <a:spAutoFit/>
          </a:bodyPr>
          <a:lstStyle/>
          <a:p>
            <a:pPr algn="ctr"/>
            <a:r>
              <a:rPr sz="3000" b="1" i="0">
                <a:solidFill>
                  <a:srgbClr val="E09A00"/>
                </a:solidFill>
                <a:latin typeface="Calibri"/>
              </a:rPr>
              <a:t>0</a:t>
            </a:r>
          </a:p>
        </p:txBody>
      </p:sp>
      <p:sp>
        <p:nvSpPr>
          <p:cNvPr id="25" name="TextBox 24"/>
          <p:cNvSpPr txBox="1"/>
          <p:nvPr/>
        </p:nvSpPr>
        <p:spPr>
          <a:xfrm>
            <a:off x="10058400" y="3611880"/>
            <a:ext cx="1737360" cy="411480"/>
          </a:xfrm>
          <a:prstGeom prst="rect">
            <a:avLst/>
          </a:prstGeom>
          <a:noFill/>
        </p:spPr>
        <p:txBody>
          <a:bodyPr wrap="square">
            <a:spAutoFit/>
          </a:bodyPr>
          <a:lstStyle/>
          <a:p>
            <a:pPr algn="ctr"/>
            <a:r>
              <a:rPr sz="1000" b="0" i="0">
                <a:solidFill>
                  <a:srgbClr val="B0B8C8"/>
                </a:solidFill>
                <a:latin typeface="Calibri"/>
              </a:rPr>
              <a:t>BIM ETL Dependencies</a:t>
            </a:r>
          </a:p>
        </p:txBody>
      </p:sp>
      <p:sp>
        <p:nvSpPr>
          <p:cNvPr id="26" name="TextBox 25"/>
          <p:cNvSpPr txBox="1"/>
          <p:nvPr/>
        </p:nvSpPr>
        <p:spPr>
          <a:xfrm>
            <a:off x="0" y="6537960"/>
            <a:ext cx="12188952" cy="274320"/>
          </a:xfrm>
          <a:prstGeom prst="rect">
            <a:avLst/>
          </a:prstGeom>
          <a:noFill/>
        </p:spPr>
        <p:txBody>
          <a:bodyPr wrap="square">
            <a:spAutoFit/>
          </a:bodyPr>
          <a:lstStyle/>
          <a:p>
            <a:pPr algn="ctr"/>
            <a:r>
              <a:rPr sz="800" b="0" i="0">
                <a:solidFill>
                  <a:srgbClr val="555577"/>
                </a:solidFill>
                <a:latin typeface="Calibri"/>
              </a:rPr>
              <a:t>Bourntec Solutions  |  PEMCO Mutual Insurance  |  BIM Retirement &amp; Report Migration  |  May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