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92"/>
  </p:normalViewPr>
  <p:slideViewPr>
    <p:cSldViewPr snapToGrid="0" snapToObjects="1">
      <p:cViewPr varScale="1">
        <p:scale>
          <a:sx n="106" d="100"/>
          <a:sy n="106" d="100"/>
        </p:scale>
        <p:origin x="58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89120"/>
            <a:ext cx="12188952" cy="54864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7A8A"/>
                </a:solidFill>
              </a:rPr>
              <a:t>PEMCO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BIM Retirement &amp; Report Migration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</a:rPr>
              <a:t>Status Update —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Bourntec Solutions  |  PEMCO Mutual Insurance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Previous 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A8A"/>
                </a:solidFill>
              </a:rPr>
              <a:t>Legacy BIM-Based Reporting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212080" cy="131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02B5C"/>
                </a:solidFill>
              </a:rPr>
              <a:t>BIM as the Source of Truth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44444"/>
                </a:solidFill>
              </a:rPr>
              <a:t>All enterprise reporting sourced from BIM (Business Intelligence Model)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44444"/>
                </a:solidFill>
              </a:rPr>
              <a:t>BIM ran Daily, Weekly, and Monthly ETL jobs from HDS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44444"/>
                </a:solidFill>
              </a:rPr>
              <a:t>Major monthly ETL job on the 1st triggered SSIS packages &amp; stored procedures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44444"/>
                </a:solidFill>
              </a:rPr>
              <a:t>Data flowed into Production Reporting, PMIC Data Warehouse, and PMIC Data Mart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5778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280160"/>
            <a:ext cx="5303520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02B5C"/>
                </a:solidFill>
              </a:rPr>
              <a:t>Reporting Tools in Use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44444"/>
                </a:solidFill>
              </a:rPr>
              <a:t>BOXI (Business Objects): Scheduled reports via email &amp; shared drives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44444"/>
                </a:solidFill>
              </a:rPr>
              <a:t>SSRS: Proxy and operational reports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44444"/>
                </a:solidFill>
              </a:rPr>
              <a:t>Tableau: Multiple disconnected dashboards, each with separate BIM sources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44444"/>
                </a:solidFill>
              </a:rPr>
              <a:t>Agent Dashboard: Generated via SSRS from BIM stored procedures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474720"/>
            <a:ext cx="11430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3566160"/>
            <a:ext cx="11155680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dirty="0">
                <a:solidFill>
                  <a:srgbClr val="007A8A"/>
                </a:solidFill>
              </a:rPr>
              <a:t>Challenges Driving Migration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44444"/>
                </a:solidFill>
              </a:rPr>
              <a:t>BIM retirement mandated migration of all reports to AWM/DWM (Enterprise Data Warehouse)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44444"/>
                </a:solidFill>
              </a:rPr>
              <a:t>Table and column names differ between BIM and AWM — business logic must be re-implemented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44444"/>
                </a:solidFill>
              </a:rPr>
              <a:t>Some reports pulled from multiple sources (BIM, Data Mart, Production Reporting)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444444"/>
                </a:solidFill>
              </a:rPr>
              <a:t>Monthly BIM ETL dependency created latency and a single point of failure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BIM Reporting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A8A"/>
                </a:solidFill>
              </a:rPr>
              <a:t>Previous State — Data Flow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rch_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583680" cy="5394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40880" y="1188720"/>
            <a:ext cx="4846320" cy="53949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78040" y="1280160"/>
            <a:ext cx="457200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7A8A"/>
                </a:solidFill>
              </a:rPr>
              <a:t>Key Points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444444"/>
                </a:solidFill>
              </a:rPr>
              <a:t>• BIM served as the central hub — all data originated from BIM Monthly, Weekly, and Daily databases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444444"/>
                </a:solidFill>
              </a:rPr>
              <a:t>• Data Sources (Exceed, HDS, external systems) fed BIM via SSIS ETL packages running on the 1st of each month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444444"/>
                </a:solidFill>
              </a:rPr>
              <a:t>• BIM fed Production Reporting tables consumed by SSRS and BOXI for report generation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444444"/>
                </a:solidFill>
              </a:rPr>
              <a:t>• PMIC Data Warehouse and PMIC Data Mart were downstream layers also sourced from BIM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444444"/>
                </a:solidFill>
              </a:rPr>
              <a:t>• Final reports (BOXI, SSRS, Tableau) were served from Production Reporting and PMIC Data Mart layers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444444"/>
                </a:solidFill>
              </a:rPr>
              <a:t>• FYPE received a separate data feed from BIM outside the standard reporting path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444444"/>
                </a:solidFill>
              </a:rPr>
              <a:t>• This BIM-centric design created a single point of failure — any ETL issue delayed all reporting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Current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A8A"/>
                </a:solidFill>
              </a:rPr>
              <a:t>End-to-End Data Flow — Business Sources to Enterprise Data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rch_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BIM to EDW-PROD Lineage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A8A"/>
                </a:solidFill>
              </a:rPr>
              <a:t>Migration Methodology — Tracing from BIM to AWM/DWM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B3ECDA6-A8A0-084C-C29E-91F0B91A2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79" y="1349498"/>
            <a:ext cx="11451663" cy="41590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Toolsets — Current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A8A"/>
                </a:solidFill>
              </a:rPr>
              <a:t>Developer, Analyst, Modeler, QA &amp; Reporting Stacks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arch_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1161288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8065" y="1418064"/>
            <a:ext cx="6875818" cy="403969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021" y="2660999"/>
            <a:ext cx="4355594" cy="403755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1467" y="1638551"/>
            <a:ext cx="6857572" cy="3580468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786" y="1201844"/>
            <a:ext cx="4808302" cy="40876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9EFF7-D83A-759E-8AC0-9B8C2D186AA9}"/>
              </a:ext>
            </a:extLst>
          </p:cNvPr>
          <p:cNvSpPr txBox="1"/>
          <p:nvPr/>
        </p:nvSpPr>
        <p:spPr>
          <a:xfrm>
            <a:off x="659869" y="2767106"/>
            <a:ext cx="2880077" cy="307190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New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38A1CA-BDE2-C731-EF55-4DF1179F6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255" y="1234752"/>
            <a:ext cx="7223866" cy="438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696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Our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A8A"/>
                </a:solidFill>
              </a:rPr>
              <a:t>Scope of Work — BIM Retirement &amp; Migration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9496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394960" cy="36576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BOXI → 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18488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Migrate 4 BOXI reports to Power BI per Ellen's requirement.
No AWM/DWM dependency — direct BIM to Power BI rebuild.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39496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188720"/>
            <a:ext cx="5394960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2344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BOXI / SSRS → Tableau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618488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Migrate remaining BOXI (3) and SSRS Proxy reports (3) to Tableau.
Source migrated from BIM to AWM/DWM.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520440"/>
            <a:ext cx="539496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3520440"/>
            <a:ext cx="5394960" cy="36576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5661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Tableau Consolidation
(Single Source Report)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950208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Consolidate 5 separate Tableau reports into one unified report.
Migrate data source from BIM to AWM/DWM.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520440"/>
            <a:ext cx="5394960" cy="22402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520440"/>
            <a:ext cx="5394960" cy="36576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35661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Agent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950208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</a:rPr>
              <a:t>Fix data issues in the existing Agent Dashboard SSRS report.
Reconcile and resolve BIM vs EDW (AWM/DWM) variances
across EP, WP, Inforce, and New Business.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What We Accomplished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A8A"/>
                </a:solidFill>
              </a:rPr>
              <a:t>Completed Migrations — All Reports Status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143000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BOXI → Power BI  (Ellen's Requirement)  |  4 Reports  | 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904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9653"/>
                </a:solidFill>
              </a:rPr>
              <a:t>✓  Agent Loss Experience Report (O0140A-M1A-P01)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2821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9653"/>
                </a:solidFill>
              </a:rPr>
              <a:t>✓  Agent Loss Experience Report — Current 12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9653"/>
                </a:solidFill>
              </a:rPr>
              <a:t>✓  Billing Accounts with Suspended Disbursements (O0169A-W1C-P01)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20370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9653"/>
                </a:solidFill>
              </a:rPr>
              <a:t>✓  Monthly Direct Sales Incentive Count Report (O0489A-M5P-P01)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87168"/>
            <a:ext cx="11430000" cy="3200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248716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BOXI / SSRS → Tableau  |  6 Reports  |  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346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9653"/>
                </a:solidFill>
              </a:rPr>
              <a:t>✓  Monthly Inforce Household and Policy Unit Counts (O0300A-M1C-P01)   |   Monthly Manual Write Off (O0242A-M1A-P01)   |   Monthly Write Off (O0302A-M1B-P01)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7238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9653"/>
                </a:solidFill>
              </a:rPr>
              <a:t>✓  Monthly_Proxy_Emailed_Detail   |   Monthly_Proxy_Emailer_Dashboard   |   Monthly_Proxy_Received_Detail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10712"/>
            <a:ext cx="11430000" cy="3200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41071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Tableau Consolidation — Single Source Report  |  5 → 1 Report  |  Complete (minor data issues)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5818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219653"/>
                </a:solidFill>
              </a:rPr>
              <a:t>Paper Report  |  Online Accounts - Household &amp; Paperless  |  Paperless Policies by State and Policy Type  |  Percent of Households with Online Accounts  |  Paperless Online Accounts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0325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67E22"/>
                </a:solidFill>
              </a:rPr>
              <a:t>→  Consolidated into one unified Tableau report. Source migrated from BIM to AWM/DWM.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07408"/>
            <a:ext cx="11430000" cy="32004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4407408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Other Tableau Dashboards  |  Complete / Partially Complete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54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✓  Engagement Dashboard   |   ◑  Quote to Purchase Online &amp; DIA (blocked — Salesforce table pending)   |   ◑  Online Accounts (UserEvents table pending)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66360"/>
            <a:ext cx="11430000" cy="3200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51663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  Agent Dashboard  |  Existing SSRS Report  |  Data Issue Resolution In 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5138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Reconciling BIM vs EDW variances across Earned Premium, Written Premium, Inforce, and New Business.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Single Source Tableau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21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A8A"/>
                </a:solidFill>
              </a:rPr>
              <a:t>Consolidation &amp; Migration — BIM to AWM/DWM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0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30352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B5C"/>
                </a:solidFill>
              </a:rPr>
              <a:t>Before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5 separate Tableau reports, each with independent BIM data connections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Duplicate logic and maintenance effort across reports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Source: BIM (Monthly ETL-dependent)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Reports:
  • Paper Report
  • Online Accounts - Household and Paperless
  • Paperless Policies by State and Policy Type
  • Percent of Households with Online Accounts
  • Paperless Online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0175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A8A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75120" y="1188720"/>
            <a:ext cx="512064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00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12280" y="1280160"/>
            <a:ext cx="48463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7A8A"/>
                </a:solidFill>
              </a:rPr>
              <a:t>After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1 unified Tableau report replacing all 5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Single shared AWM/DWM data source — no BIM dependency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Reduced maintenance and eliminated data inconsistency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Consistent definitions across all views in the report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Status: Complete 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4160520"/>
            <a:ext cx="512064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4251959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</a:rPr>
              <a:t>Pending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Minor data issues currently under investigation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444444"/>
                </a:solidFill>
              </a:rPr>
              <a:t>AWM/DWM source data validation ongoing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882</Words>
  <Application>Microsoft Office PowerPoint</Application>
  <PresentationFormat>Custom</PresentationFormat>
  <Paragraphs>82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Lingaraju, Samarth (US)</cp:lastModifiedBy>
  <cp:revision>5</cp:revision>
  <dcterms:created xsi:type="dcterms:W3CDTF">2013-01-27T09:14:16Z</dcterms:created>
  <dcterms:modified xsi:type="dcterms:W3CDTF">2026-05-04T19:33:47Z</dcterms:modified>
  <cp:category/>
</cp:coreProperties>
</file>