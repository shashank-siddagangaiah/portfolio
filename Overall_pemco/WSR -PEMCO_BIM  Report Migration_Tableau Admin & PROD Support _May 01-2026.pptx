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0"/>
  </p:notesMasterIdLst>
  <p:sldIdLst>
    <p:sldId id="816" r:id="rId5"/>
    <p:sldId id="818" r:id="rId6"/>
    <p:sldId id="832" r:id="rId7"/>
    <p:sldId id="831" r:id="rId8"/>
    <p:sldId id="81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BB6D4C-3171-E010-8693-725D3A410F61}" name="Arun Ramachandran" initials="AR" userId="S::arunvr@bourntec.com::43029a57-d95d-48ea-984c-72517728398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770A"/>
    <a:srgbClr val="DDDDDD"/>
    <a:srgbClr val="FFC000"/>
    <a:srgbClr val="FC8411"/>
    <a:srgbClr val="303E5D"/>
    <a:srgbClr val="CA4E67"/>
    <a:srgbClr val="1753AF"/>
    <a:srgbClr val="F15200"/>
    <a:srgbClr val="1B99D5"/>
    <a:srgbClr val="F69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69" autoAdjust="0"/>
    <p:restoredTop sz="94315" autoAdjust="0"/>
  </p:normalViewPr>
  <p:slideViewPr>
    <p:cSldViewPr snapToGrid="0">
      <p:cViewPr varScale="1">
        <p:scale>
          <a:sx n="120" d="100"/>
          <a:sy n="120" d="100"/>
        </p:scale>
        <p:origin x="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B62C72-70E9-44DD-8CC1-AD2C2458DE81}" type="datetimeFigureOut">
              <a:rPr lang="en-IN" smtClean="0"/>
              <a:t>04/05/26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27ECE9-3D0C-4603-8CAD-CF1518E49E85}" type="slidenum">
              <a:rPr lang="en-IN" smtClean="0"/>
              <a:t>‹#›</a:t>
            </a:fld>
            <a:endParaRPr lang="en-IN"/>
          </a:p>
        </p:txBody>
      </p:sp>
    </p:spTree>
    <p:extLst>
      <p:ext uri="{BB962C8B-B14F-4D97-AF65-F5344CB8AC3E}">
        <p14:creationId xmlns:p14="http://schemas.microsoft.com/office/powerpoint/2010/main" val="2009788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6E7AA-FA08-4885-A36F-04167890D3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4831D8-7CF9-4B21-A56A-A61A958AF2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4DE20A-A5CC-4B46-9D7C-02157C6704C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1248CC1-7063-4D0F-A8A6-21F4DE773C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46744-94D9-4101-99F0-699171586DB4}"/>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2034736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87EA-25D0-4E4A-80E4-56C326CE61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CD861D-FA20-47A8-8704-BFC8C507C9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288E79-A749-4A49-91D7-7E1AEC8FE64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2D172D9-7D8A-4F07-8AC8-31DC154A21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1F2F3-6C40-4357-B579-AE76013626B4}"/>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13221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08D6-A185-4EF5-BD77-B8DC126027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BA22E6-6FB9-435A-BBC7-329AF6CE7D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5D6E3B-62E4-4A2D-BFC0-3E37C201CBD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358EFE1-0A2E-4E2A-83DB-74D1F442A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722174-E903-4C66-A91A-A72F7E37F5A7}"/>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135276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F418-D67A-4B05-8073-B84CD6E60F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4FC9C4-5326-445D-9964-E9399DD981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8B6BDE-E57A-4579-BB0E-EE80015580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6FF7B2-35B5-4466-94B2-BC7F231159B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97FF7B7-C79E-43C9-8F9F-FB941EEE9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BEA9CC-9DC8-4825-9C8C-303759CB2630}"/>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3310433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75BC-F79F-4507-B94B-FFBA490EAE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462FB0-CA06-4103-9A46-50E095004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739D7D-96A1-4DBB-A1A3-0FCFCA3782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B1996-F237-4116-8073-2FBF4592B4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8D71B3-F8D2-499B-9BDB-DFF2D31F5B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2517E7-3B6F-4ABC-9CCE-2E88D68DA664}"/>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E3ED9B13-818D-4595-9421-2E424FEE55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19FB2B-A172-4A31-9984-E77D2952073C}"/>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208162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1107-431A-403F-9532-589E563DD7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C20694-DDF7-4958-899B-9BEB09EBC18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8B769EB-F25D-4308-8A40-0CFAB935B3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809358-CF38-4F9A-A72A-7EB8CDB0CCE3}"/>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1303555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B68E5ABC-9242-5FF6-1A16-77E544B23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29484" y="-9236"/>
            <a:ext cx="2303832" cy="1209512"/>
          </a:xfrm>
          <a:prstGeom prst="rect">
            <a:avLst/>
          </a:prstGeom>
        </p:spPr>
      </p:pic>
      <p:pic>
        <p:nvPicPr>
          <p:cNvPr id="6" name="Graphic 5">
            <a:extLst>
              <a:ext uri="{FF2B5EF4-FFF2-40B4-BE49-F238E27FC236}">
                <a16:creationId xmlns:a16="http://schemas.microsoft.com/office/drawing/2014/main" id="{10E4350E-194B-51E7-693B-19E7568DC1D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815926" y="5360509"/>
            <a:ext cx="3455748" cy="1497491"/>
          </a:xfrm>
          <a:prstGeom prst="rect">
            <a:avLst/>
          </a:prstGeom>
        </p:spPr>
      </p:pic>
      <p:sp>
        <p:nvSpPr>
          <p:cNvPr id="2" name="Date Placeholder 1">
            <a:extLst>
              <a:ext uri="{FF2B5EF4-FFF2-40B4-BE49-F238E27FC236}">
                <a16:creationId xmlns:a16="http://schemas.microsoft.com/office/drawing/2014/main" id="{AC8555E4-C868-401E-935D-C012447911C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CDC0A11-9F03-4DDA-90DE-FD2ACB871E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FCE713-F107-4D6B-924C-89304FBDA186}"/>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1274571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7993E-CED8-4EA1-A908-53789AD7A0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5F7F9E-CD82-4116-8966-AC2747A2EB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60C131-98B0-4866-88A3-FAD0DAE590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CD14C-1C4D-4FA9-9279-C3B8FD41408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BEA36AF-4022-4FEB-AB74-1F0BDC70FD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A4170D-87E0-4E17-BE45-B8503ADB9F1F}"/>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3051538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49B6D-F7C4-4333-AA5A-00878C3A2A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41DD0A-9977-4421-BC84-8F0E2D23E0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DFFFB1-D775-4103-8BD3-AD5EB75F9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517CB-AE17-44EF-B876-9FD96A41456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508C471-FA33-4A65-86A1-8B3D0ADF66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58CA50-1F97-43BA-A30F-DD71FE649A7C}"/>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395991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18D50-2B5E-45B4-ADBE-E82F3029B5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8CB97C-3D85-4D0F-B313-F62E2A71BF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5EEF62-C541-4F73-9C6E-385FC6DC17D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8A8EEAA-9778-45DB-9E97-E9A7C127B6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928CC6-3F6F-416E-8753-11E160D43AE2}"/>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171753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6798E8-8D18-4A2A-A53B-8EBBCABFB1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CE275F-8A7B-438E-BEED-722571B4FD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8DC70-F6FE-4AEF-A89A-7296C429BF6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C9EA59E-046B-4E99-9F5C-B78E4402C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20AD57-1EB9-4703-B3D6-783FFD424756}"/>
              </a:ext>
            </a:extLst>
          </p:cNvPr>
          <p:cNvSpPr>
            <a:spLocks noGrp="1"/>
          </p:cNvSpPr>
          <p:nvPr>
            <p:ph type="sldNum" sz="quarter" idx="12"/>
          </p:nvPr>
        </p:nvSpPr>
        <p:spPr/>
        <p:txBody>
          <a:bodyPr/>
          <a:lstStyle/>
          <a:p>
            <a:fld id="{04329678-077B-4687-BED6-FC49195236EC}" type="slidenum">
              <a:rPr lang="en-US" smtClean="0"/>
              <a:t>‹#›</a:t>
            </a:fld>
            <a:endParaRPr lang="en-US"/>
          </a:p>
        </p:txBody>
      </p:sp>
    </p:spTree>
    <p:extLst>
      <p:ext uri="{BB962C8B-B14F-4D97-AF65-F5344CB8AC3E}">
        <p14:creationId xmlns:p14="http://schemas.microsoft.com/office/powerpoint/2010/main" val="3698851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DEDAF4-5F21-4E9A-9D3B-3C90B13300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A80D87-0539-43D2-AB0B-39D41C1FC4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D337C-A39E-4AEF-97F4-B3733F9554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A2329CD-81F7-431F-B522-D50DF83C72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2D20D4-5BD8-4427-B9D8-17F58D7DF1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329678-077B-4687-BED6-FC49195236EC}" type="slidenum">
              <a:rPr lang="en-US" smtClean="0"/>
              <a:t>‹#›</a:t>
            </a:fld>
            <a:endParaRPr lang="en-US"/>
          </a:p>
        </p:txBody>
      </p:sp>
    </p:spTree>
    <p:extLst>
      <p:ext uri="{BB962C8B-B14F-4D97-AF65-F5344CB8AC3E}">
        <p14:creationId xmlns:p14="http://schemas.microsoft.com/office/powerpoint/2010/main" val="41992593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Logo&#10;&#10;Description automatically generated">
            <a:extLst>
              <a:ext uri="{FF2B5EF4-FFF2-40B4-BE49-F238E27FC236}">
                <a16:creationId xmlns:a16="http://schemas.microsoft.com/office/drawing/2014/main" id="{8C15FA7C-C95E-B193-E74B-5CE0852DB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9667" y="374142"/>
            <a:ext cx="3270890" cy="526191"/>
          </a:xfrm>
          <a:prstGeom prst="rect">
            <a:avLst/>
          </a:prstGeom>
        </p:spPr>
      </p:pic>
      <p:sp>
        <p:nvSpPr>
          <p:cNvPr id="2" name="Slide Number Placeholder 1">
            <a:extLst>
              <a:ext uri="{FF2B5EF4-FFF2-40B4-BE49-F238E27FC236}">
                <a16:creationId xmlns:a16="http://schemas.microsoft.com/office/drawing/2014/main" id="{AB2358A6-1E0F-FF86-AE8F-CA42EC86927E}"/>
              </a:ext>
            </a:extLst>
          </p:cNvPr>
          <p:cNvSpPr>
            <a:spLocks noGrp="1"/>
          </p:cNvSpPr>
          <p:nvPr>
            <p:ph type="sldNum" sz="quarter" idx="12"/>
          </p:nvPr>
        </p:nvSpPr>
        <p:spPr/>
        <p:txBody>
          <a:bodyPr/>
          <a:lstStyle/>
          <a:p>
            <a:fld id="{04329678-077B-4687-BED6-FC49195236EC}" type="slidenum">
              <a:rPr lang="en-US" smtClean="0"/>
              <a:t>1</a:t>
            </a:fld>
            <a:endParaRPr lang="en-US"/>
          </a:p>
        </p:txBody>
      </p:sp>
      <p:cxnSp>
        <p:nvCxnSpPr>
          <p:cNvPr id="5" name="Straight Connector 4">
            <a:extLst>
              <a:ext uri="{FF2B5EF4-FFF2-40B4-BE49-F238E27FC236}">
                <a16:creationId xmlns:a16="http://schemas.microsoft.com/office/drawing/2014/main" id="{3014D84B-9CA7-5216-10B2-0BE381E58521}"/>
              </a:ext>
            </a:extLst>
          </p:cNvPr>
          <p:cNvCxnSpPr/>
          <p:nvPr/>
        </p:nvCxnSpPr>
        <p:spPr>
          <a:xfrm>
            <a:off x="8412480" y="311429"/>
            <a:ext cx="0" cy="707886"/>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A73C3EF-E802-A03E-15CE-41246DE963CE}"/>
              </a:ext>
            </a:extLst>
          </p:cNvPr>
          <p:cNvSpPr txBox="1"/>
          <p:nvPr/>
        </p:nvSpPr>
        <p:spPr>
          <a:xfrm>
            <a:off x="3649134" y="2401155"/>
            <a:ext cx="5359399" cy="1261884"/>
          </a:xfrm>
          <a:prstGeom prst="rect">
            <a:avLst/>
          </a:prstGeom>
          <a:noFill/>
        </p:spPr>
        <p:txBody>
          <a:bodyPr wrap="square" rtlCol="0">
            <a:spAutoFit/>
          </a:bodyPr>
          <a:lstStyle/>
          <a:p>
            <a:r>
              <a:rPr lang="en-IN" sz="2800" b="1" dirty="0"/>
              <a:t>Weekly  Status Report </a:t>
            </a:r>
          </a:p>
          <a:p>
            <a:pPr marL="457200" indent="-457200">
              <a:buFontTx/>
              <a:buChar char="-"/>
            </a:pPr>
            <a:r>
              <a:rPr lang="en-IN" sz="2400" b="1" dirty="0"/>
              <a:t>PEMCO BIM &amp; Report Migration</a:t>
            </a:r>
          </a:p>
          <a:p>
            <a:pPr marL="457200" indent="-457200">
              <a:buFontTx/>
              <a:buChar char="-"/>
            </a:pPr>
            <a:r>
              <a:rPr lang="en-IN" sz="2400" b="1" dirty="0"/>
              <a:t>Tableau Admin &amp; PROD Support</a:t>
            </a:r>
          </a:p>
        </p:txBody>
      </p:sp>
      <p:sp>
        <p:nvSpPr>
          <p:cNvPr id="7" name="Text Placeholder 2">
            <a:extLst>
              <a:ext uri="{FF2B5EF4-FFF2-40B4-BE49-F238E27FC236}">
                <a16:creationId xmlns:a16="http://schemas.microsoft.com/office/drawing/2014/main" id="{F48A8087-D4B1-EDE0-946F-499D466CD541}"/>
              </a:ext>
            </a:extLst>
          </p:cNvPr>
          <p:cNvSpPr txBox="1">
            <a:spLocks/>
          </p:cNvSpPr>
          <p:nvPr/>
        </p:nvSpPr>
        <p:spPr>
          <a:xfrm>
            <a:off x="3224114" y="3825903"/>
            <a:ext cx="3370998" cy="70788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a:p>
            <a:pPr algn="r"/>
            <a:r>
              <a:rPr lang="en-US" sz="2000" dirty="0"/>
              <a:t>May 01 , 2026</a:t>
            </a:r>
          </a:p>
        </p:txBody>
      </p:sp>
      <p:pic>
        <p:nvPicPr>
          <p:cNvPr id="8" name="Picture 7" descr="A white sign with blue text&#10;&#10;AI-generated content may be incorrect.">
            <a:extLst>
              <a:ext uri="{FF2B5EF4-FFF2-40B4-BE49-F238E27FC236}">
                <a16:creationId xmlns:a16="http://schemas.microsoft.com/office/drawing/2014/main" id="{1EF4B658-00AA-C406-1119-B24164756E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320902"/>
            <a:ext cx="1904762" cy="698413"/>
          </a:xfrm>
          <a:prstGeom prst="rect">
            <a:avLst/>
          </a:prstGeom>
        </p:spPr>
      </p:pic>
    </p:spTree>
    <p:extLst>
      <p:ext uri="{BB962C8B-B14F-4D97-AF65-F5344CB8AC3E}">
        <p14:creationId xmlns:p14="http://schemas.microsoft.com/office/powerpoint/2010/main" val="3431651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2DB251-2CD1-E198-FF0E-261E587FEEC9}"/>
              </a:ext>
            </a:extLst>
          </p:cNvPr>
          <p:cNvSpPr>
            <a:spLocks noGrp="1"/>
          </p:cNvSpPr>
          <p:nvPr>
            <p:ph type="sldNum" sz="quarter" idx="12"/>
          </p:nvPr>
        </p:nvSpPr>
        <p:spPr>
          <a:xfrm>
            <a:off x="11500674" y="6602608"/>
            <a:ext cx="502417" cy="255392"/>
          </a:xfrm>
        </p:spPr>
        <p:txBody>
          <a:bodyPr/>
          <a:lstStyle/>
          <a:p>
            <a:fld id="{04329678-077B-4687-BED6-FC49195236EC}" type="slidenum">
              <a:rPr lang="en-US" smtClean="0"/>
              <a:t>2</a:t>
            </a:fld>
            <a:endParaRPr lang="en-US" dirty="0"/>
          </a:p>
        </p:txBody>
      </p:sp>
      <p:sp>
        <p:nvSpPr>
          <p:cNvPr id="3" name="Title 1">
            <a:extLst>
              <a:ext uri="{FF2B5EF4-FFF2-40B4-BE49-F238E27FC236}">
                <a16:creationId xmlns:a16="http://schemas.microsoft.com/office/drawing/2014/main" id="{8C935F14-A586-97D2-266F-5A34ADCDCC2A}"/>
              </a:ext>
            </a:extLst>
          </p:cNvPr>
          <p:cNvSpPr txBox="1">
            <a:spLocks/>
          </p:cNvSpPr>
          <p:nvPr/>
        </p:nvSpPr>
        <p:spPr>
          <a:xfrm>
            <a:off x="0" y="187617"/>
            <a:ext cx="7107865" cy="488614"/>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sz="4400" b="1" i="0" kern="1200">
                <a:solidFill>
                  <a:schemeClr val="tx1"/>
                </a:solidFill>
                <a:latin typeface="IBM Plex Sans Medium" panose="020B0503050000000000" pitchFamily="34" charset="77"/>
                <a:ea typeface="+mj-ea"/>
                <a:cs typeface="+mj-cs"/>
              </a:defRPr>
            </a:lvl1pPr>
          </a:lstStyle>
          <a:p>
            <a:r>
              <a:rPr lang="en-IN" sz="2800" b="1" dirty="0"/>
              <a:t>BIM &amp; Report Migration </a:t>
            </a:r>
            <a:r>
              <a:rPr lang="en-US" sz="2800" dirty="0">
                <a:latin typeface="+mn-lt"/>
              </a:rPr>
              <a:t>Project Status</a:t>
            </a:r>
          </a:p>
        </p:txBody>
      </p:sp>
      <p:graphicFrame>
        <p:nvGraphicFramePr>
          <p:cNvPr id="4" name="Content Placeholder 19">
            <a:extLst>
              <a:ext uri="{FF2B5EF4-FFF2-40B4-BE49-F238E27FC236}">
                <a16:creationId xmlns:a16="http://schemas.microsoft.com/office/drawing/2014/main" id="{81A3419D-4EEA-AFA4-2BAA-99702F626F1D}"/>
              </a:ext>
            </a:extLst>
          </p:cNvPr>
          <p:cNvGraphicFramePr>
            <a:graphicFrameLocks/>
          </p:cNvGraphicFramePr>
          <p:nvPr>
            <p:extLst>
              <p:ext uri="{D42A27DB-BD31-4B8C-83A1-F6EECF244321}">
                <p14:modId xmlns:p14="http://schemas.microsoft.com/office/powerpoint/2010/main" val="1049640464"/>
              </p:ext>
            </p:extLst>
          </p:nvPr>
        </p:nvGraphicFramePr>
        <p:xfrm>
          <a:off x="112543" y="1646296"/>
          <a:ext cx="11890548" cy="5275712"/>
        </p:xfrm>
        <a:graphic>
          <a:graphicData uri="http://schemas.openxmlformats.org/drawingml/2006/table">
            <a:tbl>
              <a:tblPr bandRow="1">
                <a:tableStyleId>{5C22544A-7EE6-4342-B048-85BDC9FD1C3A}</a:tableStyleId>
              </a:tblPr>
              <a:tblGrid>
                <a:gridCol w="11890548">
                  <a:extLst>
                    <a:ext uri="{9D8B030D-6E8A-4147-A177-3AD203B41FA5}">
                      <a16:colId xmlns:a16="http://schemas.microsoft.com/office/drawing/2014/main" val="20000"/>
                    </a:ext>
                  </a:extLst>
                </a:gridCol>
              </a:tblGrid>
              <a:tr h="5275712">
                <a:tc>
                  <a:txBody>
                    <a:bodyPr/>
                    <a:lstStyle/>
                    <a:p>
                      <a:r>
                        <a:rPr lang="en-US" sz="1200" b="1" u="sng" dirty="0">
                          <a:solidFill>
                            <a:schemeClr val="accent1"/>
                          </a:solidFill>
                          <a:latin typeface="IBM Plex Sans"/>
                        </a:rPr>
                        <a:t>Tasks/Activities completed this week:</a:t>
                      </a:r>
                    </a:p>
                    <a:p>
                      <a:pPr marL="285750" indent="-285750" algn="l" defTabSz="914400" rtl="0" eaLnBrk="1" latinLnBrk="0" hangingPunct="1">
                        <a:buFont typeface="Arial" panose="020B0604020202020204" pitchFamily="34" charset="0"/>
                        <a:buChar char="•"/>
                      </a:pPr>
                      <a:r>
                        <a:rPr lang="en-US" sz="1200" dirty="0"/>
                        <a:t>Analysis of individual policies that are uncommon in BIM vs EDW for understanding both Earned Premium, Written Premium, and Average Written Premium variances  -In Progress</a:t>
                      </a:r>
                      <a:endParaRPr lang="en-US" sz="1200" dirty="0">
                        <a:effectLst/>
                      </a:endParaRPr>
                    </a:p>
                    <a:p>
                      <a:pPr marL="285750" indent="-285750" algn="l" defTabSz="914400" rtl="0" eaLnBrk="1" latinLnBrk="0" hangingPunct="1">
                        <a:buFont typeface="Arial" panose="020B0604020202020204" pitchFamily="34" charset="0"/>
                        <a:buChar char="•"/>
                      </a:pPr>
                      <a:r>
                        <a:rPr lang="en-US" sz="1200" b="0" u="none" strike="noStrike" kern="1200" dirty="0">
                          <a:solidFill>
                            <a:srgbClr val="000000"/>
                          </a:solidFill>
                          <a:effectLst/>
                          <a:latin typeface="+mn-lt"/>
                          <a:ea typeface="+mn-ea"/>
                          <a:cs typeface="+mn-cs"/>
                        </a:rPr>
                        <a:t>Built and executed AWM vs. BIM dimension validation for the Online Accounts Report [Active accounts].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rgbClr val="000000"/>
                          </a:solidFill>
                          <a:effectLst/>
                          <a:latin typeface="+mn-lt"/>
                          <a:ea typeface="+mn-ea"/>
                          <a:cs typeface="+mn-cs"/>
                        </a:rPr>
                        <a:t>Development of Self-Service Accounts Query for Online Accounts Tableau Report – In Progress.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Completed AWM rewrite of Active Accounts query; resolved count gaps flagged last week.</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Self-Service Accounts query (AWM rewrite) — 4 </a:t>
                      </a:r>
                      <a:r>
                        <a:rPr lang="en-US" sz="1200" dirty="0" err="1"/>
                        <a:t>DateTypes</a:t>
                      </a:r>
                      <a:r>
                        <a:rPr lang="en-US" sz="1200" dirty="0"/>
                        <a:t> built; Employee/Supervisor dimension validation underway, gaps vs BIM under investigation - In Progress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Username/email mismatch investigation ongoing — paused pending CIF indicator resolution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DevOps #10686 (#10468) remains blocked — AWM truncation fix scheduled for next week's release; downstream work (SQL finalization → destination table → validation → Tableau build) on hold until resolved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u="none" strike="noStrike" kern="1200" dirty="0">
                        <a:solidFill>
                          <a:srgbClr val="000000"/>
                        </a:solidFill>
                        <a:effectLst/>
                        <a:latin typeface="+mn-lt"/>
                        <a:ea typeface="+mn-ea"/>
                        <a:cs typeface="+mn-cs"/>
                      </a:endParaRPr>
                    </a:p>
                    <a:p>
                      <a:pPr marL="0" indent="0" algn="l" defTabSz="914400" rtl="0" eaLnBrk="1" latinLnBrk="0" hangingPunct="1">
                        <a:buFont typeface="Arial" panose="020B0604020202020204" pitchFamily="34" charset="0"/>
                        <a:buNone/>
                      </a:pPr>
                      <a:r>
                        <a:rPr lang="en-US" sz="1200" b="1" u="sng" kern="1200" dirty="0">
                          <a:solidFill>
                            <a:schemeClr val="accent1"/>
                          </a:solidFill>
                          <a:latin typeface="IBM Plex Sans"/>
                          <a:ea typeface="+mn-ea"/>
                          <a:cs typeface="+mn-cs"/>
                        </a:rPr>
                        <a:t>Reports published to PROD: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dirty="0">
                          <a:solidFill>
                            <a:srgbClr val="000000"/>
                          </a:solidFill>
                          <a:effectLst/>
                        </a:rPr>
                        <a:t>Monthly </a:t>
                      </a:r>
                      <a:r>
                        <a:rPr lang="en-US" sz="1200" b="0" u="none" strike="noStrike" dirty="0" err="1">
                          <a:solidFill>
                            <a:srgbClr val="000000"/>
                          </a:solidFill>
                          <a:effectLst/>
                        </a:rPr>
                        <a:t>Inforce</a:t>
                      </a:r>
                      <a:r>
                        <a:rPr lang="en-US" sz="1200" b="0" u="none" strike="noStrike" dirty="0">
                          <a:solidFill>
                            <a:srgbClr val="000000"/>
                          </a:solidFill>
                          <a:effectLst/>
                        </a:rPr>
                        <a:t> Household and Policy Unit Counts Report (O0300A-M1C-P01)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dirty="0">
                          <a:solidFill>
                            <a:srgbClr val="000000"/>
                          </a:solidFill>
                          <a:effectLst/>
                        </a:rPr>
                        <a:t>Monthly Manual Write Off Report (O0242A-M1A-P01)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dirty="0">
                          <a:solidFill>
                            <a:srgbClr val="000000"/>
                          </a:solidFill>
                          <a:effectLst/>
                        </a:rPr>
                        <a:t>Monthly Write Off Report (O0302A-M1B-P01)</a:t>
                      </a:r>
                      <a:endParaRPr lang="en-US" sz="1200" b="0" i="0" u="none" strike="noStrike" dirty="0">
                        <a:solidFill>
                          <a:srgbClr val="000000"/>
                        </a:solidFill>
                        <a:effectLst/>
                        <a:latin typeface="Aptos Narrow" panose="020B00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dirty="0">
                          <a:solidFill>
                            <a:srgbClr val="000000"/>
                          </a:solidFill>
                          <a:effectLst/>
                        </a:rPr>
                        <a:t>Engagement Dashboard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rgbClr val="000000"/>
                          </a:solidFill>
                          <a:effectLst/>
                          <a:latin typeface="+mn-lt"/>
                          <a:ea typeface="+mn-ea"/>
                          <a:cs typeface="+mn-cs"/>
                        </a:rPr>
                        <a:t>Quote to Purchase Online and DIA</a:t>
                      </a:r>
                    </a:p>
                    <a:p>
                      <a:pPr marL="171450" indent="-171450" algn="l" fontAlgn="b">
                        <a:buFont typeface="Arial" panose="020B0604020202020204" pitchFamily="34" charset="0"/>
                        <a:buChar char="•"/>
                      </a:pPr>
                      <a:r>
                        <a:rPr lang="en-US" sz="1200" b="0" u="none" strike="noStrike" dirty="0" err="1">
                          <a:solidFill>
                            <a:srgbClr val="000000"/>
                          </a:solidFill>
                          <a:effectLst/>
                        </a:rPr>
                        <a:t>Monthly_Proxy_Emailed_Detail</a:t>
                      </a:r>
                      <a:endParaRPr lang="en-US" sz="1200" b="0" i="0" u="none" strike="noStrike" dirty="0">
                        <a:solidFill>
                          <a:srgbClr val="000000"/>
                        </a:solidFill>
                        <a:effectLst/>
                        <a:latin typeface="Aptos Narrow" panose="020B00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dirty="0" err="1">
                          <a:solidFill>
                            <a:srgbClr val="000000"/>
                          </a:solidFill>
                          <a:effectLst/>
                        </a:rPr>
                        <a:t>Monthly_Proxy_Emailer_Dashboard</a:t>
                      </a:r>
                      <a:endParaRPr lang="en-US" sz="1200" b="0" u="none" strike="noStrike" dirty="0">
                        <a:solidFill>
                          <a:srgbClr val="0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dirty="0" err="1">
                          <a:solidFill>
                            <a:srgbClr val="000000"/>
                          </a:solidFill>
                          <a:effectLst/>
                        </a:rPr>
                        <a:t>Monthly_Proxy_Received_Detail</a:t>
                      </a:r>
                      <a:endParaRPr lang="en-US" sz="1200" b="0" u="none" strike="noStrike" dirty="0">
                        <a:solidFill>
                          <a:srgbClr val="0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ISO Quota Determination: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 data variance related to the </a:t>
                      </a:r>
                      <a:r>
                        <a:rPr lang="en-US" sz="1200" b="1" dirty="0"/>
                        <a:t>Car Years</a:t>
                      </a:r>
                      <a:r>
                        <a:rPr lang="en-US" sz="1200" dirty="0"/>
                        <a:t> query was discussed with Carly, and the validation task has been handed over to her to assign a resource.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Youthful Driver Premium </a:t>
                      </a:r>
                      <a:r>
                        <a:rPr lang="en-US" sz="1200" dirty="0"/>
                        <a:t>query Results have been validated, documented, and handed over.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u="none" strike="noStrike" dirty="0">
                        <a:solidFill>
                          <a:srgbClr val="00000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0" i="0" u="none" strike="noStrike" dirty="0">
                        <a:solidFill>
                          <a:srgbClr val="00000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0" i="0" u="none" strike="noStrike" dirty="0">
                        <a:solidFill>
                          <a:srgbClr val="000000"/>
                        </a:solidFill>
                        <a:effectLst/>
                        <a:latin typeface="Aptos Narrow" panose="020B0004020202020204" pitchFamily="34" charset="0"/>
                      </a:endParaRPr>
                    </a:p>
                    <a:p>
                      <a:pPr marL="0" indent="0">
                        <a:buFont typeface="Arial" panose="020B0604020202020204" pitchFamily="34" charset="0"/>
                        <a:buNone/>
                      </a:pPr>
                      <a:endParaRPr lang="en-US" sz="14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0" u="sng" kern="1200" dirty="0">
                        <a:solidFill>
                          <a:schemeClr val="accent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0" u="sng" kern="1200" dirty="0">
                        <a:solidFill>
                          <a:schemeClr val="accen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pic>
        <p:nvPicPr>
          <p:cNvPr id="8" name="Picture 7" descr="Logo&#10;&#10;Description automatically generated">
            <a:extLst>
              <a:ext uri="{FF2B5EF4-FFF2-40B4-BE49-F238E27FC236}">
                <a16:creationId xmlns:a16="http://schemas.microsoft.com/office/drawing/2014/main" id="{07EE85A0-233C-E6A1-4C04-19C98AAFF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7683" y="185008"/>
            <a:ext cx="1694352" cy="272572"/>
          </a:xfrm>
          <a:prstGeom prst="rect">
            <a:avLst/>
          </a:prstGeom>
        </p:spPr>
      </p:pic>
      <p:graphicFrame>
        <p:nvGraphicFramePr>
          <p:cNvPr id="23" name="Group 93">
            <a:extLst>
              <a:ext uri="{FF2B5EF4-FFF2-40B4-BE49-F238E27FC236}">
                <a16:creationId xmlns:a16="http://schemas.microsoft.com/office/drawing/2014/main" id="{D939DEC7-974D-DC31-6C38-B8591FAA0CD7}"/>
              </a:ext>
            </a:extLst>
          </p:cNvPr>
          <p:cNvGraphicFramePr>
            <a:graphicFrameLocks noGrp="1"/>
          </p:cNvGraphicFramePr>
          <p:nvPr>
            <p:extLst>
              <p:ext uri="{D42A27DB-BD31-4B8C-83A1-F6EECF244321}">
                <p14:modId xmlns:p14="http://schemas.microsoft.com/office/powerpoint/2010/main" val="1645315965"/>
              </p:ext>
            </p:extLst>
          </p:nvPr>
        </p:nvGraphicFramePr>
        <p:xfrm>
          <a:off x="112543" y="705290"/>
          <a:ext cx="11890548" cy="946150"/>
        </p:xfrm>
        <a:graphic>
          <a:graphicData uri="http://schemas.openxmlformats.org/drawingml/2006/table">
            <a:tbl>
              <a:tblPr/>
              <a:tblGrid>
                <a:gridCol w="2194283">
                  <a:extLst>
                    <a:ext uri="{9D8B030D-6E8A-4147-A177-3AD203B41FA5}">
                      <a16:colId xmlns:a16="http://schemas.microsoft.com/office/drawing/2014/main" val="20000"/>
                    </a:ext>
                  </a:extLst>
                </a:gridCol>
                <a:gridCol w="6196017">
                  <a:extLst>
                    <a:ext uri="{9D8B030D-6E8A-4147-A177-3AD203B41FA5}">
                      <a16:colId xmlns:a16="http://schemas.microsoft.com/office/drawing/2014/main" val="20001"/>
                    </a:ext>
                  </a:extLst>
                </a:gridCol>
                <a:gridCol w="1598671">
                  <a:extLst>
                    <a:ext uri="{9D8B030D-6E8A-4147-A177-3AD203B41FA5}">
                      <a16:colId xmlns:a16="http://schemas.microsoft.com/office/drawing/2014/main" val="20004"/>
                    </a:ext>
                  </a:extLst>
                </a:gridCol>
                <a:gridCol w="1901577">
                  <a:extLst>
                    <a:ext uri="{9D8B030D-6E8A-4147-A177-3AD203B41FA5}">
                      <a16:colId xmlns:a16="http://schemas.microsoft.com/office/drawing/2014/main" val="20005"/>
                    </a:ext>
                  </a:extLst>
                </a:gridCol>
              </a:tblGrid>
              <a:tr h="3048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kern="1200" cap="none" normalizeH="0" baseline="0" dirty="0">
                          <a:ln>
                            <a:noFill/>
                          </a:ln>
                          <a:solidFill>
                            <a:srgbClr val="000066"/>
                          </a:solidFill>
                          <a:effectLst/>
                          <a:latin typeface="+mn-lt"/>
                          <a:ea typeface="+mn-ea"/>
                          <a:cs typeface="+mn-cs"/>
                        </a:rPr>
                        <a:t>Project Name</a:t>
                      </a: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kern="1200" cap="none" normalizeH="0" baseline="0" dirty="0">
                          <a:ln>
                            <a:noFill/>
                          </a:ln>
                          <a:solidFill>
                            <a:srgbClr val="000066"/>
                          </a:solidFill>
                          <a:effectLst/>
                          <a:latin typeface="+mn-lt"/>
                          <a:ea typeface="+mn-ea"/>
                          <a:cs typeface="+mn-cs"/>
                        </a:rPr>
                        <a:t>   PEMCO BIM retirement [Data architecture, reporting, Tableau reports]</a:t>
                      </a: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eaLnBrk="1" fontAlgn="base" latinLnBrk="0" hangingPunct="1">
                        <a:lnSpc>
                          <a:spcPct val="100000"/>
                        </a:lnSpc>
                        <a:spcBef>
                          <a:spcPct val="20000"/>
                        </a:spcBef>
                        <a:spcAft>
                          <a:spcPct val="0"/>
                        </a:spcAft>
                        <a:buFontTx/>
                        <a:buNone/>
                      </a:pPr>
                      <a:r>
                        <a:rPr kumimoji="0" lang="en-US" sz="1200" b="1" i="0" u="none" strike="noStrike" kern="1200" cap="none" normalizeH="0" baseline="0" dirty="0">
                          <a:ln>
                            <a:noFill/>
                          </a:ln>
                          <a:solidFill>
                            <a:srgbClr val="000066"/>
                          </a:solidFill>
                          <a:effectLst/>
                          <a:latin typeface="+mn-lt"/>
                          <a:ea typeface="+mn-ea"/>
                          <a:cs typeface="+mn-cs"/>
                        </a:rPr>
                        <a:t>Week</a:t>
                      </a:r>
                      <a:r>
                        <a:rPr lang="en-US" sz="1200" b="1" i="0" u="none" strike="noStrike" kern="1200" cap="none" normalizeH="0" baseline="0" dirty="0">
                          <a:ln>
                            <a:noFill/>
                          </a:ln>
                          <a:solidFill>
                            <a:srgbClr val="000066"/>
                          </a:solidFill>
                          <a:effectLst/>
                          <a:latin typeface="+mn-lt"/>
                          <a:ea typeface="+mn-ea"/>
                          <a:cs typeface="+mn-cs"/>
                        </a:rPr>
                        <a:t> </a:t>
                      </a:r>
                      <a:r>
                        <a:rPr kumimoji="0" lang="en-US" sz="1200" b="1" i="0" u="none" strike="noStrike" kern="1200" cap="none" normalizeH="0" baseline="0" dirty="0">
                          <a:ln>
                            <a:noFill/>
                          </a:ln>
                          <a:solidFill>
                            <a:srgbClr val="000066"/>
                          </a:solidFill>
                          <a:effectLst/>
                          <a:latin typeface="+mn-lt"/>
                          <a:ea typeface="+mn-ea"/>
                          <a:cs typeface="+mn-cs"/>
                        </a:rPr>
                        <a:t> Ending</a:t>
                      </a: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kern="1200" cap="none" normalizeH="0" baseline="0" dirty="0">
                          <a:ln>
                            <a:noFill/>
                          </a:ln>
                          <a:solidFill>
                            <a:srgbClr val="000066"/>
                          </a:solidFill>
                          <a:effectLst/>
                          <a:latin typeface="+mn-lt"/>
                          <a:ea typeface="+mn-ea"/>
                          <a:cs typeface="+mn-cs"/>
                        </a:rPr>
                        <a:t>May 01, 2026 </a:t>
                      </a: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067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a:ln>
                            <a:noFill/>
                          </a:ln>
                          <a:solidFill>
                            <a:srgbClr val="000066"/>
                          </a:solidFill>
                          <a:effectLst/>
                          <a:latin typeface="+mn-lt"/>
                        </a:rPr>
                        <a:t>Overall Project Health</a:t>
                      </a: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DDDDDD"/>
                    </a:solidFill>
                  </a:tcPr>
                </a:tc>
                <a:tc gridSpan="3">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IBM Plex Sans" panose="020B0503050000000000" pitchFamily="34" charset="77"/>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hMerge="1">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200" b="1" i="0" u="none" strike="noStrike" cap="none" normalizeH="0" baseline="0">
                        <a:ln>
                          <a:noFill/>
                        </a:ln>
                        <a:solidFill>
                          <a:schemeClr val="tx1"/>
                        </a:solidFill>
                        <a:effectLst/>
                        <a:latin typeface="Calibri" pitchFamily="34" charset="0"/>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hMerge="1">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alibri" pitchFamily="34" charset="0"/>
                      </a:endParaRP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0675">
                <a:tc gridSpan="4">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sz="1200" b="1" kern="1200" dirty="0">
                          <a:solidFill>
                            <a:srgbClr val="000072"/>
                          </a:solidFill>
                          <a:latin typeface="+mn-lt"/>
                          <a:ea typeface="+mn-ea"/>
                          <a:cs typeface="+mn-cs"/>
                        </a:rPr>
                        <a:t>Next Milestone: Completion of Requirements for all reports</a:t>
                      </a:r>
                      <a:endParaRPr lang="en-US" sz="1200" kern="1200" dirty="0">
                        <a:solidFill>
                          <a:schemeClr val="dk1"/>
                        </a:solidFill>
                        <a:latin typeface="+mn-lt"/>
                        <a:ea typeface="+mn-ea"/>
                        <a:cs typeface="+mn-cs"/>
                      </a:endParaRPr>
                    </a:p>
                  </a:txBody>
                  <a:tcPr anchor="ctr" horzOverflow="overflow">
                    <a:lnL w="12700" cap="flat" cmpd="sng" algn="ctr">
                      <a:solidFill>
                        <a:sysClr val="windowText" lastClr="000000"/>
                      </a:solidFill>
                      <a:prstDash val="solid"/>
                      <a:round/>
                      <a:headEnd type="none" w="med" len="med"/>
                      <a:tailEnd type="none" w="med" len="med"/>
                    </a:lnL>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DDDDDD"/>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100" b="1" i="0" u="none" strike="noStrike" cap="none" normalizeH="0" baseline="0" dirty="0">
                        <a:ln>
                          <a:noFill/>
                        </a:ln>
                        <a:solidFill>
                          <a:schemeClr val="tx1"/>
                        </a:solidFill>
                        <a:effectLst/>
                        <a:latin typeface="IBM Plex Sans" panose="020B0503050000000000" pitchFamily="34" charset="77"/>
                      </a:endParaRPr>
                    </a:p>
                  </a:txBody>
                  <a:tcPr anchor="ct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478419836"/>
                  </a:ext>
                </a:extLst>
              </a:tr>
            </a:tbl>
          </a:graphicData>
        </a:graphic>
      </p:graphicFrame>
      <p:grpSp>
        <p:nvGrpSpPr>
          <p:cNvPr id="24" name="Group 23">
            <a:extLst>
              <a:ext uri="{FF2B5EF4-FFF2-40B4-BE49-F238E27FC236}">
                <a16:creationId xmlns:a16="http://schemas.microsoft.com/office/drawing/2014/main" id="{24608D0D-9F26-DA9F-0594-46D2007D56F6}"/>
              </a:ext>
            </a:extLst>
          </p:cNvPr>
          <p:cNvGrpSpPr/>
          <p:nvPr/>
        </p:nvGrpSpPr>
        <p:grpSpPr>
          <a:xfrm>
            <a:off x="2547152" y="1111696"/>
            <a:ext cx="802732" cy="184666"/>
            <a:chOff x="280525" y="1499050"/>
            <a:chExt cx="802732" cy="184666"/>
          </a:xfrm>
        </p:grpSpPr>
        <p:sp>
          <p:nvSpPr>
            <p:cNvPr id="25" name="Content Placeholder 3">
              <a:extLst>
                <a:ext uri="{FF2B5EF4-FFF2-40B4-BE49-F238E27FC236}">
                  <a16:creationId xmlns:a16="http://schemas.microsoft.com/office/drawing/2014/main" id="{DA7F128A-BE76-D1D6-668D-F5485DBB040E}"/>
                </a:ext>
              </a:extLst>
            </p:cNvPr>
            <p:cNvSpPr txBox="1">
              <a:spLocks/>
            </p:cNvSpPr>
            <p:nvPr/>
          </p:nvSpPr>
          <p:spPr bwMode="auto">
            <a:xfrm>
              <a:off x="499009" y="1499050"/>
              <a:ext cx="58424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0" rIns="45720" bIns="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2400">
                  <a:solidFill>
                    <a:srgbClr val="002060"/>
                  </a:solidFill>
                  <a:latin typeface="+mn-lt"/>
                  <a:ea typeface="+mn-ea"/>
                  <a:cs typeface="+mn-cs"/>
                </a:defRPr>
              </a:lvl1pPr>
              <a:lvl2pPr marL="623888" indent="-277813" algn="l" rtl="0" eaLnBrk="0" fontAlgn="base" hangingPunct="0">
                <a:spcBef>
                  <a:spcPct val="20000"/>
                </a:spcBef>
                <a:spcAft>
                  <a:spcPct val="0"/>
                </a:spcAft>
                <a:buChar char="–"/>
                <a:defRPr sz="2000">
                  <a:solidFill>
                    <a:srgbClr val="002060"/>
                  </a:solidFill>
                  <a:latin typeface="+mn-lt"/>
                  <a:cs typeface="+mn-cs"/>
                </a:defRPr>
              </a:lvl2pPr>
              <a:lvl3pPr marL="914400" indent="-290513" algn="l" rtl="0" eaLnBrk="0" fontAlgn="base" hangingPunct="0">
                <a:spcBef>
                  <a:spcPct val="20000"/>
                </a:spcBef>
                <a:spcAft>
                  <a:spcPct val="0"/>
                </a:spcAft>
                <a:buFont typeface="Wingdings" pitchFamily="2" charset="2"/>
                <a:buChar char="§"/>
                <a:defRPr sz="1800">
                  <a:solidFill>
                    <a:srgbClr val="002060"/>
                  </a:solidFill>
                  <a:latin typeface="+mn-lt"/>
                  <a:cs typeface="+mn-cs"/>
                </a:defRPr>
              </a:lvl3pPr>
              <a:lvl4pPr marL="1204913" indent="-290513" algn="l" rtl="0" eaLnBrk="0" fontAlgn="base" hangingPunct="0">
                <a:spcBef>
                  <a:spcPct val="20000"/>
                </a:spcBef>
                <a:spcAft>
                  <a:spcPct val="0"/>
                </a:spcAft>
                <a:buChar char="–"/>
                <a:defRPr sz="1600">
                  <a:solidFill>
                    <a:srgbClr val="002060"/>
                  </a:solidFill>
                  <a:latin typeface="+mn-lt"/>
                  <a:cs typeface="+mn-cs"/>
                </a:defRPr>
              </a:lvl4pPr>
              <a:lvl5pPr marL="1482725" indent="-277813" algn="l" rtl="0" eaLnBrk="0" fontAlgn="base" hangingPunct="0">
                <a:spcBef>
                  <a:spcPct val="20000"/>
                </a:spcBef>
                <a:spcAft>
                  <a:spcPct val="0"/>
                </a:spcAft>
                <a:buChar char="»"/>
                <a:defRPr sz="1600">
                  <a:solidFill>
                    <a:srgbClr val="002060"/>
                  </a:solidFill>
                  <a:latin typeface="+mn-lt"/>
                  <a:cs typeface="+mn-cs"/>
                </a:defRPr>
              </a:lvl5pPr>
              <a:lvl6pPr marL="2514600" indent="-228600" algn="l" rtl="0" fontAlgn="base">
                <a:spcBef>
                  <a:spcPct val="20000"/>
                </a:spcBef>
                <a:spcAft>
                  <a:spcPct val="0"/>
                </a:spcAft>
                <a:buChar char="»"/>
                <a:defRPr sz="1600">
                  <a:solidFill>
                    <a:srgbClr val="002060"/>
                  </a:solidFill>
                  <a:latin typeface="+mn-lt"/>
                  <a:cs typeface="+mn-cs"/>
                </a:defRPr>
              </a:lvl6pPr>
              <a:lvl7pPr marL="2971800" indent="-228600" algn="l" rtl="0" fontAlgn="base">
                <a:spcBef>
                  <a:spcPct val="20000"/>
                </a:spcBef>
                <a:spcAft>
                  <a:spcPct val="0"/>
                </a:spcAft>
                <a:buChar char="»"/>
                <a:defRPr sz="1600">
                  <a:solidFill>
                    <a:srgbClr val="002060"/>
                  </a:solidFill>
                  <a:latin typeface="+mn-lt"/>
                  <a:cs typeface="+mn-cs"/>
                </a:defRPr>
              </a:lvl7pPr>
              <a:lvl8pPr marL="3429000" indent="-228600" algn="l" rtl="0" fontAlgn="base">
                <a:spcBef>
                  <a:spcPct val="20000"/>
                </a:spcBef>
                <a:spcAft>
                  <a:spcPct val="0"/>
                </a:spcAft>
                <a:buChar char="»"/>
                <a:defRPr sz="1600">
                  <a:solidFill>
                    <a:srgbClr val="002060"/>
                  </a:solidFill>
                  <a:latin typeface="+mn-lt"/>
                  <a:cs typeface="+mn-cs"/>
                </a:defRPr>
              </a:lvl8pPr>
              <a:lvl9pPr marL="3886200" indent="-228600" algn="l" rtl="0" fontAlgn="base">
                <a:spcBef>
                  <a:spcPct val="20000"/>
                </a:spcBef>
                <a:spcAft>
                  <a:spcPct val="0"/>
                </a:spcAft>
                <a:buChar char="»"/>
                <a:defRPr sz="1600">
                  <a:solidFill>
                    <a:srgbClr val="002060"/>
                  </a:solidFill>
                  <a:latin typeface="+mn-lt"/>
                  <a:cs typeface="+mn-cs"/>
                </a:defRPr>
              </a:lvl9pPr>
            </a:lstStyle>
            <a:p>
              <a:pPr marL="0" indent="0">
                <a:buNone/>
                <a:defRPr/>
              </a:pPr>
              <a:r>
                <a:rPr lang="en-US" sz="1200" kern="0" dirty="0">
                  <a:latin typeface="IBM Plex Sans" panose="020B0503050000000000" pitchFamily="34" charset="77"/>
                  <a:cs typeface="Arial"/>
                </a:rPr>
                <a:t>Overall</a:t>
              </a:r>
            </a:p>
          </p:txBody>
        </p:sp>
        <p:sp>
          <p:nvSpPr>
            <p:cNvPr id="26" name="Oval 25">
              <a:extLst>
                <a:ext uri="{FF2B5EF4-FFF2-40B4-BE49-F238E27FC236}">
                  <a16:creationId xmlns:a16="http://schemas.microsoft.com/office/drawing/2014/main" id="{90759E74-F66A-5AA7-0FB2-C961341ABA1C}"/>
                </a:ext>
              </a:extLst>
            </p:cNvPr>
            <p:cNvSpPr/>
            <p:nvPr/>
          </p:nvSpPr>
          <p:spPr>
            <a:xfrm>
              <a:off x="280525" y="1499050"/>
              <a:ext cx="183420" cy="183420"/>
            </a:xfrm>
            <a:prstGeom prst="ellipse">
              <a:avLst/>
            </a:prstGeom>
            <a:solidFill>
              <a:srgbClr val="92D050"/>
            </a:solidFill>
            <a:ln w="9525" cap="flat" cmpd="sng" algn="ctr">
              <a:solidFill>
                <a:srgbClr val="808080"/>
              </a:solidFill>
              <a:prstDash val="solid"/>
            </a:ln>
            <a:effectLst/>
          </p:spPr>
          <p:txBody>
            <a:bodyPr rtlCol="0" anchor="ctr"/>
            <a:lstStyle/>
            <a:p>
              <a:pPr algn="ctr">
                <a:defRPr/>
              </a:pPr>
              <a:endParaRPr lang="en-US" kern="0" dirty="0">
                <a:solidFill>
                  <a:srgbClr val="FFFFFF"/>
                </a:solidFill>
                <a:latin typeface="IBM Plex Sans" panose="020B0503050000000000" pitchFamily="34" charset="77"/>
                <a:cs typeface="Arial"/>
              </a:endParaRPr>
            </a:p>
          </p:txBody>
        </p:sp>
      </p:grpSp>
      <p:grpSp>
        <p:nvGrpSpPr>
          <p:cNvPr id="27" name="Group 26">
            <a:extLst>
              <a:ext uri="{FF2B5EF4-FFF2-40B4-BE49-F238E27FC236}">
                <a16:creationId xmlns:a16="http://schemas.microsoft.com/office/drawing/2014/main" id="{D4654C47-7B06-EC8E-7C68-3C2BE4B1588F}"/>
              </a:ext>
            </a:extLst>
          </p:cNvPr>
          <p:cNvGrpSpPr/>
          <p:nvPr/>
        </p:nvGrpSpPr>
        <p:grpSpPr>
          <a:xfrm>
            <a:off x="7023609" y="1084083"/>
            <a:ext cx="1127957" cy="189384"/>
            <a:chOff x="-729556" y="1752654"/>
            <a:chExt cx="1127957" cy="189384"/>
          </a:xfrm>
        </p:grpSpPr>
        <p:sp>
          <p:nvSpPr>
            <p:cNvPr id="28" name="Content Placeholder 3">
              <a:extLst>
                <a:ext uri="{FF2B5EF4-FFF2-40B4-BE49-F238E27FC236}">
                  <a16:creationId xmlns:a16="http://schemas.microsoft.com/office/drawing/2014/main" id="{BD510CFC-BAEC-3B06-07CC-137B244951B7}"/>
                </a:ext>
              </a:extLst>
            </p:cNvPr>
            <p:cNvSpPr txBox="1">
              <a:spLocks/>
            </p:cNvSpPr>
            <p:nvPr/>
          </p:nvSpPr>
          <p:spPr bwMode="auto">
            <a:xfrm>
              <a:off x="-446277" y="1752654"/>
              <a:ext cx="844678" cy="18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0" rIns="45720" bIns="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2400">
                  <a:solidFill>
                    <a:srgbClr val="002060"/>
                  </a:solidFill>
                  <a:latin typeface="+mn-lt"/>
                  <a:ea typeface="+mn-ea"/>
                  <a:cs typeface="+mn-cs"/>
                </a:defRPr>
              </a:lvl1pPr>
              <a:lvl2pPr marL="623888" indent="-277813" algn="l" rtl="0" eaLnBrk="0" fontAlgn="base" hangingPunct="0">
                <a:spcBef>
                  <a:spcPct val="20000"/>
                </a:spcBef>
                <a:spcAft>
                  <a:spcPct val="0"/>
                </a:spcAft>
                <a:buChar char="–"/>
                <a:defRPr sz="2000">
                  <a:solidFill>
                    <a:srgbClr val="002060"/>
                  </a:solidFill>
                  <a:latin typeface="+mn-lt"/>
                  <a:cs typeface="+mn-cs"/>
                </a:defRPr>
              </a:lvl2pPr>
              <a:lvl3pPr marL="914400" indent="-290513" algn="l" rtl="0" eaLnBrk="0" fontAlgn="base" hangingPunct="0">
                <a:spcBef>
                  <a:spcPct val="20000"/>
                </a:spcBef>
                <a:spcAft>
                  <a:spcPct val="0"/>
                </a:spcAft>
                <a:buFont typeface="Wingdings" pitchFamily="2" charset="2"/>
                <a:buChar char="§"/>
                <a:defRPr sz="1800">
                  <a:solidFill>
                    <a:srgbClr val="002060"/>
                  </a:solidFill>
                  <a:latin typeface="+mn-lt"/>
                  <a:cs typeface="+mn-cs"/>
                </a:defRPr>
              </a:lvl3pPr>
              <a:lvl4pPr marL="1204913" indent="-290513" algn="l" rtl="0" eaLnBrk="0" fontAlgn="base" hangingPunct="0">
                <a:spcBef>
                  <a:spcPct val="20000"/>
                </a:spcBef>
                <a:spcAft>
                  <a:spcPct val="0"/>
                </a:spcAft>
                <a:buChar char="–"/>
                <a:defRPr sz="1600">
                  <a:solidFill>
                    <a:srgbClr val="002060"/>
                  </a:solidFill>
                  <a:latin typeface="+mn-lt"/>
                  <a:cs typeface="+mn-cs"/>
                </a:defRPr>
              </a:lvl4pPr>
              <a:lvl5pPr marL="1482725" indent="-277813" algn="l" rtl="0" eaLnBrk="0" fontAlgn="base" hangingPunct="0">
                <a:spcBef>
                  <a:spcPct val="20000"/>
                </a:spcBef>
                <a:spcAft>
                  <a:spcPct val="0"/>
                </a:spcAft>
                <a:buChar char="»"/>
                <a:defRPr sz="1600">
                  <a:solidFill>
                    <a:srgbClr val="002060"/>
                  </a:solidFill>
                  <a:latin typeface="+mn-lt"/>
                  <a:cs typeface="+mn-cs"/>
                </a:defRPr>
              </a:lvl5pPr>
              <a:lvl6pPr marL="2514600" indent="-228600" algn="l" rtl="0" fontAlgn="base">
                <a:spcBef>
                  <a:spcPct val="20000"/>
                </a:spcBef>
                <a:spcAft>
                  <a:spcPct val="0"/>
                </a:spcAft>
                <a:buChar char="»"/>
                <a:defRPr sz="1600">
                  <a:solidFill>
                    <a:srgbClr val="002060"/>
                  </a:solidFill>
                  <a:latin typeface="+mn-lt"/>
                  <a:cs typeface="+mn-cs"/>
                </a:defRPr>
              </a:lvl6pPr>
              <a:lvl7pPr marL="2971800" indent="-228600" algn="l" rtl="0" fontAlgn="base">
                <a:spcBef>
                  <a:spcPct val="20000"/>
                </a:spcBef>
                <a:spcAft>
                  <a:spcPct val="0"/>
                </a:spcAft>
                <a:buChar char="»"/>
                <a:defRPr sz="1600">
                  <a:solidFill>
                    <a:srgbClr val="002060"/>
                  </a:solidFill>
                  <a:latin typeface="+mn-lt"/>
                  <a:cs typeface="+mn-cs"/>
                </a:defRPr>
              </a:lvl7pPr>
              <a:lvl8pPr marL="3429000" indent="-228600" algn="l" rtl="0" fontAlgn="base">
                <a:spcBef>
                  <a:spcPct val="20000"/>
                </a:spcBef>
                <a:spcAft>
                  <a:spcPct val="0"/>
                </a:spcAft>
                <a:buChar char="»"/>
                <a:defRPr sz="1600">
                  <a:solidFill>
                    <a:srgbClr val="002060"/>
                  </a:solidFill>
                  <a:latin typeface="+mn-lt"/>
                  <a:cs typeface="+mn-cs"/>
                </a:defRPr>
              </a:lvl8pPr>
              <a:lvl9pPr marL="3886200" indent="-228600" algn="l" rtl="0" fontAlgn="base">
                <a:spcBef>
                  <a:spcPct val="20000"/>
                </a:spcBef>
                <a:spcAft>
                  <a:spcPct val="0"/>
                </a:spcAft>
                <a:buChar char="»"/>
                <a:defRPr sz="1600">
                  <a:solidFill>
                    <a:srgbClr val="002060"/>
                  </a:solidFill>
                  <a:latin typeface="+mn-lt"/>
                  <a:cs typeface="+mn-cs"/>
                </a:defRPr>
              </a:lvl9pPr>
            </a:lstStyle>
            <a:p>
              <a:pPr marL="0" indent="0">
                <a:buNone/>
                <a:defRPr/>
              </a:pPr>
              <a:r>
                <a:rPr lang="en-US" sz="1200" kern="0" dirty="0">
                  <a:latin typeface="IBM Plex Sans" panose="020B0503050000000000" pitchFamily="34" charset="77"/>
                  <a:cs typeface="Arial"/>
                </a:rPr>
                <a:t>Resources</a:t>
              </a:r>
            </a:p>
          </p:txBody>
        </p:sp>
        <p:sp>
          <p:nvSpPr>
            <p:cNvPr id="29" name="Oval 28">
              <a:extLst>
                <a:ext uri="{FF2B5EF4-FFF2-40B4-BE49-F238E27FC236}">
                  <a16:creationId xmlns:a16="http://schemas.microsoft.com/office/drawing/2014/main" id="{9C33EF98-9FA9-1612-46DA-4EBC76ACCB28}"/>
                </a:ext>
              </a:extLst>
            </p:cNvPr>
            <p:cNvSpPr/>
            <p:nvPr/>
          </p:nvSpPr>
          <p:spPr>
            <a:xfrm>
              <a:off x="-729556" y="1758618"/>
              <a:ext cx="183420" cy="183420"/>
            </a:xfrm>
            <a:prstGeom prst="ellipse">
              <a:avLst/>
            </a:prstGeom>
            <a:solidFill>
              <a:srgbClr val="92D050"/>
            </a:solidFill>
            <a:ln w="9525" cap="flat" cmpd="sng" algn="ctr">
              <a:solidFill>
                <a:srgbClr val="808080"/>
              </a:solidFill>
              <a:prstDash val="solid"/>
            </a:ln>
            <a:effectLst/>
          </p:spPr>
          <p:txBody>
            <a:bodyPr rtlCol="0" anchor="ctr"/>
            <a:lstStyle/>
            <a:p>
              <a:pPr algn="ctr">
                <a:defRPr/>
              </a:pPr>
              <a:endParaRPr lang="en-US" kern="0">
                <a:solidFill>
                  <a:srgbClr val="FFFFFF"/>
                </a:solidFill>
                <a:latin typeface="IBM Plex Sans" panose="020B0503050000000000" pitchFamily="34" charset="77"/>
                <a:cs typeface="Arial"/>
              </a:endParaRPr>
            </a:p>
          </p:txBody>
        </p:sp>
      </p:grpSp>
      <p:grpSp>
        <p:nvGrpSpPr>
          <p:cNvPr id="30" name="Group 29">
            <a:extLst>
              <a:ext uri="{FF2B5EF4-FFF2-40B4-BE49-F238E27FC236}">
                <a16:creationId xmlns:a16="http://schemas.microsoft.com/office/drawing/2014/main" id="{E9A6362F-9711-A320-2DC0-7ACC31FB9277}"/>
              </a:ext>
            </a:extLst>
          </p:cNvPr>
          <p:cNvGrpSpPr/>
          <p:nvPr/>
        </p:nvGrpSpPr>
        <p:grpSpPr>
          <a:xfrm>
            <a:off x="3972492" y="1111696"/>
            <a:ext cx="994083" cy="184666"/>
            <a:chOff x="142297" y="1499050"/>
            <a:chExt cx="994083" cy="184666"/>
          </a:xfrm>
        </p:grpSpPr>
        <p:sp>
          <p:nvSpPr>
            <p:cNvPr id="31" name="Content Placeholder 3">
              <a:extLst>
                <a:ext uri="{FF2B5EF4-FFF2-40B4-BE49-F238E27FC236}">
                  <a16:creationId xmlns:a16="http://schemas.microsoft.com/office/drawing/2014/main" id="{73133F3E-D2C7-A244-C627-CBAD6C18C35E}"/>
                </a:ext>
              </a:extLst>
            </p:cNvPr>
            <p:cNvSpPr txBox="1">
              <a:spLocks/>
            </p:cNvSpPr>
            <p:nvPr/>
          </p:nvSpPr>
          <p:spPr bwMode="auto">
            <a:xfrm>
              <a:off x="371414" y="1499050"/>
              <a:ext cx="76496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0" rIns="45720" bIns="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2400">
                  <a:solidFill>
                    <a:srgbClr val="002060"/>
                  </a:solidFill>
                  <a:latin typeface="+mn-lt"/>
                  <a:ea typeface="+mn-ea"/>
                  <a:cs typeface="+mn-cs"/>
                </a:defRPr>
              </a:lvl1pPr>
              <a:lvl2pPr marL="623888" indent="-277813" algn="l" rtl="0" eaLnBrk="0" fontAlgn="base" hangingPunct="0">
                <a:spcBef>
                  <a:spcPct val="20000"/>
                </a:spcBef>
                <a:spcAft>
                  <a:spcPct val="0"/>
                </a:spcAft>
                <a:buChar char="–"/>
                <a:defRPr sz="2000">
                  <a:solidFill>
                    <a:srgbClr val="002060"/>
                  </a:solidFill>
                  <a:latin typeface="+mn-lt"/>
                  <a:cs typeface="+mn-cs"/>
                </a:defRPr>
              </a:lvl2pPr>
              <a:lvl3pPr marL="914400" indent="-290513" algn="l" rtl="0" eaLnBrk="0" fontAlgn="base" hangingPunct="0">
                <a:spcBef>
                  <a:spcPct val="20000"/>
                </a:spcBef>
                <a:spcAft>
                  <a:spcPct val="0"/>
                </a:spcAft>
                <a:buFont typeface="Wingdings" pitchFamily="2" charset="2"/>
                <a:buChar char="§"/>
                <a:defRPr sz="1800">
                  <a:solidFill>
                    <a:srgbClr val="002060"/>
                  </a:solidFill>
                  <a:latin typeface="+mn-lt"/>
                  <a:cs typeface="+mn-cs"/>
                </a:defRPr>
              </a:lvl3pPr>
              <a:lvl4pPr marL="1204913" indent="-290513" algn="l" rtl="0" eaLnBrk="0" fontAlgn="base" hangingPunct="0">
                <a:spcBef>
                  <a:spcPct val="20000"/>
                </a:spcBef>
                <a:spcAft>
                  <a:spcPct val="0"/>
                </a:spcAft>
                <a:buChar char="–"/>
                <a:defRPr sz="1600">
                  <a:solidFill>
                    <a:srgbClr val="002060"/>
                  </a:solidFill>
                  <a:latin typeface="+mn-lt"/>
                  <a:cs typeface="+mn-cs"/>
                </a:defRPr>
              </a:lvl4pPr>
              <a:lvl5pPr marL="1482725" indent="-277813" algn="l" rtl="0" eaLnBrk="0" fontAlgn="base" hangingPunct="0">
                <a:spcBef>
                  <a:spcPct val="20000"/>
                </a:spcBef>
                <a:spcAft>
                  <a:spcPct val="0"/>
                </a:spcAft>
                <a:buChar char="»"/>
                <a:defRPr sz="1600">
                  <a:solidFill>
                    <a:srgbClr val="002060"/>
                  </a:solidFill>
                  <a:latin typeface="+mn-lt"/>
                  <a:cs typeface="+mn-cs"/>
                </a:defRPr>
              </a:lvl5pPr>
              <a:lvl6pPr marL="2514600" indent="-228600" algn="l" rtl="0" fontAlgn="base">
                <a:spcBef>
                  <a:spcPct val="20000"/>
                </a:spcBef>
                <a:spcAft>
                  <a:spcPct val="0"/>
                </a:spcAft>
                <a:buChar char="»"/>
                <a:defRPr sz="1600">
                  <a:solidFill>
                    <a:srgbClr val="002060"/>
                  </a:solidFill>
                  <a:latin typeface="+mn-lt"/>
                  <a:cs typeface="+mn-cs"/>
                </a:defRPr>
              </a:lvl6pPr>
              <a:lvl7pPr marL="2971800" indent="-228600" algn="l" rtl="0" fontAlgn="base">
                <a:spcBef>
                  <a:spcPct val="20000"/>
                </a:spcBef>
                <a:spcAft>
                  <a:spcPct val="0"/>
                </a:spcAft>
                <a:buChar char="»"/>
                <a:defRPr sz="1600">
                  <a:solidFill>
                    <a:srgbClr val="002060"/>
                  </a:solidFill>
                  <a:latin typeface="+mn-lt"/>
                  <a:cs typeface="+mn-cs"/>
                </a:defRPr>
              </a:lvl7pPr>
              <a:lvl8pPr marL="3429000" indent="-228600" algn="l" rtl="0" fontAlgn="base">
                <a:spcBef>
                  <a:spcPct val="20000"/>
                </a:spcBef>
                <a:spcAft>
                  <a:spcPct val="0"/>
                </a:spcAft>
                <a:buChar char="»"/>
                <a:defRPr sz="1600">
                  <a:solidFill>
                    <a:srgbClr val="002060"/>
                  </a:solidFill>
                  <a:latin typeface="+mn-lt"/>
                  <a:cs typeface="+mn-cs"/>
                </a:defRPr>
              </a:lvl8pPr>
              <a:lvl9pPr marL="3886200" indent="-228600" algn="l" rtl="0" fontAlgn="base">
                <a:spcBef>
                  <a:spcPct val="20000"/>
                </a:spcBef>
                <a:spcAft>
                  <a:spcPct val="0"/>
                </a:spcAft>
                <a:buChar char="»"/>
                <a:defRPr sz="1600">
                  <a:solidFill>
                    <a:srgbClr val="002060"/>
                  </a:solidFill>
                  <a:latin typeface="+mn-lt"/>
                  <a:cs typeface="+mn-cs"/>
                </a:defRPr>
              </a:lvl9pPr>
            </a:lstStyle>
            <a:p>
              <a:pPr marL="0" indent="0">
                <a:buNone/>
                <a:defRPr/>
              </a:pPr>
              <a:r>
                <a:rPr lang="en-US" sz="1200" kern="0" dirty="0">
                  <a:latin typeface="IBM Plex Sans" panose="020B0503050000000000" pitchFamily="34" charset="77"/>
                  <a:cs typeface="Arial"/>
                </a:rPr>
                <a:t>Schedule</a:t>
              </a:r>
            </a:p>
          </p:txBody>
        </p:sp>
        <p:sp>
          <p:nvSpPr>
            <p:cNvPr id="32" name="Oval 31">
              <a:extLst>
                <a:ext uri="{FF2B5EF4-FFF2-40B4-BE49-F238E27FC236}">
                  <a16:creationId xmlns:a16="http://schemas.microsoft.com/office/drawing/2014/main" id="{437D1436-E615-B369-148A-18ECE9950A0C}"/>
                </a:ext>
              </a:extLst>
            </p:cNvPr>
            <p:cNvSpPr/>
            <p:nvPr/>
          </p:nvSpPr>
          <p:spPr>
            <a:xfrm>
              <a:off x="142297" y="1499050"/>
              <a:ext cx="183420" cy="183420"/>
            </a:xfrm>
            <a:prstGeom prst="ellipse">
              <a:avLst/>
            </a:prstGeom>
            <a:solidFill>
              <a:srgbClr val="92D050"/>
            </a:solidFill>
            <a:ln w="9525" cap="flat" cmpd="sng" algn="ctr">
              <a:solidFill>
                <a:srgbClr val="808080"/>
              </a:solidFill>
              <a:prstDash val="solid"/>
            </a:ln>
            <a:effectLst/>
          </p:spPr>
          <p:txBody>
            <a:bodyPr rtlCol="0" anchor="ctr"/>
            <a:lstStyle/>
            <a:p>
              <a:pPr algn="ctr">
                <a:defRPr/>
              </a:pPr>
              <a:endParaRPr lang="en-US" kern="0" dirty="0">
                <a:solidFill>
                  <a:srgbClr val="FFFFFF"/>
                </a:solidFill>
                <a:latin typeface="IBM Plex Sans" panose="020B0503050000000000" pitchFamily="34" charset="77"/>
                <a:cs typeface="Arial"/>
              </a:endParaRPr>
            </a:p>
          </p:txBody>
        </p:sp>
      </p:grpSp>
      <p:grpSp>
        <p:nvGrpSpPr>
          <p:cNvPr id="33" name="Group 32">
            <a:extLst>
              <a:ext uri="{FF2B5EF4-FFF2-40B4-BE49-F238E27FC236}">
                <a16:creationId xmlns:a16="http://schemas.microsoft.com/office/drawing/2014/main" id="{19F2C1F5-5A2A-E418-9D7E-54D5E405D34F}"/>
              </a:ext>
            </a:extLst>
          </p:cNvPr>
          <p:cNvGrpSpPr/>
          <p:nvPr/>
        </p:nvGrpSpPr>
        <p:grpSpPr>
          <a:xfrm>
            <a:off x="5571806" y="1100401"/>
            <a:ext cx="759920" cy="184666"/>
            <a:chOff x="227360" y="1499050"/>
            <a:chExt cx="759920" cy="184666"/>
          </a:xfrm>
        </p:grpSpPr>
        <p:sp>
          <p:nvSpPr>
            <p:cNvPr id="34" name="Content Placeholder 3">
              <a:extLst>
                <a:ext uri="{FF2B5EF4-FFF2-40B4-BE49-F238E27FC236}">
                  <a16:creationId xmlns:a16="http://schemas.microsoft.com/office/drawing/2014/main" id="{3465BC7B-01DD-FFB2-F9FE-940B229801CE}"/>
                </a:ext>
              </a:extLst>
            </p:cNvPr>
            <p:cNvSpPr txBox="1">
              <a:spLocks/>
            </p:cNvSpPr>
            <p:nvPr/>
          </p:nvSpPr>
          <p:spPr bwMode="auto">
            <a:xfrm>
              <a:off x="445843" y="1499050"/>
              <a:ext cx="54143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0" rIns="45720" bIns="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2400">
                  <a:solidFill>
                    <a:srgbClr val="002060"/>
                  </a:solidFill>
                  <a:latin typeface="+mn-lt"/>
                  <a:ea typeface="+mn-ea"/>
                  <a:cs typeface="+mn-cs"/>
                </a:defRPr>
              </a:lvl1pPr>
              <a:lvl2pPr marL="623888" indent="-277813" algn="l" rtl="0" eaLnBrk="0" fontAlgn="base" hangingPunct="0">
                <a:spcBef>
                  <a:spcPct val="20000"/>
                </a:spcBef>
                <a:spcAft>
                  <a:spcPct val="0"/>
                </a:spcAft>
                <a:buChar char="–"/>
                <a:defRPr sz="2000">
                  <a:solidFill>
                    <a:srgbClr val="002060"/>
                  </a:solidFill>
                  <a:latin typeface="+mn-lt"/>
                  <a:cs typeface="+mn-cs"/>
                </a:defRPr>
              </a:lvl2pPr>
              <a:lvl3pPr marL="914400" indent="-290513" algn="l" rtl="0" eaLnBrk="0" fontAlgn="base" hangingPunct="0">
                <a:spcBef>
                  <a:spcPct val="20000"/>
                </a:spcBef>
                <a:spcAft>
                  <a:spcPct val="0"/>
                </a:spcAft>
                <a:buFont typeface="Wingdings" pitchFamily="2" charset="2"/>
                <a:buChar char="§"/>
                <a:defRPr sz="1800">
                  <a:solidFill>
                    <a:srgbClr val="002060"/>
                  </a:solidFill>
                  <a:latin typeface="+mn-lt"/>
                  <a:cs typeface="+mn-cs"/>
                </a:defRPr>
              </a:lvl3pPr>
              <a:lvl4pPr marL="1204913" indent="-290513" algn="l" rtl="0" eaLnBrk="0" fontAlgn="base" hangingPunct="0">
                <a:spcBef>
                  <a:spcPct val="20000"/>
                </a:spcBef>
                <a:spcAft>
                  <a:spcPct val="0"/>
                </a:spcAft>
                <a:buChar char="–"/>
                <a:defRPr sz="1600">
                  <a:solidFill>
                    <a:srgbClr val="002060"/>
                  </a:solidFill>
                  <a:latin typeface="+mn-lt"/>
                  <a:cs typeface="+mn-cs"/>
                </a:defRPr>
              </a:lvl4pPr>
              <a:lvl5pPr marL="1482725" indent="-277813" algn="l" rtl="0" eaLnBrk="0" fontAlgn="base" hangingPunct="0">
                <a:spcBef>
                  <a:spcPct val="20000"/>
                </a:spcBef>
                <a:spcAft>
                  <a:spcPct val="0"/>
                </a:spcAft>
                <a:buChar char="»"/>
                <a:defRPr sz="1600">
                  <a:solidFill>
                    <a:srgbClr val="002060"/>
                  </a:solidFill>
                  <a:latin typeface="+mn-lt"/>
                  <a:cs typeface="+mn-cs"/>
                </a:defRPr>
              </a:lvl5pPr>
              <a:lvl6pPr marL="2514600" indent="-228600" algn="l" rtl="0" fontAlgn="base">
                <a:spcBef>
                  <a:spcPct val="20000"/>
                </a:spcBef>
                <a:spcAft>
                  <a:spcPct val="0"/>
                </a:spcAft>
                <a:buChar char="»"/>
                <a:defRPr sz="1600">
                  <a:solidFill>
                    <a:srgbClr val="002060"/>
                  </a:solidFill>
                  <a:latin typeface="+mn-lt"/>
                  <a:cs typeface="+mn-cs"/>
                </a:defRPr>
              </a:lvl6pPr>
              <a:lvl7pPr marL="2971800" indent="-228600" algn="l" rtl="0" fontAlgn="base">
                <a:spcBef>
                  <a:spcPct val="20000"/>
                </a:spcBef>
                <a:spcAft>
                  <a:spcPct val="0"/>
                </a:spcAft>
                <a:buChar char="»"/>
                <a:defRPr sz="1600">
                  <a:solidFill>
                    <a:srgbClr val="002060"/>
                  </a:solidFill>
                  <a:latin typeface="+mn-lt"/>
                  <a:cs typeface="+mn-cs"/>
                </a:defRPr>
              </a:lvl7pPr>
              <a:lvl8pPr marL="3429000" indent="-228600" algn="l" rtl="0" fontAlgn="base">
                <a:spcBef>
                  <a:spcPct val="20000"/>
                </a:spcBef>
                <a:spcAft>
                  <a:spcPct val="0"/>
                </a:spcAft>
                <a:buChar char="»"/>
                <a:defRPr sz="1600">
                  <a:solidFill>
                    <a:srgbClr val="002060"/>
                  </a:solidFill>
                  <a:latin typeface="+mn-lt"/>
                  <a:cs typeface="+mn-cs"/>
                </a:defRPr>
              </a:lvl8pPr>
              <a:lvl9pPr marL="3886200" indent="-228600" algn="l" rtl="0" fontAlgn="base">
                <a:spcBef>
                  <a:spcPct val="20000"/>
                </a:spcBef>
                <a:spcAft>
                  <a:spcPct val="0"/>
                </a:spcAft>
                <a:buChar char="»"/>
                <a:defRPr sz="1600">
                  <a:solidFill>
                    <a:srgbClr val="002060"/>
                  </a:solidFill>
                  <a:latin typeface="+mn-lt"/>
                  <a:cs typeface="+mn-cs"/>
                </a:defRPr>
              </a:lvl9pPr>
            </a:lstStyle>
            <a:p>
              <a:pPr marL="0" indent="0">
                <a:buNone/>
                <a:defRPr/>
              </a:pPr>
              <a:r>
                <a:rPr lang="en-US" sz="1200" kern="0" dirty="0">
                  <a:latin typeface="IBM Plex Sans" panose="020B0503050000000000" pitchFamily="34" charset="77"/>
                  <a:cs typeface="Arial"/>
                </a:rPr>
                <a:t>Scope</a:t>
              </a:r>
            </a:p>
          </p:txBody>
        </p:sp>
        <p:sp>
          <p:nvSpPr>
            <p:cNvPr id="35" name="Oval 34">
              <a:extLst>
                <a:ext uri="{FF2B5EF4-FFF2-40B4-BE49-F238E27FC236}">
                  <a16:creationId xmlns:a16="http://schemas.microsoft.com/office/drawing/2014/main" id="{CABE05CD-C1CE-6F07-E7F6-3ECA3F11646B}"/>
                </a:ext>
              </a:extLst>
            </p:cNvPr>
            <p:cNvSpPr/>
            <p:nvPr/>
          </p:nvSpPr>
          <p:spPr>
            <a:xfrm>
              <a:off x="227360" y="1499050"/>
              <a:ext cx="183420" cy="183420"/>
            </a:xfrm>
            <a:prstGeom prst="ellipse">
              <a:avLst/>
            </a:prstGeom>
            <a:solidFill>
              <a:srgbClr val="92D050"/>
            </a:solidFill>
            <a:ln w="9525" cap="flat" cmpd="sng" algn="ctr">
              <a:solidFill>
                <a:srgbClr val="808080"/>
              </a:solidFill>
              <a:prstDash val="solid"/>
            </a:ln>
            <a:effectLst/>
          </p:spPr>
          <p:txBody>
            <a:bodyPr rtlCol="0" anchor="ctr"/>
            <a:lstStyle/>
            <a:p>
              <a:pPr algn="ctr">
                <a:defRPr/>
              </a:pPr>
              <a:endParaRPr lang="en-US" kern="0">
                <a:solidFill>
                  <a:srgbClr val="FFFFFF"/>
                </a:solidFill>
                <a:latin typeface="IBM Plex Sans" panose="020B0503050000000000" pitchFamily="34" charset="77"/>
                <a:cs typeface="Arial"/>
              </a:endParaRPr>
            </a:p>
          </p:txBody>
        </p:sp>
      </p:grpSp>
      <p:graphicFrame>
        <p:nvGraphicFramePr>
          <p:cNvPr id="6" name="Table 8">
            <a:extLst>
              <a:ext uri="{FF2B5EF4-FFF2-40B4-BE49-F238E27FC236}">
                <a16:creationId xmlns:a16="http://schemas.microsoft.com/office/drawing/2014/main" id="{C4B68856-2140-01C4-F3C7-148694BECF67}"/>
              </a:ext>
            </a:extLst>
          </p:cNvPr>
          <p:cNvGraphicFramePr>
            <a:graphicFrameLocks noGrp="1"/>
          </p:cNvGraphicFramePr>
          <p:nvPr>
            <p:extLst>
              <p:ext uri="{D42A27DB-BD31-4B8C-83A1-F6EECF244321}">
                <p14:modId xmlns:p14="http://schemas.microsoft.com/office/powerpoint/2010/main" val="3403246903"/>
              </p:ext>
            </p:extLst>
          </p:nvPr>
        </p:nvGraphicFramePr>
        <p:xfrm>
          <a:off x="170183" y="5780190"/>
          <a:ext cx="11775268" cy="822418"/>
        </p:xfrm>
        <a:graphic>
          <a:graphicData uri="http://schemas.openxmlformats.org/drawingml/2006/table">
            <a:tbl>
              <a:tblPr firstRow="1" bandRow="1">
                <a:tableStyleId>{5C22544A-7EE6-4342-B048-85BDC9FD1C3A}</a:tableStyleId>
              </a:tblPr>
              <a:tblGrid>
                <a:gridCol w="7948618">
                  <a:extLst>
                    <a:ext uri="{9D8B030D-6E8A-4147-A177-3AD203B41FA5}">
                      <a16:colId xmlns:a16="http://schemas.microsoft.com/office/drawing/2014/main" val="3428892565"/>
                    </a:ext>
                  </a:extLst>
                </a:gridCol>
                <a:gridCol w="1250507">
                  <a:extLst>
                    <a:ext uri="{9D8B030D-6E8A-4147-A177-3AD203B41FA5}">
                      <a16:colId xmlns:a16="http://schemas.microsoft.com/office/drawing/2014/main" val="627029316"/>
                    </a:ext>
                  </a:extLst>
                </a:gridCol>
                <a:gridCol w="1176882">
                  <a:extLst>
                    <a:ext uri="{9D8B030D-6E8A-4147-A177-3AD203B41FA5}">
                      <a16:colId xmlns:a16="http://schemas.microsoft.com/office/drawing/2014/main" val="3816591200"/>
                    </a:ext>
                  </a:extLst>
                </a:gridCol>
                <a:gridCol w="1399261">
                  <a:extLst>
                    <a:ext uri="{9D8B030D-6E8A-4147-A177-3AD203B41FA5}">
                      <a16:colId xmlns:a16="http://schemas.microsoft.com/office/drawing/2014/main" val="193187375"/>
                    </a:ext>
                  </a:extLst>
                </a:gridCol>
              </a:tblGrid>
              <a:tr h="3044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rgbClr val="C00000"/>
                          </a:solidFill>
                          <a:latin typeface="+mn-lt"/>
                          <a:ea typeface="+mn-ea"/>
                          <a:cs typeface="+mn-cs"/>
                        </a:rPr>
                        <a:t>Key - Risk (R) / Actions(A) / Issues(I) / Decisions (D)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C00000"/>
                          </a:solidFill>
                          <a:latin typeface="IBM Plex Sans"/>
                        </a:rPr>
                        <a:t>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C00000"/>
                          </a:solidFill>
                          <a:latin typeface="IBM Plex Sans"/>
                        </a:rPr>
                        <a:t>Due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C00000"/>
                          </a:solidFill>
                          <a:latin typeface="IBM Plex Sans"/>
                        </a:rPr>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3603697"/>
                  </a:ext>
                </a:extLst>
              </a:tr>
              <a:tr h="5179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 Pemco – Server , DB &amp; required tools access are still in progress along with developer workstation. This has impact on the current discovery phase progress. Team needs to reassess the discovery phase timeline once all the access are provisioned.</a:t>
                      </a:r>
                      <a:endParaRPr lang="en-IN" sz="1200" b="0" i="0" kern="1200" baseline="0" dirty="0">
                        <a:solidFill>
                          <a:schemeClr val="tx2">
                            <a:lumMod val="75000"/>
                          </a:schemeClr>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2">
                              <a:lumMod val="75000"/>
                            </a:schemeClr>
                          </a:solidFill>
                          <a:latin typeface="+mn-lt"/>
                          <a:ea typeface="+mn-ea"/>
                          <a:cs typeface="+mn-cs"/>
                        </a:rPr>
                        <a:t>PEMCO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June 13- 2025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200" dirty="0"/>
                        <a:t>Closed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175963"/>
                  </a:ext>
                </a:extLst>
              </a:tr>
            </a:tbl>
          </a:graphicData>
        </a:graphic>
      </p:graphicFrame>
    </p:spTree>
    <p:extLst>
      <p:ext uri="{BB962C8B-B14F-4D97-AF65-F5344CB8AC3E}">
        <p14:creationId xmlns:p14="http://schemas.microsoft.com/office/powerpoint/2010/main" val="2062853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A72F70-639C-1F39-81CD-D1DE22465FF2}"/>
              </a:ext>
            </a:extLst>
          </p:cNvPr>
          <p:cNvSpPr>
            <a:spLocks noGrp="1"/>
          </p:cNvSpPr>
          <p:nvPr>
            <p:ph type="sldNum" sz="quarter" idx="12"/>
          </p:nvPr>
        </p:nvSpPr>
        <p:spPr>
          <a:xfrm>
            <a:off x="9296399" y="6386052"/>
            <a:ext cx="2743200" cy="365125"/>
          </a:xfrm>
        </p:spPr>
        <p:txBody>
          <a:bodyPr/>
          <a:lstStyle/>
          <a:p>
            <a:fld id="{04329678-077B-4687-BED6-FC49195236EC}" type="slidenum">
              <a:rPr lang="en-US" smtClean="0"/>
              <a:t>3</a:t>
            </a:fld>
            <a:endParaRPr lang="en-US"/>
          </a:p>
        </p:txBody>
      </p:sp>
      <p:sp>
        <p:nvSpPr>
          <p:cNvPr id="4" name="Title 8">
            <a:extLst>
              <a:ext uri="{FF2B5EF4-FFF2-40B4-BE49-F238E27FC236}">
                <a16:creationId xmlns:a16="http://schemas.microsoft.com/office/drawing/2014/main" id="{DD164819-AB18-52D2-D366-4857F4E8C3B0}"/>
              </a:ext>
            </a:extLst>
          </p:cNvPr>
          <p:cNvSpPr txBox="1">
            <a:spLocks/>
          </p:cNvSpPr>
          <p:nvPr/>
        </p:nvSpPr>
        <p:spPr>
          <a:xfrm>
            <a:off x="143934" y="1"/>
            <a:ext cx="11633200" cy="394692"/>
          </a:xfrm>
          <a:prstGeom prst="rect">
            <a:avLst/>
          </a:prstGeom>
          <a:solidFill>
            <a:srgbClr val="DDDDDD"/>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2000" b="1" dirty="0"/>
              <a:t>Agent Dashboard &amp; Tableau Reports – Task Breakdown &amp; Status :</a:t>
            </a:r>
          </a:p>
        </p:txBody>
      </p:sp>
      <p:graphicFrame>
        <p:nvGraphicFramePr>
          <p:cNvPr id="5" name="Table 4">
            <a:extLst>
              <a:ext uri="{FF2B5EF4-FFF2-40B4-BE49-F238E27FC236}">
                <a16:creationId xmlns:a16="http://schemas.microsoft.com/office/drawing/2014/main" id="{D4D35CED-512E-3AF1-C1CF-572A283CACC4}"/>
              </a:ext>
            </a:extLst>
          </p:cNvPr>
          <p:cNvGraphicFramePr>
            <a:graphicFrameLocks noGrp="1"/>
          </p:cNvGraphicFramePr>
          <p:nvPr>
            <p:extLst>
              <p:ext uri="{D42A27DB-BD31-4B8C-83A1-F6EECF244321}">
                <p14:modId xmlns:p14="http://schemas.microsoft.com/office/powerpoint/2010/main" val="1425986908"/>
              </p:ext>
            </p:extLst>
          </p:nvPr>
        </p:nvGraphicFramePr>
        <p:xfrm>
          <a:off x="143933" y="394694"/>
          <a:ext cx="11633200" cy="6356476"/>
        </p:xfrm>
        <a:graphic>
          <a:graphicData uri="http://schemas.openxmlformats.org/drawingml/2006/table">
            <a:tbl>
              <a:tblPr/>
              <a:tblGrid>
                <a:gridCol w="399533">
                  <a:extLst>
                    <a:ext uri="{9D8B030D-6E8A-4147-A177-3AD203B41FA5}">
                      <a16:colId xmlns:a16="http://schemas.microsoft.com/office/drawing/2014/main" val="3918489637"/>
                    </a:ext>
                  </a:extLst>
                </a:gridCol>
                <a:gridCol w="707683">
                  <a:extLst>
                    <a:ext uri="{9D8B030D-6E8A-4147-A177-3AD203B41FA5}">
                      <a16:colId xmlns:a16="http://schemas.microsoft.com/office/drawing/2014/main" val="674216868"/>
                    </a:ext>
                  </a:extLst>
                </a:gridCol>
                <a:gridCol w="3863111">
                  <a:extLst>
                    <a:ext uri="{9D8B030D-6E8A-4147-A177-3AD203B41FA5}">
                      <a16:colId xmlns:a16="http://schemas.microsoft.com/office/drawing/2014/main" val="3981768646"/>
                    </a:ext>
                  </a:extLst>
                </a:gridCol>
                <a:gridCol w="1052624">
                  <a:extLst>
                    <a:ext uri="{9D8B030D-6E8A-4147-A177-3AD203B41FA5}">
                      <a16:colId xmlns:a16="http://schemas.microsoft.com/office/drawing/2014/main" val="3593266183"/>
                    </a:ext>
                  </a:extLst>
                </a:gridCol>
                <a:gridCol w="765544">
                  <a:extLst>
                    <a:ext uri="{9D8B030D-6E8A-4147-A177-3AD203B41FA5}">
                      <a16:colId xmlns:a16="http://schemas.microsoft.com/office/drawing/2014/main" val="2462888800"/>
                    </a:ext>
                  </a:extLst>
                </a:gridCol>
                <a:gridCol w="1541721">
                  <a:extLst>
                    <a:ext uri="{9D8B030D-6E8A-4147-A177-3AD203B41FA5}">
                      <a16:colId xmlns:a16="http://schemas.microsoft.com/office/drawing/2014/main" val="3573681029"/>
                    </a:ext>
                  </a:extLst>
                </a:gridCol>
                <a:gridCol w="893135">
                  <a:extLst>
                    <a:ext uri="{9D8B030D-6E8A-4147-A177-3AD203B41FA5}">
                      <a16:colId xmlns:a16="http://schemas.microsoft.com/office/drawing/2014/main" val="704963321"/>
                    </a:ext>
                  </a:extLst>
                </a:gridCol>
                <a:gridCol w="1658679">
                  <a:extLst>
                    <a:ext uri="{9D8B030D-6E8A-4147-A177-3AD203B41FA5}">
                      <a16:colId xmlns:a16="http://schemas.microsoft.com/office/drawing/2014/main" val="3832998035"/>
                    </a:ext>
                  </a:extLst>
                </a:gridCol>
                <a:gridCol w="751170">
                  <a:extLst>
                    <a:ext uri="{9D8B030D-6E8A-4147-A177-3AD203B41FA5}">
                      <a16:colId xmlns:a16="http://schemas.microsoft.com/office/drawing/2014/main" val="208864379"/>
                    </a:ext>
                  </a:extLst>
                </a:gridCol>
              </a:tblGrid>
              <a:tr h="146943">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Sl No.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Catergory</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Tasks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Duration</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Target Date</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Dependecy </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Status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Remarks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ctr"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Owner</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384521623"/>
                  </a:ext>
                </a:extLst>
              </a:tr>
              <a:tr h="269824">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All policies from BIM have been successfully matched with AWM. The AWM dataset reflects higher counts overall, and importantly, no in-force policies present in BIM are missing in AWM.</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14-Apr</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14-Apr</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Done</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6051640"/>
                  </a:ext>
                </a:extLst>
              </a:tr>
              <a:tr h="269824">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1.1</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AWM CIF_policy_party_detail incomplete data</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https://pemcoim.visualstudio.com/IM%20Kanban/_workitems/edit/10686</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full root cause (LOB prefix bug, AWM truncation)</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PEMCO/ Tad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9324897"/>
                  </a:ext>
                </a:extLst>
              </a:tr>
              <a:tr h="392705">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1.2</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Currently there are few missing username[</a:t>
                      </a:r>
                      <a:r>
                        <a:rPr lang="en-US" sz="700" b="0" i="0" u="none" strike="noStrike" dirty="0" err="1">
                          <a:solidFill>
                            <a:srgbClr val="000000"/>
                          </a:solidFill>
                          <a:effectLst/>
                          <a:latin typeface="Times New Roman" panose="02020603050405020304" pitchFamily="18" charset="0"/>
                          <a:cs typeface="Times New Roman" panose="02020603050405020304" pitchFamily="18" charset="0"/>
                        </a:rPr>
                        <a:t>email_ids</a:t>
                      </a:r>
                      <a:r>
                        <a:rPr lang="en-US" sz="700" b="0" i="0" u="none" strike="noStrike" dirty="0">
                          <a:solidFill>
                            <a:srgbClr val="000000"/>
                          </a:solidFill>
                          <a:effectLst/>
                          <a:latin typeface="Times New Roman" panose="02020603050405020304" pitchFamily="18" charset="0"/>
                          <a:cs typeface="Times New Roman" panose="02020603050405020304" pitchFamily="18" charset="0"/>
                        </a:rPr>
                        <a:t>] finding the issue and trying to fix the issue </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2 - 3 days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On Hold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Most of the analysis is done . However this task can be completed once #10686  bug confirmed and linked to #10468</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3127226"/>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1.3</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 Step 1 — Finalize SQL output grain</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3</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#1,#2</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Blocked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9952810"/>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1.4</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 Step 2 — Write to destination table</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2</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#3</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Blocked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1644862"/>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1.5</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 Step 3 — Run final validation</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2</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#4</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Blocked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3005542"/>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1.6</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 Step 5 — Connect Tableau</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#5</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Blocked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6305884"/>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1.7</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 Step 6 — Build calculated fields in Tableau</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#6</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Blocked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2267613"/>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1.8</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 Step 4 — Schedule the refresh</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#7</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Blocked</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3954505"/>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1.9</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DS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Document on the single data source </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Parallel Task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1153718"/>
                  </a:ext>
                </a:extLst>
              </a:tr>
              <a:tr h="146943">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1" i="0" u="none" strike="noStrike">
                          <a:solidFill>
                            <a:srgbClr val="000000"/>
                          </a:solidFill>
                          <a:effectLst/>
                          <a:latin typeface="Times New Roman" panose="02020603050405020304" pitchFamily="18" charset="0"/>
                          <a:cs typeface="Times New Roman" panose="02020603050405020304" pitchFamily="18" charset="0"/>
                        </a:rPr>
                        <a:t>Online Accounts Report</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3432453"/>
                  </a:ext>
                </a:extLst>
              </a:tr>
              <a:tr h="146943">
                <a:tc>
                  <a:txBody>
                    <a:bodyPr/>
                    <a:lstStyle/>
                    <a:p>
                      <a:pPr algn="ctr" fontAlgn="ctr"/>
                      <a:r>
                        <a:rPr lang="en-CM" sz="700" b="0" i="0" u="none" strike="noStrike">
                          <a:solidFill>
                            <a:srgbClr val="000000"/>
                          </a:solidFill>
                          <a:effectLst/>
                          <a:latin typeface="Times New Roman" panose="02020603050405020304" pitchFamily="18" charset="0"/>
                          <a:cs typeface="Times New Roman" panose="02020603050405020304" pitchFamily="18" charset="0"/>
                        </a:rPr>
                        <a:t>2.1</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Report</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Online Accounts Report- completed Active Accounts query (AWM rewrite)</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30-Apr</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30-Apr</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Done</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5823299"/>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2.2</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Report</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Self-Service Accounts query— ; covers 4 DateTypes (Activation, Initiation, Inforce, DriverOnly)</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1 to 2 weeks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12-Apr</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8307686"/>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2.3</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Tableau Report</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SSA (Sub tasks) —  working on DriverOnly as there is huge difference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3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5-May</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43% gap[working on ways to fix this gap] </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Shashank</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6672677"/>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1" i="0" u="none" strike="noStrike">
                          <a:solidFill>
                            <a:srgbClr val="000000"/>
                          </a:solidFill>
                          <a:effectLst/>
                          <a:latin typeface="Times New Roman" panose="02020603050405020304" pitchFamily="18" charset="0"/>
                          <a:cs typeface="Times New Roman" panose="02020603050405020304" pitchFamily="18" charset="0"/>
                        </a:rPr>
                        <a:t>Active Agents Table - Validation</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Complete</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Samarth/ Venkatesh</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096441"/>
                  </a:ext>
                </a:extLst>
              </a:tr>
              <a:tr h="26982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2</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1" i="0" u="none" strike="noStrike">
                          <a:solidFill>
                            <a:srgbClr val="000000"/>
                          </a:solidFill>
                          <a:effectLst/>
                          <a:latin typeface="Times New Roman" panose="02020603050405020304" pitchFamily="18" charset="0"/>
                          <a:cs typeface="Times New Roman" panose="02020603050405020304" pitchFamily="18" charset="0"/>
                        </a:rPr>
                        <a:t>Earned Premium Issues:</a:t>
                      </a:r>
                      <a:r>
                        <a:rPr lang="en-US" sz="700" b="0" i="0" u="none" strike="noStrike">
                          <a:solidFill>
                            <a:srgbClr val="000000"/>
                          </a:solidFill>
                          <a:effectLst/>
                          <a:latin typeface="Times New Roman" panose="02020603050405020304" pitchFamily="18" charset="0"/>
                          <a:cs typeface="Times New Roman" panose="02020603050405020304" pitchFamily="18" charset="0"/>
                        </a:rPr>
                        <a:t> Solve Pemco_Reporting Issues for $0 Earned Premium; Engineering a solution in EDW for Cancelled Policies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1" i="0" u="none" strike="noStrike">
                          <a:solidFill>
                            <a:srgbClr val="000000"/>
                          </a:solidFill>
                          <a:effectLst/>
                          <a:latin typeface="Times New Roman" panose="02020603050405020304" pitchFamily="18" charset="0"/>
                          <a:cs typeface="Times New Roman" panose="02020603050405020304" pitchFamily="18" charset="0"/>
                        </a:rPr>
                        <a:t>~ 2 weeks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1"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6545255"/>
                  </a:ext>
                </a:extLst>
              </a:tr>
              <a:tr h="26982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3</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dirty="0">
                          <a:solidFill>
                            <a:srgbClr val="000000"/>
                          </a:solidFill>
                          <a:effectLst/>
                          <a:latin typeface="Times New Roman" panose="02020603050405020304" pitchFamily="18" charset="0"/>
                          <a:cs typeface="Times New Roman" panose="02020603050405020304" pitchFamily="18" charset="0"/>
                        </a:rPr>
                        <a:t>EP Subtask #1: </a:t>
                      </a:r>
                      <a:r>
                        <a:rPr lang="en-US" sz="700" b="0" i="0" u="none" strike="noStrike" dirty="0" err="1">
                          <a:solidFill>
                            <a:srgbClr val="000000"/>
                          </a:solidFill>
                          <a:effectLst/>
                          <a:latin typeface="Times New Roman" panose="02020603050405020304" pitchFamily="18" charset="0"/>
                          <a:cs typeface="Times New Roman" panose="02020603050405020304" pitchFamily="18" charset="0"/>
                        </a:rPr>
                        <a:t>Analyse</a:t>
                      </a:r>
                      <a:r>
                        <a:rPr lang="en-US" sz="700" b="0" i="0" u="none" strike="noStrike" dirty="0">
                          <a:solidFill>
                            <a:srgbClr val="000000"/>
                          </a:solidFill>
                          <a:effectLst/>
                          <a:latin typeface="Times New Roman" panose="02020603050405020304" pitchFamily="18" charset="0"/>
                          <a:cs typeface="Times New Roman" panose="02020603050405020304" pitchFamily="18" charset="0"/>
                        </a:rPr>
                        <a:t> integrating additional term premium information into </a:t>
                      </a:r>
                      <a:r>
                        <a:rPr lang="en-US" sz="700" b="0" i="0" u="none" strike="noStrike" dirty="0" err="1">
                          <a:solidFill>
                            <a:srgbClr val="000000"/>
                          </a:solidFill>
                          <a:effectLst/>
                          <a:latin typeface="Times New Roman" panose="02020603050405020304" pitchFamily="18" charset="0"/>
                          <a:cs typeface="Times New Roman" panose="02020603050405020304" pitchFamily="18" charset="0"/>
                        </a:rPr>
                        <a:t>DWM.fact.premium_effective_date_summary</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to 4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On Hold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Data Engineering/ Alternate Solution to be identified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3401653"/>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4</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EP Subtask #2: Sprint Plan: Estimate dates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1 day</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Carly</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3987503"/>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5</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EP Subtask #3: Model Changes that are proposed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to 4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8700980"/>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6</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EP Subtask #4: Engineering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to 4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#3</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7416502"/>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7</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EP Subtask #5: QA</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#3, #4</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3507048"/>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8</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EP Subtask #6: Deployment</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1 day</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#3, #4, #5</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5922853"/>
                  </a:ext>
                </a:extLst>
              </a:tr>
              <a:tr h="269824">
                <a:tc>
                  <a:txBody>
                    <a:bodyPr/>
                    <a:lstStyle/>
                    <a:p>
                      <a:pPr algn="ctr" fontAlgn="b"/>
                      <a:r>
                        <a:rPr lang="en-CM" sz="7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1" i="0" u="none" strike="noStrike">
                          <a:solidFill>
                            <a:srgbClr val="000000"/>
                          </a:solidFill>
                          <a:effectLst/>
                          <a:latin typeface="Times New Roman" panose="02020603050405020304" pitchFamily="18" charset="0"/>
                          <a:cs typeface="Times New Roman" panose="02020603050405020304" pitchFamily="18" charset="0"/>
                        </a:rPr>
                        <a:t>Written Premium Issues</a:t>
                      </a:r>
                      <a:r>
                        <a:rPr lang="en-US" sz="700" b="0" i="0" u="none" strike="noStrike">
                          <a:solidFill>
                            <a:srgbClr val="000000"/>
                          </a:solidFill>
                          <a:effectLst/>
                          <a:latin typeface="Times New Roman" panose="02020603050405020304" pitchFamily="18" charset="0"/>
                          <a:cs typeface="Times New Roman" panose="02020603050405020304" pitchFamily="18" charset="0"/>
                        </a:rPr>
                        <a:t> - Engineering Solution for duplicate premium in Pemco_Reporting logic (DWM.dim.policy_agent)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1" i="0" u="none" strike="noStrike">
                          <a:solidFill>
                            <a:srgbClr val="000000"/>
                          </a:solidFill>
                          <a:effectLst/>
                          <a:latin typeface="Times New Roman" panose="02020603050405020304" pitchFamily="18" charset="0"/>
                          <a:cs typeface="Times New Roman" panose="02020603050405020304" pitchFamily="18" charset="0"/>
                        </a:rPr>
                        <a:t>~ 2 weeks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1"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Samarth/ </a:t>
                      </a:r>
                      <a:r>
                        <a:rPr lang="en-US" sz="700" b="0" i="0" u="none" strike="noStrike" dirty="0" err="1">
                          <a:solidFill>
                            <a:srgbClr val="000000"/>
                          </a:solidFill>
                          <a:effectLst/>
                          <a:latin typeface="Times New Roman" panose="02020603050405020304" pitchFamily="18" charset="0"/>
                          <a:cs typeface="Times New Roman" panose="02020603050405020304" pitchFamily="18" charset="0"/>
                        </a:rPr>
                        <a:t>Pemco</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7152210"/>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10</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dirty="0">
                          <a:solidFill>
                            <a:srgbClr val="000000"/>
                          </a:solidFill>
                          <a:effectLst/>
                          <a:latin typeface="Times New Roman" panose="02020603050405020304" pitchFamily="18" charset="0"/>
                          <a:cs typeface="Times New Roman" panose="02020603050405020304" pitchFamily="18" charset="0"/>
                        </a:rPr>
                        <a:t>WP Subtask #1: Sprint Plan: Estimate dates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1 day</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Carly</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7671784"/>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11</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#2: Engineering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to 4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66986"/>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12</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#3: QA</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#2,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6050787"/>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13</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#4: Deployment</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1 day</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#2, #3</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66688"/>
                  </a:ext>
                </a:extLst>
              </a:tr>
              <a:tr h="26982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14</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1" i="0" u="none" strike="noStrike">
                          <a:solidFill>
                            <a:srgbClr val="000000"/>
                          </a:solidFill>
                          <a:effectLst/>
                          <a:latin typeface="Times New Roman" panose="02020603050405020304" pitchFamily="18" charset="0"/>
                          <a:cs typeface="Times New Roman" panose="02020603050405020304" pitchFamily="18" charset="0"/>
                        </a:rPr>
                        <a:t>Additional Analysis of root cause of Written Premium Variance</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1" i="0" u="none" strike="noStrike">
                          <a:solidFill>
                            <a:srgbClr val="000000"/>
                          </a:solidFill>
                          <a:effectLst/>
                          <a:latin typeface="Times New Roman" panose="02020603050405020304" pitchFamily="18" charset="0"/>
                          <a:cs typeface="Times New Roman" panose="02020603050405020304" pitchFamily="18" charset="0"/>
                        </a:rPr>
                        <a:t>Apr 20 to Apr 24</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1"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Issues with dim.policy_agent table. currently making detailed analysis notes/document</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695498"/>
                  </a:ext>
                </a:extLst>
              </a:tr>
              <a:tr h="26982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15</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WP Subtask #1: Generate Policy level granular data to Analyse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1 day</a:t>
                      </a:r>
                    </a:p>
                  </a:txBody>
                  <a:tcPr marL="3602" marR="3602" marT="3602" marB="17287"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Complete</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Pulled out the policy list and highlighted policies that are uncommon.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5816010"/>
                  </a:ext>
                </a:extLst>
              </a:tr>
              <a:tr h="26982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16</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dirty="0">
                          <a:solidFill>
                            <a:srgbClr val="000000"/>
                          </a:solidFill>
                          <a:effectLst/>
                          <a:latin typeface="Times New Roman" panose="02020603050405020304" pitchFamily="18" charset="0"/>
                          <a:cs typeface="Times New Roman" panose="02020603050405020304" pitchFamily="18" charset="0"/>
                        </a:rPr>
                        <a:t>WP Subtask #2: Categorize the </a:t>
                      </a:r>
                      <a:r>
                        <a:rPr lang="en-US" sz="700" b="0" i="0" u="none" strike="noStrike" dirty="0" err="1">
                          <a:solidFill>
                            <a:srgbClr val="000000"/>
                          </a:solidFill>
                          <a:effectLst/>
                          <a:latin typeface="Times New Roman" panose="02020603050405020304" pitchFamily="18" charset="0"/>
                          <a:cs typeface="Times New Roman" panose="02020603050405020304" pitchFamily="18" charset="0"/>
                        </a:rPr>
                        <a:t>trasaction</a:t>
                      </a:r>
                      <a:r>
                        <a:rPr lang="en-US" sz="700" b="0" i="0" u="none" strike="noStrike" dirty="0">
                          <a:solidFill>
                            <a:srgbClr val="000000"/>
                          </a:solidFill>
                          <a:effectLst/>
                          <a:latin typeface="Times New Roman" panose="02020603050405020304" pitchFamily="18" charset="0"/>
                          <a:cs typeface="Times New Roman" panose="02020603050405020304" pitchFamily="18" charset="0"/>
                        </a:rPr>
                        <a:t> types - Look for Patterns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Looking into highlighted policies and trying to find explainations on the variance</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9988746"/>
                  </a:ext>
                </a:extLst>
              </a:tr>
              <a:tr h="26982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17</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dirty="0">
                          <a:solidFill>
                            <a:srgbClr val="000000"/>
                          </a:solidFill>
                          <a:effectLst/>
                          <a:latin typeface="Times New Roman" panose="02020603050405020304" pitchFamily="18" charset="0"/>
                          <a:cs typeface="Times New Roman" panose="02020603050405020304" pitchFamily="18" charset="0"/>
                        </a:rPr>
                        <a:t>WP Subtask #2: Backtrack sourcing and logic (Document the data lineage) </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2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In Progress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0" i="0" u="none" strike="noStrike">
                          <a:solidFill>
                            <a:srgbClr val="000000"/>
                          </a:solidFill>
                          <a:effectLst/>
                          <a:latin typeface="Times New Roman" panose="02020603050405020304" pitchFamily="18" charset="0"/>
                          <a:cs typeface="Times New Roman" panose="02020603050405020304" pitchFamily="18" charset="0"/>
                        </a:rPr>
                        <a:t>Documentation in progress along with the analysis.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a:solidFill>
                            <a:srgbClr val="000000"/>
                          </a:solidFill>
                          <a:effectLst/>
                          <a:latin typeface="Times New Roman" panose="02020603050405020304" pitchFamily="18" charset="0"/>
                          <a:cs typeface="Times New Roman" panose="02020603050405020304" pitchFamily="18" charset="0"/>
                        </a:rPr>
                        <a:t>Samarth/ Pemco</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6457797"/>
                  </a:ext>
                </a:extLst>
              </a:tr>
              <a:tr h="146943">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633935"/>
                  </a:ext>
                </a:extLst>
              </a:tr>
              <a:tr h="147614">
                <a:tc>
                  <a:txBody>
                    <a:bodyPr/>
                    <a:lstStyle/>
                    <a:p>
                      <a:pPr algn="ctr" fontAlgn="b"/>
                      <a:r>
                        <a:rPr lang="en-CM" sz="700" b="0" i="0" u="none" strike="noStrike">
                          <a:solidFill>
                            <a:srgbClr val="000000"/>
                          </a:solidFill>
                          <a:effectLst/>
                          <a:latin typeface="Times New Roman" panose="02020603050405020304" pitchFamily="18" charset="0"/>
                          <a:cs typeface="Times New Roman" panose="02020603050405020304" pitchFamily="18" charset="0"/>
                        </a:rPr>
                        <a:t>18</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Agent Dashboard</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700" b="1" i="0" u="none" strike="noStrike">
                          <a:solidFill>
                            <a:srgbClr val="000000"/>
                          </a:solidFill>
                          <a:effectLst/>
                          <a:latin typeface="Times New Roman" panose="02020603050405020304" pitchFamily="18" charset="0"/>
                          <a:cs typeface="Times New Roman" panose="02020603050405020304" pitchFamily="18" charset="0"/>
                        </a:rPr>
                        <a:t>Periodic Full Data Load of Tables and Agent Dashboard Refresh</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Times New Roman" panose="02020603050405020304" pitchFamily="18" charset="0"/>
                          <a:cs typeface="Times New Roman" panose="02020603050405020304" pitchFamily="18" charset="0"/>
                        </a:rPr>
                        <a:t>1.5 to 2 days</a:t>
                      </a: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CM" sz="700" b="0" i="0" u="none" strike="noStrike">
                        <a:solidFill>
                          <a:srgbClr val="000000"/>
                        </a:solidFill>
                        <a:effectLst/>
                        <a:latin typeface="Times New Roman" panose="02020603050405020304" pitchFamily="18" charset="0"/>
                        <a:cs typeface="Times New Roman" panose="02020603050405020304" pitchFamily="18" charset="0"/>
                      </a:endParaRPr>
                    </a:p>
                  </a:txBody>
                  <a:tcPr marL="3602" marR="3602" marT="3602" marB="17287"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700" b="0" i="0" u="none" strike="noStrike" dirty="0">
                          <a:solidFill>
                            <a:srgbClr val="000000"/>
                          </a:solidFill>
                          <a:effectLst/>
                          <a:latin typeface="Times New Roman" panose="02020603050405020304" pitchFamily="18" charset="0"/>
                          <a:cs typeface="Times New Roman" panose="02020603050405020304" pitchFamily="18" charset="0"/>
                        </a:rPr>
                        <a:t>Samarth</a:t>
                      </a:r>
                    </a:p>
                  </a:txBody>
                  <a:tcPr marL="3602" marR="3602" marT="3602" marB="1728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8806966"/>
                  </a:ext>
                </a:extLst>
              </a:tr>
            </a:tbl>
          </a:graphicData>
        </a:graphic>
      </p:graphicFrame>
    </p:spTree>
    <p:extLst>
      <p:ext uri="{BB962C8B-B14F-4D97-AF65-F5344CB8AC3E}">
        <p14:creationId xmlns:p14="http://schemas.microsoft.com/office/powerpoint/2010/main" val="2460662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5A8BF-4703-C281-3F2C-2BA7B9C4061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4A46F4-D3E4-7632-941F-7731F2B802FC}"/>
              </a:ext>
            </a:extLst>
          </p:cNvPr>
          <p:cNvSpPr>
            <a:spLocks noGrp="1"/>
          </p:cNvSpPr>
          <p:nvPr>
            <p:ph type="sldNum" sz="quarter" idx="12"/>
          </p:nvPr>
        </p:nvSpPr>
        <p:spPr>
          <a:xfrm>
            <a:off x="9296399" y="6386052"/>
            <a:ext cx="2743200" cy="365125"/>
          </a:xfrm>
        </p:spPr>
        <p:txBody>
          <a:bodyPr/>
          <a:lstStyle/>
          <a:p>
            <a:fld id="{04329678-077B-4687-BED6-FC49195236EC}" type="slidenum">
              <a:rPr lang="en-US" smtClean="0"/>
              <a:t>4</a:t>
            </a:fld>
            <a:endParaRPr lang="en-US"/>
          </a:p>
        </p:txBody>
      </p:sp>
      <p:sp>
        <p:nvSpPr>
          <p:cNvPr id="7" name="Title 8">
            <a:extLst>
              <a:ext uri="{FF2B5EF4-FFF2-40B4-BE49-F238E27FC236}">
                <a16:creationId xmlns:a16="http://schemas.microsoft.com/office/drawing/2014/main" id="{117811C1-B67A-E3D4-5C74-539C9EF9AC9A}"/>
              </a:ext>
            </a:extLst>
          </p:cNvPr>
          <p:cNvSpPr txBox="1">
            <a:spLocks/>
          </p:cNvSpPr>
          <p:nvPr/>
        </p:nvSpPr>
        <p:spPr>
          <a:xfrm>
            <a:off x="152401" y="317864"/>
            <a:ext cx="11341510" cy="463448"/>
          </a:xfrm>
          <a:prstGeom prst="rect">
            <a:avLst/>
          </a:prstGeom>
          <a:solidFill>
            <a:srgbClr val="DDDDDD"/>
          </a:solidFill>
          <a:ln>
            <a:solidFill>
              <a:schemeClr val="tx1"/>
            </a:solidFill>
          </a:ln>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CM" sz="2000" b="1" dirty="0">
                <a:cs typeface="Times New Roman" panose="02020603050405020304" pitchFamily="18" charset="0"/>
              </a:rPr>
              <a:t>Tableau Admin &amp; PROD Support</a:t>
            </a:r>
            <a:r>
              <a:rPr lang="en-US" sz="2000" b="1" dirty="0"/>
              <a:t> :</a:t>
            </a:r>
          </a:p>
        </p:txBody>
      </p:sp>
      <p:graphicFrame>
        <p:nvGraphicFramePr>
          <p:cNvPr id="9" name="Content Placeholder 19">
            <a:extLst>
              <a:ext uri="{FF2B5EF4-FFF2-40B4-BE49-F238E27FC236}">
                <a16:creationId xmlns:a16="http://schemas.microsoft.com/office/drawing/2014/main" id="{D252AAE4-0547-15DF-9B33-D152404190BB}"/>
              </a:ext>
            </a:extLst>
          </p:cNvPr>
          <p:cNvGraphicFramePr>
            <a:graphicFrameLocks/>
          </p:cNvGraphicFramePr>
          <p:nvPr>
            <p:extLst>
              <p:ext uri="{D42A27DB-BD31-4B8C-83A1-F6EECF244321}">
                <p14:modId xmlns:p14="http://schemas.microsoft.com/office/powerpoint/2010/main" val="2040444543"/>
              </p:ext>
            </p:extLst>
          </p:nvPr>
        </p:nvGraphicFramePr>
        <p:xfrm>
          <a:off x="152401" y="840305"/>
          <a:ext cx="11341510" cy="5699831"/>
        </p:xfrm>
        <a:graphic>
          <a:graphicData uri="http://schemas.openxmlformats.org/drawingml/2006/table">
            <a:tbl>
              <a:tblPr bandRow="1">
                <a:tableStyleId>{5C22544A-7EE6-4342-B048-85BDC9FD1C3A}</a:tableStyleId>
              </a:tblPr>
              <a:tblGrid>
                <a:gridCol w="11341510">
                  <a:extLst>
                    <a:ext uri="{9D8B030D-6E8A-4147-A177-3AD203B41FA5}">
                      <a16:colId xmlns:a16="http://schemas.microsoft.com/office/drawing/2014/main" val="20000"/>
                    </a:ext>
                  </a:extLst>
                </a:gridCol>
              </a:tblGrid>
              <a:tr h="5699831">
                <a:tc>
                  <a:txBody>
                    <a:bodyPr/>
                    <a:lstStyle/>
                    <a:p>
                      <a:r>
                        <a:rPr lang="en-US" sz="1200" b="1" u="sng" dirty="0">
                          <a:solidFill>
                            <a:schemeClr val="accent1"/>
                          </a:solidFill>
                          <a:latin typeface="IBM Plex Sans"/>
                        </a:rPr>
                        <a:t>Tasks/Activities completed this week:</a:t>
                      </a:r>
                    </a:p>
                    <a:p>
                      <a:endParaRPr lang="en-CM" sz="1200" b="1" dirty="0">
                        <a:latin typeface="Times New Roman" panose="02020603050405020304" pitchFamily="18" charset="0"/>
                        <a:cs typeface="Times New Roman" panose="02020603050405020304" pitchFamily="18" charset="0"/>
                      </a:endParaRPr>
                    </a:p>
                    <a:p>
                      <a:r>
                        <a:rPr lang="en-CM" sz="1200" b="1" u="sng" kern="1200" dirty="0">
                          <a:solidFill>
                            <a:schemeClr val="accent1"/>
                          </a:solidFill>
                          <a:latin typeface="IBM Plex Sans"/>
                          <a:ea typeface="+mn-ea"/>
                          <a:cs typeface="+mn-cs"/>
                        </a:rPr>
                        <a:t>Tableau Admin:</a:t>
                      </a:r>
                    </a:p>
                    <a:p>
                      <a:endParaRPr lang="en-CM" sz="1200" b="1" u="sng" kern="1200" dirty="0">
                        <a:solidFill>
                          <a:schemeClr val="accent1"/>
                        </a:solidFill>
                        <a:latin typeface="IBM Plex Sans"/>
                        <a:ea typeface="+mn-ea"/>
                        <a:cs typeface="+mn-cs"/>
                      </a:endParaRPr>
                    </a:p>
                    <a:p>
                      <a:pPr marL="285750" indent="-285750">
                        <a:buFont typeface="Arial" panose="020B0604020202020204" pitchFamily="34" charset="0"/>
                        <a:buChar char="•"/>
                      </a:pPr>
                      <a:r>
                        <a:rPr lang="en-US" sz="1200" b="0" u="none" strike="noStrike" kern="1200" dirty="0">
                          <a:solidFill>
                            <a:srgbClr val="000000"/>
                          </a:solidFill>
                          <a:effectLst/>
                          <a:latin typeface="+mn-lt"/>
                          <a:ea typeface="+mn-ea"/>
                          <a:cs typeface="+mn-cs"/>
                        </a:rPr>
                        <a:t>Set up and configuration of a new utility tableau server on Windows OS 2022 - Completed.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rgbClr val="000000"/>
                          </a:solidFill>
                          <a:effectLst/>
                          <a:latin typeface="+mn-lt"/>
                          <a:ea typeface="+mn-ea"/>
                          <a:cs typeface="+mn-cs"/>
                        </a:rPr>
                        <a:t>Completed weekly Tableau maintenance activities.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rgbClr val="000000"/>
                          </a:solidFill>
                          <a:effectLst/>
                          <a:latin typeface="+mn-lt"/>
                          <a:ea typeface="+mn-ea"/>
                          <a:cs typeface="+mn-cs"/>
                        </a:rPr>
                        <a:t>setup and configuration of a new Test Tableau server Node 1 (2025.1.15) on Windows OS 2022 - In progress – 08 May 2026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rgbClr val="000000"/>
                          </a:solidFill>
                          <a:effectLst/>
                          <a:latin typeface="+mn-lt"/>
                          <a:ea typeface="+mn-ea"/>
                          <a:cs typeface="+mn-cs"/>
                        </a:rPr>
                        <a:t>Working with Edwin to set up the write‑back extension in his dashboards.</a:t>
                      </a:r>
                    </a:p>
                    <a:p>
                      <a:pPr marL="285750" indent="-285750">
                        <a:buFont typeface="Arial" panose="020B0604020202020204" pitchFamily="34" charset="0"/>
                        <a:buChar char="•"/>
                      </a:pPr>
                      <a:endParaRPr lang="en-US" sz="1400" b="0" dirty="0">
                        <a:solidFill>
                          <a:schemeClr val="dk1"/>
                        </a:solidFill>
                        <a:cs typeface="+mn-cs"/>
                      </a:endParaRPr>
                    </a:p>
                    <a:p>
                      <a:pPr marL="0" indent="0" algn="l" defTabSz="914400" rtl="0" eaLnBrk="1" latinLnBrk="0" hangingPunct="1">
                        <a:buFont typeface="Arial" panose="020B0604020202020204" pitchFamily="34" charset="0"/>
                        <a:buNone/>
                      </a:pPr>
                      <a:r>
                        <a:rPr lang="en-CM" sz="1200" b="1" u="sng" kern="1200" dirty="0">
                          <a:solidFill>
                            <a:schemeClr val="accent1"/>
                          </a:solidFill>
                          <a:latin typeface="IBM Plex Sans"/>
                          <a:ea typeface="+mn-ea"/>
                          <a:cs typeface="+mn-cs"/>
                        </a:rPr>
                        <a:t>PROD Support</a:t>
                      </a:r>
                      <a:r>
                        <a:rPr lang="en-US" sz="1200" b="1" u="sng" kern="1200" dirty="0">
                          <a:solidFill>
                            <a:schemeClr val="accent1"/>
                          </a:solidFill>
                          <a:latin typeface="IBM Plex Sans"/>
                          <a:ea typeface="+mn-ea"/>
                          <a:cs typeface="+mn-cs"/>
                        </a:rPr>
                        <a:t> </a:t>
                      </a:r>
                    </a:p>
                    <a:p>
                      <a:pPr marL="285750" indent="-285750">
                        <a:buFont typeface="Arial" panose="020B0604020202020204" pitchFamily="34" charset="0"/>
                        <a:buChar char="•"/>
                      </a:pPr>
                      <a:endParaRPr lang="en-US" sz="1400" dirty="0">
                        <a:solidFill>
                          <a:schemeClr val="dk1"/>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none" strike="noStrike" kern="1200" dirty="0">
                          <a:solidFill>
                            <a:srgbClr val="000000"/>
                          </a:solidFill>
                          <a:effectLst/>
                          <a:latin typeface="+mn-lt"/>
                          <a:ea typeface="+mn-ea"/>
                          <a:cs typeface="+mn-cs"/>
                        </a:rPr>
                        <a:t>Delivered production support by diagnosing SQL job failures and coordinating escalations with data engineers and relevant users when required.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0" u="sng" kern="1200" dirty="0">
                        <a:solidFill>
                          <a:schemeClr val="accen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58739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0966C5-C82A-6002-AEE1-1390CA575BE8}"/>
              </a:ext>
            </a:extLst>
          </p:cNvPr>
          <p:cNvSpPr>
            <a:spLocks noGrp="1"/>
          </p:cNvSpPr>
          <p:nvPr>
            <p:ph type="sldNum" sz="quarter" idx="12"/>
          </p:nvPr>
        </p:nvSpPr>
        <p:spPr/>
        <p:txBody>
          <a:bodyPr/>
          <a:lstStyle/>
          <a:p>
            <a:fld id="{04329678-077B-4687-BED6-FC49195236EC}" type="slidenum">
              <a:rPr lang="en-US" smtClean="0"/>
              <a:t>5</a:t>
            </a:fld>
            <a:endParaRPr lang="en-US"/>
          </a:p>
        </p:txBody>
      </p:sp>
      <p:pic>
        <p:nvPicPr>
          <p:cNvPr id="3" name="Picture 2" descr="Logo&#10;&#10;Description automatically generated">
            <a:extLst>
              <a:ext uri="{FF2B5EF4-FFF2-40B4-BE49-F238E27FC236}">
                <a16:creationId xmlns:a16="http://schemas.microsoft.com/office/drawing/2014/main" id="{AA34DDA5-10A0-50EA-E37F-35DDC5267C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6875" y="564477"/>
            <a:ext cx="2269677" cy="365125"/>
          </a:xfrm>
          <a:prstGeom prst="rect">
            <a:avLst/>
          </a:prstGeom>
        </p:spPr>
      </p:pic>
      <p:sp>
        <p:nvSpPr>
          <p:cNvPr id="4" name="Text Box 1">
            <a:extLst>
              <a:ext uri="{FF2B5EF4-FFF2-40B4-BE49-F238E27FC236}">
                <a16:creationId xmlns:a16="http://schemas.microsoft.com/office/drawing/2014/main" id="{A7BF0915-3B69-42AD-6C9C-481EA70B83E5}"/>
              </a:ext>
            </a:extLst>
          </p:cNvPr>
          <p:cNvSpPr txBox="1"/>
          <p:nvPr/>
        </p:nvSpPr>
        <p:spPr>
          <a:xfrm>
            <a:off x="4022954" y="3045007"/>
            <a:ext cx="3339002" cy="7679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4999" tIns="44999" rIns="44999" bIns="44999">
            <a:spAutoFit/>
          </a:bodyPr>
          <a:lstStyle>
            <a:lvl1pPr algn="ct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4400">
                <a:solidFill>
                  <a:srgbClr val="000000"/>
                </a:solidFill>
              </a:defRPr>
            </a:lvl1pPr>
          </a:lstStyle>
          <a:p>
            <a:r>
              <a:rPr dirty="0"/>
              <a:t>Thank You</a:t>
            </a:r>
          </a:p>
        </p:txBody>
      </p:sp>
    </p:spTree>
    <p:extLst>
      <p:ext uri="{BB962C8B-B14F-4D97-AF65-F5344CB8AC3E}">
        <p14:creationId xmlns:p14="http://schemas.microsoft.com/office/powerpoint/2010/main" val="1849755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EB207AD34A07488C33EED21D576793" ma:contentTypeVersion="7" ma:contentTypeDescription="Create a new document." ma:contentTypeScope="" ma:versionID="59ab0e35263c01addf9acd3fa5498b96">
  <xsd:schema xmlns:xsd="http://www.w3.org/2001/XMLSchema" xmlns:xs="http://www.w3.org/2001/XMLSchema" xmlns:p="http://schemas.microsoft.com/office/2006/metadata/properties" xmlns:ns2="9c6c0311-4915-4171-b08a-65e7ed7b4bdf" targetNamespace="http://schemas.microsoft.com/office/2006/metadata/properties" ma:root="true" ma:fieldsID="d054545abe7634f662f113c688ca0ffc" ns2:_="">
    <xsd:import namespace="9c6c0311-4915-4171-b08a-65e7ed7b4b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6c0311-4915-4171-b08a-65e7ed7b4b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DD4AB3-E1C0-4A17-B021-424B2AE9B1CB}">
  <ds:schemaRefs>
    <ds:schemaRef ds:uri="http://schemas.microsoft.com/sharepoint/v3/contenttype/forms"/>
  </ds:schemaRefs>
</ds:datastoreItem>
</file>

<file path=customXml/itemProps2.xml><?xml version="1.0" encoding="utf-8"?>
<ds:datastoreItem xmlns:ds="http://schemas.openxmlformats.org/officeDocument/2006/customXml" ds:itemID="{692D0626-EFA5-4EC7-8041-37F887208BC6}">
  <ds:schemaRefs>
    <ds:schemaRef ds:uri="http://schemas.microsoft.com/office/2006/documentManagement/types"/>
    <ds:schemaRef ds:uri="http://purl.org/dc/elements/1.1/"/>
    <ds:schemaRef ds:uri="http://www.w3.org/XML/1998/namespace"/>
    <ds:schemaRef ds:uri="9c6c0311-4915-4171-b08a-65e7ed7b4bdf"/>
    <ds:schemaRef ds:uri="http://purl.org/dc/terms/"/>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3D2B5671-B01D-420D-8AF7-B106762FCA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6c0311-4915-4171-b08a-65e7ed7b4b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35356</TotalTime>
  <Words>1318</Words>
  <Application>Microsoft Macintosh PowerPoint</Application>
  <PresentationFormat>Widescreen</PresentationFormat>
  <Paragraphs>274</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 Narrow</vt:lpstr>
      <vt:lpstr>Arial</vt:lpstr>
      <vt:lpstr>Calibri</vt:lpstr>
      <vt:lpstr>Calibri Light</vt:lpstr>
      <vt:lpstr>IBM Plex Sans</vt:lpstr>
      <vt:lpstr>Times New Roman</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WSR</dc:title>
  <dc:creator>Subhasis Nayak</dc:creator>
  <cp:lastModifiedBy>Shiva Sirpathi (C)</cp:lastModifiedBy>
  <cp:revision>325</cp:revision>
  <dcterms:created xsi:type="dcterms:W3CDTF">2021-04-24T14:21:37Z</dcterms:created>
  <dcterms:modified xsi:type="dcterms:W3CDTF">2026-05-04T15:42:07Z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0x01010046EB207AD34A07488C33EED21D576793</vt:lpwstr>
  </property>
</Properties>
</file>