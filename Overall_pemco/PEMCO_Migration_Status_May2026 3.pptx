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2" r:id="rId6"/>
    <p:sldId id="263" r:id="rId7"/>
    <p:sldId id="267" r:id="rId8"/>
    <p:sldId id="266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2"/>
  </p:normalViewPr>
  <p:slideViewPr>
    <p:cSldViewPr snapToGrid="0" snapToObjects="1">
      <p:cViewPr varScale="1">
        <p:scale>
          <a:sx n="106" d="100"/>
          <a:sy n="106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053D9-33AF-9748-8753-E9CD7CFC9542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ECBBF-16CD-9443-9AC1-FBD812883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93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ECBBF-16CD-9443-9AC1-FBD812883D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33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ECBBF-16CD-9443-9AC1-FBD812883D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93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27" y="5189887"/>
            <a:ext cx="12188952" cy="5486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26171"/>
            <a:ext cx="369311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dirty="0">
                <a:solidFill>
                  <a:schemeClr val="bg1"/>
                </a:solidFill>
              </a:rPr>
              <a:t>PEMCO</a:t>
            </a:r>
            <a:r>
              <a:rPr lang="en-US" sz="2500" b="0" dirty="0">
                <a:solidFill>
                  <a:schemeClr val="bg1"/>
                </a:solidFill>
              </a:rPr>
              <a:t> INSURANCE</a:t>
            </a:r>
            <a:endParaRPr sz="2500" b="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703225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</a:rPr>
              <a:t>BIM Retirement &amp; Report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76583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CCCCCC"/>
                </a:solidFill>
              </a:rPr>
              <a:t>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758" y="5334686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CCCCCC"/>
                </a:solidFill>
              </a:rPr>
              <a:t>Bourntec</a:t>
            </a:r>
            <a:r>
              <a:rPr sz="1500" b="0" dirty="0">
                <a:solidFill>
                  <a:srgbClr val="CCCCCC"/>
                </a:solidFill>
              </a:rPr>
              <a:t> Solutions  |  PEMCO Mutual Insurance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AE15A4-1ABD-538C-55D3-94B1CDEC9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59" y="5760720"/>
            <a:ext cx="2701379" cy="8504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EB3E5C-0DA7-5424-657B-4D6720641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345" y="264696"/>
            <a:ext cx="2975887" cy="12271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Previous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chemeClr val="bg1"/>
                </a:solidFill>
              </a:rPr>
              <a:t>Legacy BIM-Based Reporting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261872"/>
            <a:ext cx="525780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02B5C"/>
                </a:solidFill>
              </a:rPr>
              <a:t>BIM as the Source of Trut</a:t>
            </a:r>
            <a:r>
              <a:rPr lang="en-US" sz="1500" b="1" dirty="0">
                <a:solidFill>
                  <a:srgbClr val="002B5C"/>
                </a:solidFill>
              </a:rPr>
              <a:t>h</a:t>
            </a:r>
            <a:endParaRPr sz="1500" b="1" dirty="0">
              <a:solidFill>
                <a:srgbClr val="002B5C"/>
              </a:solidFill>
            </a:endParaRP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444444"/>
                </a:solidFill>
              </a:rPr>
              <a:t>All enterprise reporting sourced from BIM (Business Intelligence Model)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444444"/>
                </a:solidFill>
              </a:rPr>
              <a:t>BIM ran Daily, Weekly, and Monthly ETL jobs from HDS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444444"/>
                </a:solidFill>
              </a:rPr>
              <a:t>Major monthly ETL on the 1st triggered SSIS packages &amp; stored procedures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444444"/>
                </a:solidFill>
              </a:rPr>
              <a:t>Data flowed into Production Reporting, PMIC Data Warehouse, and PMIC Data Mart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577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8" y="1261872"/>
            <a:ext cx="534924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02B5C"/>
                </a:solidFill>
              </a:rPr>
              <a:t>Reporting Tools in Use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444444"/>
                </a:solidFill>
              </a:rPr>
              <a:t>BOXI (Business Objects): Scheduled reports via email &amp; shared drives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444444"/>
                </a:solidFill>
              </a:rPr>
              <a:t>SSRS: Proxy and operational reports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444444"/>
                </a:solidFill>
              </a:rPr>
              <a:t>Tableau: Multiple disconnected dashboards, each with separate BIM sources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444444"/>
                </a:solidFill>
              </a:rPr>
              <a:t>Agent Dashboard: Generated via SSRS from BIM stored procedures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11430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3547872"/>
            <a:ext cx="1120140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07A8A"/>
                </a:solidFill>
              </a:rPr>
              <a:t>Challenges Driving Migration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444444"/>
                </a:solidFill>
              </a:rPr>
              <a:t>BIM retirement mandated migration of all reports to AWM/DWM (Enterprise Data Warehouse)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444444"/>
                </a:solidFill>
              </a:rPr>
              <a:t>Table and column names differ between BIM and AWM — business logic must be re-implemented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444444"/>
                </a:solidFill>
              </a:rPr>
              <a:t>Some reports pulled from multiple sources (BIM, Data Mart, Production Reporting)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444444"/>
                </a:solidFill>
              </a:rPr>
              <a:t>Monthly BIM ETL dependency created latency and a single point of failure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BIM Reporting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chemeClr val="bg1"/>
                </a:solidFill>
              </a:rPr>
              <a:t>Previous State — Data Flow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40880" y="1188720"/>
            <a:ext cx="484632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50608" y="1261872"/>
            <a:ext cx="4617720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07A8A"/>
                </a:solidFill>
              </a:rPr>
              <a:t>Key Points</a:t>
            </a:r>
          </a:p>
          <a:p>
            <a:pPr>
              <a:spcBef>
                <a:spcPts val="200"/>
              </a:spcBef>
            </a:pPr>
            <a:r>
              <a:rPr sz="1500" dirty="0">
                <a:solidFill>
                  <a:srgbClr val="444444"/>
                </a:solidFill>
              </a:rPr>
              <a:t>• BIM served as the central hub — all data originated from BIM Monthly, Weekly, and Daily databases</a:t>
            </a:r>
          </a:p>
          <a:p>
            <a:pPr>
              <a:spcBef>
                <a:spcPts val="200"/>
              </a:spcBef>
            </a:pPr>
            <a:r>
              <a:rPr sz="1500" dirty="0">
                <a:solidFill>
                  <a:srgbClr val="444444"/>
                </a:solidFill>
              </a:rPr>
              <a:t>• Data Sources (Exceed, HDS, external) fed BIM via SSIS ETL packages running on the 1st of each month</a:t>
            </a:r>
          </a:p>
          <a:p>
            <a:pPr>
              <a:spcBef>
                <a:spcPts val="200"/>
              </a:spcBef>
            </a:pPr>
            <a:r>
              <a:rPr sz="1500" dirty="0">
                <a:solidFill>
                  <a:srgbClr val="444444"/>
                </a:solidFill>
              </a:rPr>
              <a:t>• BIM fed Production Reporting tables consumed by SSRS and BOXI for report generation</a:t>
            </a:r>
          </a:p>
          <a:p>
            <a:pPr>
              <a:spcBef>
                <a:spcPts val="200"/>
              </a:spcBef>
            </a:pPr>
            <a:r>
              <a:rPr sz="1500" dirty="0">
                <a:solidFill>
                  <a:srgbClr val="444444"/>
                </a:solidFill>
              </a:rPr>
              <a:t>• PMIC Data Warehouse and PMIC Data Mart were downstream layers also sourced from BIM</a:t>
            </a:r>
          </a:p>
          <a:p>
            <a:pPr>
              <a:spcBef>
                <a:spcPts val="200"/>
              </a:spcBef>
            </a:pPr>
            <a:r>
              <a:rPr sz="1500" dirty="0">
                <a:solidFill>
                  <a:srgbClr val="444444"/>
                </a:solidFill>
              </a:rPr>
              <a:t>• Final reports (BOXI, SSRS, Tableau) served from Production Reporting and PMIC Data Mart</a:t>
            </a:r>
          </a:p>
          <a:p>
            <a:pPr>
              <a:spcBef>
                <a:spcPts val="200"/>
              </a:spcBef>
            </a:pPr>
            <a:r>
              <a:rPr sz="1500" dirty="0">
                <a:solidFill>
                  <a:srgbClr val="444444"/>
                </a:solidFill>
              </a:rPr>
              <a:t>• FYPE received a separate data feed from BIM outside the standard reporting path</a:t>
            </a:r>
          </a:p>
          <a:p>
            <a:pPr>
              <a:spcBef>
                <a:spcPts val="200"/>
              </a:spcBef>
            </a:pPr>
            <a:r>
              <a:rPr sz="1500" dirty="0">
                <a:solidFill>
                  <a:srgbClr val="444444"/>
                </a:solidFill>
              </a:rPr>
              <a:t>• BIM-centric design created a single point of failure — any ETL issue delayed all reporting</a:t>
            </a:r>
          </a:p>
        </p:txBody>
      </p:sp>
      <p:pic>
        <p:nvPicPr>
          <p:cNvPr id="10" name="Picture 9" descr="A diagram of a company's data processing process&#10;&#10;AI-generated content may be incorrect.">
            <a:extLst>
              <a:ext uri="{FF2B5EF4-FFF2-40B4-BE49-F238E27FC236}">
                <a16:creationId xmlns:a16="http://schemas.microsoft.com/office/drawing/2014/main" id="{1571DB48-BEB8-4DB3-C9B1-CC82C5730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1" y="1634932"/>
            <a:ext cx="6787605" cy="41733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BIM to EDW-PROD Lineage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chemeClr val="bg1"/>
                </a:solidFill>
              </a:rPr>
              <a:t>Migration Methodology — Tracing from BIM to AWM/DWM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7198D42-D597-EDC0-4B57-634BF157C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02" y="1600200"/>
            <a:ext cx="11548619" cy="41268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Toolsets — Current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chemeClr val="bg1"/>
                </a:solidFill>
              </a:rPr>
              <a:t>Developer, Analyst, Modeler, QA &amp; Reporting Stacks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20EBB03F-B7AD-ECA0-F7FD-3F9CB76C97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0" t="4575" r="2291"/>
          <a:stretch/>
        </p:blipFill>
        <p:spPr bwMode="auto">
          <a:xfrm>
            <a:off x="139667" y="1140658"/>
            <a:ext cx="7909460" cy="51046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A9C77BD-8E2B-B77F-900C-0515DE3EA985}"/>
              </a:ext>
            </a:extLst>
          </p:cNvPr>
          <p:cNvSpPr/>
          <p:nvPr/>
        </p:nvSpPr>
        <p:spPr>
          <a:xfrm>
            <a:off x="8049127" y="1097280"/>
            <a:ext cx="4000031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86B463-7111-DDD2-7E22-F1C63AE07C5A}"/>
              </a:ext>
            </a:extLst>
          </p:cNvPr>
          <p:cNvSpPr txBox="1"/>
          <p:nvPr/>
        </p:nvSpPr>
        <p:spPr>
          <a:xfrm>
            <a:off x="8116035" y="1170432"/>
            <a:ext cx="38325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007A8A"/>
                </a:solidFill>
              </a:rPr>
              <a:t>Key Points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OQP, </a:t>
            </a:r>
            <a:r>
              <a:rPr lang="en-US" sz="1500" dirty="0" err="1"/>
              <a:t>SalesForce</a:t>
            </a:r>
            <a:r>
              <a:rPr lang="en-US" sz="1500" dirty="0"/>
              <a:t>, DRE → HCS (Azure/Synapse) via CDC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Exceed (DB2) &amp; </a:t>
            </a:r>
            <a:r>
              <a:rPr lang="en-US" sz="1500" dirty="0" err="1"/>
              <a:t>SalesForce</a:t>
            </a:r>
            <a:r>
              <a:rPr lang="en-US" sz="1500" dirty="0"/>
              <a:t> → HDS SQL DB via Qlik Replicate / </a:t>
            </a:r>
            <a:r>
              <a:rPr lang="en-US" sz="1500" dirty="0" err="1"/>
              <a:t>DBAmp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BIML packages + PowerShell Deploy for ETL at both HCS and HDS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Data lands in AWM SQL DB → DWM SQL DB (replaces BIM)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Role-based stacks: Developer (VS, BIML, </a:t>
            </a:r>
            <a:r>
              <a:rPr lang="en-US" sz="1500" dirty="0" err="1"/>
              <a:t>AzureDevOps</a:t>
            </a:r>
            <a:r>
              <a:rPr lang="en-US" sz="1500" dirty="0"/>
              <a:t>), Analyst (Tableau, BOXI), Modeler (Erwin), QA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Reporting: BOXI, Tableau, SSRS, Power BI, Mainframe CSV — all sourced from AWM/DWM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What We Accomplished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</a:rPr>
              <a:t>Completed Migrations — All Reports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651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274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</a:rPr>
              <a:t>  BOXI → Power BI  (Ellen's Requirement)  |  4 Reports  | 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89887"/>
            <a:ext cx="5394960" cy="13186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463040"/>
            <a:ext cx="516636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en-US" sz="1300" dirty="0">
                <a:solidFill>
                  <a:srgbClr val="444444"/>
                </a:solidFill>
              </a:rPr>
              <a:t>					</a:t>
            </a:r>
            <a:r>
              <a:rPr lang="en-US" sz="1300" b="1" dirty="0">
                <a:solidFill>
                  <a:srgbClr val="444444"/>
                </a:solidFill>
              </a:rPr>
              <a:t>BEFORE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444444"/>
                </a:solidFill>
              </a:rPr>
              <a:t>  Agent Loss Experience Report (O0140A-M1A-P01)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444444"/>
                </a:solidFill>
              </a:rPr>
              <a:t>  Agent Loss Experience Report — Current 12 Months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444444"/>
                </a:solidFill>
              </a:rPr>
              <a:t>  Billing Accounts with Suspended Disbursements (O0169A-W1C-P01)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444444"/>
                </a:solidFill>
              </a:rPr>
              <a:t>  Monthly Direct Sales Incentive Count Report (O0489A-M5P-P01)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389888"/>
            <a:ext cx="5943600" cy="13186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19038" y="1342512"/>
            <a:ext cx="5715000" cy="14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en-US" sz="1300" dirty="0">
                <a:solidFill>
                  <a:srgbClr val="444444"/>
                </a:solidFill>
              </a:rPr>
              <a:t>					</a:t>
            </a:r>
            <a:r>
              <a:rPr lang="en-US" sz="1300" b="1" dirty="0">
                <a:solidFill>
                  <a:srgbClr val="444444"/>
                </a:solidFill>
              </a:rPr>
              <a:t>AFTER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444444"/>
                </a:solidFill>
              </a:rPr>
              <a:t>Power BI dashboards developed by splitting reports into page layouts: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444444"/>
                </a:solidFill>
              </a:rPr>
              <a:t>   •  LOSS_DETAIL_PAGE_LAYOUT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444444"/>
                </a:solidFill>
              </a:rPr>
              <a:t>   •  POLICY_COUNT_PAGE_LAYOUT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444444"/>
                </a:solidFill>
              </a:rPr>
              <a:t>   •  POLICY_DETAIL_PAGE_LAYOUT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444444"/>
                </a:solidFill>
              </a:rPr>
              <a:t>   •  PRODUCTION_STATEMENT_PAGE_LAYOUT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1604"/>
            <a:ext cx="11425428" cy="735118"/>
          </a:xfrm>
          <a:prstGeom prst="rect">
            <a:avLst/>
          </a:prstGeom>
          <a:solidFill>
            <a:srgbClr val="E8F4F8"/>
          </a:solidFill>
          <a:ln w="9525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769477"/>
            <a:ext cx="11201400" cy="743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Developed </a:t>
            </a:r>
            <a:r>
              <a:rPr sz="1300" dirty="0">
                <a:solidFill>
                  <a:srgbClr val="444444"/>
                </a:solidFill>
              </a:rPr>
              <a:t>Ellen's commission validation requirement </a:t>
            </a:r>
            <a:r>
              <a:rPr lang="en-US" sz="1300" dirty="0">
                <a:solidFill>
                  <a:srgbClr val="444444"/>
                </a:solidFill>
              </a:rPr>
              <a:t>- </a:t>
            </a:r>
            <a:r>
              <a:rPr sz="1300" dirty="0">
                <a:solidFill>
                  <a:srgbClr val="444444"/>
                </a:solidFill>
              </a:rPr>
              <a:t>reports split into dedicated Power BI dashboards</a:t>
            </a:r>
            <a:endParaRPr lang="en-US" sz="1300" dirty="0">
              <a:solidFill>
                <a:srgbClr val="444444"/>
              </a:solidFill>
            </a:endParaRP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Leveraged</a:t>
            </a:r>
            <a:r>
              <a:rPr sz="1300" dirty="0">
                <a:solidFill>
                  <a:srgbClr val="444444"/>
                </a:solidFill>
              </a:rPr>
              <a:t>  Existing PEMCO reporting tables edited &amp; new tables created</a:t>
            </a:r>
            <a:r>
              <a:rPr lang="en-US" sz="1300" dirty="0">
                <a:solidFill>
                  <a:srgbClr val="444444"/>
                </a:solidFill>
              </a:rPr>
              <a:t>, replacing the BIM table dependency.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Logic was compared against </a:t>
            </a:r>
            <a:r>
              <a:rPr sz="1300" dirty="0">
                <a:solidFill>
                  <a:srgbClr val="444444"/>
                </a:solidFill>
              </a:rPr>
              <a:t>BIM stored procedures </a:t>
            </a:r>
            <a:r>
              <a:rPr lang="en-US" sz="1300" dirty="0">
                <a:solidFill>
                  <a:srgbClr val="444444"/>
                </a:solidFill>
              </a:rPr>
              <a:t> </a:t>
            </a:r>
            <a:r>
              <a:rPr sz="1300" dirty="0">
                <a:solidFill>
                  <a:srgbClr val="444444"/>
                </a:solidFill>
              </a:rPr>
              <a:t>and new </a:t>
            </a:r>
            <a:r>
              <a:rPr lang="en-US" sz="1300" dirty="0">
                <a:solidFill>
                  <a:srgbClr val="444444"/>
                </a:solidFill>
              </a:rPr>
              <a:t>stored procedures were</a:t>
            </a:r>
            <a:r>
              <a:rPr sz="1300" dirty="0">
                <a:solidFill>
                  <a:srgbClr val="444444"/>
                </a:solidFill>
              </a:rPr>
              <a:t> built to support the Power BI data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01776"/>
            <a:ext cx="11430000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412" y="3588272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</a:rPr>
              <a:t>  BOXI / SSRS → Tableau  |  6 Reports  |  Complete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4F9207-625D-7824-E6C2-D8220E5E5E6B}"/>
              </a:ext>
            </a:extLst>
          </p:cNvPr>
          <p:cNvSpPr/>
          <p:nvPr/>
        </p:nvSpPr>
        <p:spPr>
          <a:xfrm>
            <a:off x="365760" y="4022203"/>
            <a:ext cx="5321808" cy="254803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20EDCE-DD4F-97AD-F374-DD60781B913E}"/>
              </a:ext>
            </a:extLst>
          </p:cNvPr>
          <p:cNvSpPr txBox="1"/>
          <p:nvPr/>
        </p:nvSpPr>
        <p:spPr>
          <a:xfrm>
            <a:off x="429768" y="4142014"/>
            <a:ext cx="52578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en-US" sz="1300" b="1" dirty="0"/>
              <a:t>BEFORE</a:t>
            </a:r>
          </a:p>
          <a:p>
            <a:pPr algn="l"/>
            <a:r>
              <a:rPr lang="en-US" sz="1300" b="1" dirty="0"/>
              <a:t>BOXI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300" b="0" dirty="0"/>
              <a:t>Monthly </a:t>
            </a:r>
            <a:r>
              <a:rPr sz="1300" b="0" dirty="0" err="1"/>
              <a:t>Inforce</a:t>
            </a:r>
            <a:r>
              <a:rPr sz="1300" b="0" dirty="0"/>
              <a:t> Household &amp; Policy Unit Counts </a:t>
            </a:r>
            <a:endParaRPr lang="en-US" sz="1300" b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300" b="0" dirty="0"/>
              <a:t>Monthly Manual Write Off  </a:t>
            </a:r>
            <a:endParaRPr lang="en-US" sz="1300" b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300" b="0" dirty="0"/>
              <a:t>Monthly Write Off  </a:t>
            </a:r>
            <a:endParaRPr lang="en-US" sz="1300" b="0" dirty="0"/>
          </a:p>
          <a:p>
            <a:pPr algn="l"/>
            <a:endParaRPr lang="en-US" sz="1300" dirty="0"/>
          </a:p>
          <a:p>
            <a:pPr algn="l"/>
            <a:r>
              <a:rPr lang="en-US" sz="1300" b="1" dirty="0"/>
              <a:t>SSRS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300" b="0" dirty="0" err="1"/>
              <a:t>Monthly_Proxy_Emailed_Detail</a:t>
            </a:r>
            <a:r>
              <a:rPr sz="1300" b="0" dirty="0"/>
              <a:t> </a:t>
            </a:r>
            <a:endParaRPr lang="en-US" sz="1300" b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300" b="0" dirty="0" err="1"/>
              <a:t>Monthly_Proxy_Emailer_Dashboard</a:t>
            </a:r>
            <a:r>
              <a:rPr sz="1300" b="0" dirty="0"/>
              <a:t>  </a:t>
            </a:r>
            <a:endParaRPr lang="en-US" sz="13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300" b="0" dirty="0" err="1"/>
              <a:t>Monthly_Proxy_Received_Detail</a:t>
            </a:r>
            <a:endParaRPr sz="1300" b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69F6C5-771D-6DB9-2A0D-C924132813F0}"/>
              </a:ext>
            </a:extLst>
          </p:cNvPr>
          <p:cNvSpPr/>
          <p:nvPr/>
        </p:nvSpPr>
        <p:spPr>
          <a:xfrm>
            <a:off x="5847588" y="4018197"/>
            <a:ext cx="5943600" cy="2524473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EEF0C2-4797-17B4-5EE8-A11FFE1FB4CB}"/>
              </a:ext>
            </a:extLst>
          </p:cNvPr>
          <p:cNvSpPr txBox="1"/>
          <p:nvPr/>
        </p:nvSpPr>
        <p:spPr>
          <a:xfrm>
            <a:off x="5961888" y="4142014"/>
            <a:ext cx="5715000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en-US" sz="1300" dirty="0">
                <a:solidFill>
                  <a:srgbClr val="444444"/>
                </a:solidFill>
              </a:rPr>
              <a:t>					</a:t>
            </a:r>
            <a:r>
              <a:rPr lang="en-US" sz="1300" b="1" dirty="0">
                <a:solidFill>
                  <a:srgbClr val="444444"/>
                </a:solidFill>
              </a:rPr>
              <a:t>AFTER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Each of the reports were developed in Tableau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Significant changes to the Logic were made using AWM/DWM tables, replaced the BIM tables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 Logic was built based on stakeholder requirement for Monthly Proxy solicitations list 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These reports are monthly run reports</a:t>
            </a:r>
          </a:p>
          <a:p>
            <a:pPr>
              <a:spcBef>
                <a:spcPts val="200"/>
              </a:spcBef>
            </a:pPr>
            <a:endParaRPr lang="en-US" sz="1300" dirty="0">
              <a:solidFill>
                <a:srgbClr val="444444"/>
              </a:solidFill>
            </a:endParaRPr>
          </a:p>
          <a:p>
            <a:pPr>
              <a:spcBef>
                <a:spcPts val="200"/>
              </a:spcBef>
            </a:pPr>
            <a:endParaRPr lang="en-US" sz="1300" dirty="0">
              <a:solidFill>
                <a:srgbClr val="444444"/>
              </a:solidFill>
            </a:endParaRPr>
          </a:p>
          <a:p>
            <a:pPr>
              <a:spcBef>
                <a:spcPts val="200"/>
              </a:spcBef>
            </a:pPr>
            <a:endParaRPr lang="en-US" sz="1300" dirty="0">
              <a:solidFill>
                <a:srgbClr val="444444"/>
              </a:solidFill>
            </a:endParaRPr>
          </a:p>
          <a:p>
            <a:pPr>
              <a:spcBef>
                <a:spcPts val="200"/>
              </a:spcBef>
            </a:pPr>
            <a:endParaRPr sz="1300" dirty="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AD6779-BD53-5145-121C-14ED2C7DEDB1}"/>
              </a:ext>
            </a:extLst>
          </p:cNvPr>
          <p:cNvSpPr/>
          <p:nvPr/>
        </p:nvSpPr>
        <p:spPr>
          <a:xfrm>
            <a:off x="-127" y="132159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005675-B854-BCFB-1A2F-E5A9C1F864B3}"/>
              </a:ext>
            </a:extLst>
          </p:cNvPr>
          <p:cNvSpPr/>
          <p:nvPr/>
        </p:nvSpPr>
        <p:spPr>
          <a:xfrm>
            <a:off x="503646" y="559319"/>
            <a:ext cx="5590766" cy="153319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2E9CB-1D92-A650-A1DB-7972FE7ABF44}"/>
              </a:ext>
            </a:extLst>
          </p:cNvPr>
          <p:cNvSpPr txBox="1"/>
          <p:nvPr/>
        </p:nvSpPr>
        <p:spPr>
          <a:xfrm>
            <a:off x="608011" y="672850"/>
            <a:ext cx="503804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dirty="0">
                <a:solidFill>
                  <a:srgbClr val="444444"/>
                </a:solidFill>
              </a:rPr>
              <a:t>					</a:t>
            </a:r>
            <a:r>
              <a:rPr lang="en-US" sz="1300" b="1" dirty="0">
                <a:solidFill>
                  <a:srgbClr val="444444"/>
                </a:solidFill>
              </a:rPr>
              <a:t>BEFORE</a:t>
            </a:r>
            <a:r>
              <a:rPr sz="1300" b="0" dirty="0">
                <a:solidFill>
                  <a:srgbClr val="444444"/>
                </a:solidFill>
              </a:rPr>
              <a:t> </a:t>
            </a:r>
            <a:endParaRPr lang="en-US" sz="1300" b="0" dirty="0">
              <a:solidFill>
                <a:srgbClr val="444444"/>
              </a:solidFill>
            </a:endParaRPr>
          </a:p>
          <a:p>
            <a:pPr algn="l"/>
            <a:r>
              <a:rPr lang="en-US" sz="1300" b="1" dirty="0">
                <a:solidFill>
                  <a:srgbClr val="444444"/>
                </a:solidFill>
              </a:rPr>
              <a:t>TABLEAU REPORTS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444444"/>
                </a:solidFill>
              </a:rPr>
              <a:t>Engagement Dashboard    </a:t>
            </a:r>
            <a:endParaRPr lang="en-US" sz="1300" b="0" dirty="0">
              <a:solidFill>
                <a:srgbClr val="444444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444444"/>
                </a:solidFill>
              </a:rPr>
              <a:t> Quote to Purchase Online &amp; DIA (blocked — Salesforce table pending)  </a:t>
            </a:r>
            <a:endParaRPr lang="en-US" sz="1300" b="0" dirty="0">
              <a:solidFill>
                <a:srgbClr val="444444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444444"/>
                </a:solidFill>
              </a:rPr>
              <a:t> Online Accounts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33A37-9EC7-DE4A-D9D2-566A6BB8B72D}"/>
              </a:ext>
            </a:extLst>
          </p:cNvPr>
          <p:cNvSpPr/>
          <p:nvPr/>
        </p:nvSpPr>
        <p:spPr>
          <a:xfrm>
            <a:off x="6198777" y="559319"/>
            <a:ext cx="5486403" cy="153319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E2EEF8-45C4-4EF6-3B18-0B9BC49843A6}"/>
              </a:ext>
            </a:extLst>
          </p:cNvPr>
          <p:cNvSpPr txBox="1"/>
          <p:nvPr/>
        </p:nvSpPr>
        <p:spPr>
          <a:xfrm>
            <a:off x="6218646" y="559319"/>
            <a:ext cx="536216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en-US" sz="1300" dirty="0">
                <a:solidFill>
                  <a:srgbClr val="444444"/>
                </a:solidFill>
              </a:rPr>
              <a:t>					</a:t>
            </a:r>
            <a:r>
              <a:rPr lang="en-US" sz="1300" b="1" dirty="0">
                <a:solidFill>
                  <a:srgbClr val="444444"/>
                </a:solidFill>
              </a:rPr>
              <a:t>AFTER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Each of the reports were rebuilt in Tableau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The BIM dependencies were removed and the logic was developed using AWM/DWM tables or views 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444444"/>
              </a:solidFill>
            </a:endParaRPr>
          </a:p>
          <a:p>
            <a:pPr>
              <a:spcBef>
                <a:spcPts val="200"/>
              </a:spcBef>
            </a:pPr>
            <a:endParaRPr lang="en-US" sz="1300" dirty="0">
              <a:solidFill>
                <a:srgbClr val="444444"/>
              </a:solidFill>
            </a:endParaRPr>
          </a:p>
          <a:p>
            <a:pPr>
              <a:spcBef>
                <a:spcPts val="200"/>
              </a:spcBef>
            </a:pPr>
            <a:endParaRPr lang="en-US" sz="1300" dirty="0">
              <a:solidFill>
                <a:srgbClr val="444444"/>
              </a:solidFill>
            </a:endParaRPr>
          </a:p>
          <a:p>
            <a:pPr>
              <a:spcBef>
                <a:spcPts val="200"/>
              </a:spcBef>
            </a:pPr>
            <a:endParaRPr sz="1300" dirty="0">
              <a:solidFill>
                <a:srgbClr val="44444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E5B8A-88F1-36B6-AA59-F8ABFFD1762D}"/>
              </a:ext>
            </a:extLst>
          </p:cNvPr>
          <p:cNvSpPr/>
          <p:nvPr/>
        </p:nvSpPr>
        <p:spPr>
          <a:xfrm>
            <a:off x="-127" y="2191299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2F943D-6857-DF33-087D-517F9275C790}"/>
              </a:ext>
            </a:extLst>
          </p:cNvPr>
          <p:cNvSpPr txBox="1"/>
          <p:nvPr/>
        </p:nvSpPr>
        <p:spPr>
          <a:xfrm>
            <a:off x="150814" y="146782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</a:rPr>
              <a:t>  </a:t>
            </a:r>
            <a:r>
              <a:rPr lang="en-US" sz="1300" b="1" dirty="0">
                <a:solidFill>
                  <a:srgbClr val="FFFFFF"/>
                </a:solidFill>
              </a:rPr>
              <a:t>Tableau </a:t>
            </a:r>
            <a:r>
              <a:rPr sz="1300" b="1" dirty="0">
                <a:solidFill>
                  <a:srgbClr val="FFFFFF"/>
                </a:solidFill>
              </a:rPr>
              <a:t>→ Tableau  |  </a:t>
            </a:r>
            <a:r>
              <a:rPr lang="en-US" sz="1300" b="1" dirty="0">
                <a:solidFill>
                  <a:srgbClr val="FFFFFF"/>
                </a:solidFill>
              </a:rPr>
              <a:t>BIM to EDW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2744EA-7987-A231-15FA-704D482E6C9D}"/>
              </a:ext>
            </a:extLst>
          </p:cNvPr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FA3417-54B9-1E20-AF17-8420518739C6}"/>
              </a:ext>
            </a:extLst>
          </p:cNvPr>
          <p:cNvSpPr/>
          <p:nvPr/>
        </p:nvSpPr>
        <p:spPr>
          <a:xfrm>
            <a:off x="338908" y="2541885"/>
            <a:ext cx="5728652" cy="2323713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7057A-B1E1-7600-5CE6-F2FE7EB3000B}"/>
              </a:ext>
            </a:extLst>
          </p:cNvPr>
          <p:cNvSpPr/>
          <p:nvPr/>
        </p:nvSpPr>
        <p:spPr>
          <a:xfrm>
            <a:off x="6156528" y="2532080"/>
            <a:ext cx="5486403" cy="2333518"/>
          </a:xfrm>
          <a:prstGeom prst="rect">
            <a:avLst/>
          </a:prstGeom>
          <a:solidFill>
            <a:srgbClr val="FFFFFF"/>
          </a:solidFill>
          <a:ln w="9525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4B03AC-7080-FE58-023D-7428A50EA31D}"/>
              </a:ext>
            </a:extLst>
          </p:cNvPr>
          <p:cNvSpPr txBox="1"/>
          <p:nvPr/>
        </p:nvSpPr>
        <p:spPr>
          <a:xfrm>
            <a:off x="486885" y="2519369"/>
            <a:ext cx="5432697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en-US" sz="1300" b="1" dirty="0">
                <a:solidFill>
                  <a:srgbClr val="002B5C"/>
                </a:solidFill>
              </a:rPr>
              <a:t>BEFORE</a:t>
            </a:r>
            <a:endParaRPr sz="1300" b="1" dirty="0">
              <a:solidFill>
                <a:srgbClr val="002B5C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444444"/>
                </a:solidFill>
              </a:rPr>
              <a:t>5 separate Tableau reports with independent BIM data connections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444444"/>
                </a:solidFill>
              </a:rPr>
              <a:t>Each report maintained separately — duplicate logic and effort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444444"/>
                </a:solidFill>
              </a:rPr>
              <a:t>Source: BIM (Monthly ETL-dependent)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444444"/>
                </a:solidFill>
              </a:rPr>
              <a:t>Reports:
  • Paper Report
  • Online Accounts - Household and Paperless
  • Paperless Policies by State and Policy Type
  • Percent of Households with Online Accounts
  • Paperless Online Accounts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C86016-A2BE-90AF-5E44-759273C5176B}"/>
              </a:ext>
            </a:extLst>
          </p:cNvPr>
          <p:cNvSpPr txBox="1"/>
          <p:nvPr/>
        </p:nvSpPr>
        <p:spPr>
          <a:xfrm>
            <a:off x="6215537" y="2560314"/>
            <a:ext cx="489204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en-US" sz="1300" b="1" dirty="0"/>
              <a:t>AFTER</a:t>
            </a:r>
            <a:endParaRPr sz="1300" b="1" dirty="0"/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300" dirty="0"/>
              <a:t>1 unified Tableau report replacing all 5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300" dirty="0"/>
              <a:t>Single shared AWM/DWM data source — no BIM dependency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300" dirty="0"/>
              <a:t>Reduced maintenance and eliminated data inconsistency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300" dirty="0"/>
              <a:t>Consistent definitions across all views in the report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C436F8-F3E6-38E5-8FDB-FEF61AEC42D1}"/>
              </a:ext>
            </a:extLst>
          </p:cNvPr>
          <p:cNvSpPr txBox="1"/>
          <p:nvPr/>
        </p:nvSpPr>
        <p:spPr>
          <a:xfrm>
            <a:off x="150814" y="2181493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</a:rPr>
              <a:t>  </a:t>
            </a:r>
            <a:r>
              <a:rPr lang="en-US" sz="1300" b="1" dirty="0">
                <a:solidFill>
                  <a:srgbClr val="FFFFFF"/>
                </a:solidFill>
              </a:rPr>
              <a:t>Tableau </a:t>
            </a:r>
            <a:r>
              <a:rPr sz="1300" b="1" dirty="0">
                <a:solidFill>
                  <a:srgbClr val="FFFFFF"/>
                </a:solidFill>
              </a:rPr>
              <a:t>→ Tableau  |  </a:t>
            </a:r>
            <a:r>
              <a:rPr lang="en-US" sz="1300" b="1" dirty="0">
                <a:solidFill>
                  <a:srgbClr val="FFFFFF"/>
                </a:solidFill>
              </a:rPr>
              <a:t>BIM to EDW | Consolidated Data Source  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E8E539-AD98-44A7-88D6-926B3D3F6272}"/>
              </a:ext>
            </a:extLst>
          </p:cNvPr>
          <p:cNvSpPr/>
          <p:nvPr/>
        </p:nvSpPr>
        <p:spPr>
          <a:xfrm>
            <a:off x="62052" y="494919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45BB3F-A4F6-412A-CEB8-727D901BFC6D}"/>
              </a:ext>
            </a:extLst>
          </p:cNvPr>
          <p:cNvSpPr txBox="1"/>
          <p:nvPr/>
        </p:nvSpPr>
        <p:spPr>
          <a:xfrm>
            <a:off x="158833" y="4932716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</a:rPr>
              <a:t>  </a:t>
            </a:r>
            <a:r>
              <a:rPr lang="en-US" sz="1300" b="1" dirty="0">
                <a:solidFill>
                  <a:srgbClr val="FFFFFF"/>
                </a:solidFill>
              </a:rPr>
              <a:t>Agent Dashboard | BIM vs EDW Variances | Fix Data variances between BIM and EDW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235F6F-AE7D-65FC-A525-E35F55B4C38D}"/>
              </a:ext>
            </a:extLst>
          </p:cNvPr>
          <p:cNvSpPr/>
          <p:nvPr/>
        </p:nvSpPr>
        <p:spPr>
          <a:xfrm>
            <a:off x="338906" y="5271636"/>
            <a:ext cx="11668609" cy="12272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CCB7CD-2C2E-88A0-57EA-9671BD820BD4}"/>
              </a:ext>
            </a:extLst>
          </p:cNvPr>
          <p:cNvSpPr txBox="1"/>
          <p:nvPr/>
        </p:nvSpPr>
        <p:spPr>
          <a:xfrm>
            <a:off x="453338" y="5331622"/>
            <a:ext cx="1128202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Resolve data issues between the Production and Pre-Production Agent Dashboard SSRS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BIM/ EDW logic is not considered the source of truth here, both the logics have data issues which are being investigated on a policy level basis.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Data points where the variances are being investigated are as follows – Policy Counts, New Business Counts, Earned Premium, Written Premium, Incurred Losses, Loss Ratio, Average Written premium, Renewal, Retention, Growth, Quotes, Loss Severity and Loss Frequency. </a:t>
            </a:r>
          </a:p>
        </p:txBody>
      </p:sp>
    </p:spTree>
    <p:extLst>
      <p:ext uri="{BB962C8B-B14F-4D97-AF65-F5344CB8AC3E}">
        <p14:creationId xmlns:p14="http://schemas.microsoft.com/office/powerpoint/2010/main" val="3578579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</a:rPr>
              <a:t>Tableau Administration &amp; Production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743200" cy="7498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2606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Server Administration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143000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0" name="TextBox 9"/>
          <p:cNvSpPr txBox="1"/>
          <p:nvPr/>
        </p:nvSpPr>
        <p:spPr>
          <a:xfrm>
            <a:off x="3291840" y="1271016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44444"/>
                </a:solidFill>
              </a:rPr>
              <a:t>Monitor server health, manage Tableau services (</a:t>
            </a:r>
            <a:r>
              <a:rPr sz="1300" b="0" dirty="0" err="1">
                <a:solidFill>
                  <a:srgbClr val="444444"/>
                </a:solidFill>
              </a:rPr>
              <a:t>VizQL</a:t>
            </a:r>
            <a:r>
              <a:rPr sz="1300" b="0" dirty="0">
                <a:solidFill>
                  <a:srgbClr val="444444"/>
                </a:solidFill>
              </a:rPr>
              <a:t>, Data Server, Backgrounder), and perform weekly maintenance.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2743200" cy="7498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2606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User &amp; Permissions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2011680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4" name="TextBox 13"/>
          <p:cNvSpPr txBox="1"/>
          <p:nvPr/>
        </p:nvSpPr>
        <p:spPr>
          <a:xfrm>
            <a:off x="3291840" y="2139696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Manage user accounts, assign roles (Viewer, Explorer, Creator), and maintain project/workbook-level permissions.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2743200" cy="7498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6" name="TextBox 15"/>
          <p:cNvSpPr txBox="1"/>
          <p:nvPr/>
        </p:nvSpPr>
        <p:spPr>
          <a:xfrm>
            <a:off x="457200" y="3044952"/>
            <a:ext cx="2606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Server Setup &amp; Upgrades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2880360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8" name="TextBox 17"/>
          <p:cNvSpPr txBox="1"/>
          <p:nvPr/>
        </p:nvSpPr>
        <p:spPr>
          <a:xfrm>
            <a:off x="3291840" y="3008376"/>
            <a:ext cx="8412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Built DR server, configured Utility server, set up 3-node Test &amp; Prod clusters. Upgrade v2024.2.13 → v2025.1.15 planned June 9th.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2743200" cy="7498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0" name="TextBox 19"/>
          <p:cNvSpPr txBox="1"/>
          <p:nvPr/>
        </p:nvSpPr>
        <p:spPr>
          <a:xfrm>
            <a:off x="457200" y="3913631"/>
            <a:ext cx="2606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Job Monitoring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3749039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2" name="TextBox 21"/>
          <p:cNvSpPr txBox="1"/>
          <p:nvPr/>
        </p:nvSpPr>
        <p:spPr>
          <a:xfrm>
            <a:off x="3291840" y="3877055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Track background jobs — monitor extract refresh failures, subscription runs, and flow execution.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17720"/>
            <a:ext cx="2743200" cy="7498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4" name="TextBox 23"/>
          <p:cNvSpPr txBox="1"/>
          <p:nvPr/>
        </p:nvSpPr>
        <p:spPr>
          <a:xfrm>
            <a:off x="457200" y="4782312"/>
            <a:ext cx="2606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Production Support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4617720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6" name="TextBox 25"/>
          <p:cNvSpPr txBox="1"/>
          <p:nvPr/>
        </p:nvSpPr>
        <p:spPr>
          <a:xfrm>
            <a:off x="3291840" y="4745736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Automated Jira ticketing for SQL job failures; resolving incidents and escalating to data engineers.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86400"/>
            <a:ext cx="2743200" cy="7498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8" name="TextBox 27"/>
          <p:cNvSpPr txBox="1"/>
          <p:nvPr/>
        </p:nvSpPr>
        <p:spPr>
          <a:xfrm>
            <a:off x="457200" y="5650992"/>
            <a:ext cx="2606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Writeback Implementation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154680" y="5486400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0" name="TextBox 29"/>
          <p:cNvSpPr txBox="1"/>
          <p:nvPr/>
        </p:nvSpPr>
        <p:spPr>
          <a:xfrm>
            <a:off x="3291840" y="5614416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dirty="0">
                <a:solidFill>
                  <a:srgbClr val="444444"/>
                </a:solidFill>
              </a:rPr>
              <a:t>Writeback extension implementation on tableau environment</a:t>
            </a:r>
            <a:endParaRPr sz="1300" b="0" dirty="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1117</Words>
  <Application>Microsoft Macintosh PowerPoint</Application>
  <PresentationFormat>Custom</PresentationFormat>
  <Paragraphs>119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Lingaraju, Samarth (US)</cp:lastModifiedBy>
  <cp:revision>21</cp:revision>
  <dcterms:created xsi:type="dcterms:W3CDTF">2013-01-27T09:14:16Z</dcterms:created>
  <dcterms:modified xsi:type="dcterms:W3CDTF">2026-05-04T21:38:10Z</dcterms:modified>
  <cp:category/>
</cp:coreProperties>
</file>